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0"/>
  </p:notesMasterIdLst>
  <p:sldIdLst>
    <p:sldId id="551" r:id="rId2"/>
    <p:sldId id="553" r:id="rId3"/>
    <p:sldId id="359" r:id="rId4"/>
    <p:sldId id="397" r:id="rId5"/>
    <p:sldId id="398" r:id="rId6"/>
    <p:sldId id="399" r:id="rId7"/>
    <p:sldId id="400" r:id="rId8"/>
    <p:sldId id="352" r:id="rId9"/>
    <p:sldId id="466" r:id="rId10"/>
    <p:sldId id="467" r:id="rId11"/>
    <p:sldId id="468" r:id="rId12"/>
    <p:sldId id="469" r:id="rId13"/>
    <p:sldId id="470" r:id="rId14"/>
    <p:sldId id="471" r:id="rId15"/>
    <p:sldId id="472" r:id="rId16"/>
    <p:sldId id="473" r:id="rId17"/>
    <p:sldId id="474" r:id="rId18"/>
    <p:sldId id="475" r:id="rId19"/>
    <p:sldId id="481" r:id="rId20"/>
    <p:sldId id="482" r:id="rId21"/>
    <p:sldId id="483" r:id="rId22"/>
    <p:sldId id="485" r:id="rId23"/>
    <p:sldId id="491" r:id="rId24"/>
    <p:sldId id="492" r:id="rId25"/>
    <p:sldId id="496" r:id="rId26"/>
    <p:sldId id="497" r:id="rId27"/>
    <p:sldId id="498" r:id="rId28"/>
    <p:sldId id="499" r:id="rId29"/>
    <p:sldId id="500" r:id="rId30"/>
    <p:sldId id="501" r:id="rId31"/>
    <p:sldId id="502" r:id="rId32"/>
    <p:sldId id="503" r:id="rId33"/>
    <p:sldId id="559" r:id="rId34"/>
    <p:sldId id="560" r:id="rId35"/>
    <p:sldId id="561" r:id="rId36"/>
    <p:sldId id="562" r:id="rId37"/>
    <p:sldId id="563" r:id="rId38"/>
    <p:sldId id="476" r:id="rId39"/>
    <p:sldId id="507" r:id="rId40"/>
    <p:sldId id="508" r:id="rId41"/>
    <p:sldId id="419" r:id="rId42"/>
    <p:sldId id="509" r:id="rId43"/>
    <p:sldId id="510" r:id="rId44"/>
    <p:sldId id="511" r:id="rId45"/>
    <p:sldId id="515" r:id="rId46"/>
    <p:sldId id="516" r:id="rId47"/>
    <p:sldId id="512" r:id="rId48"/>
    <p:sldId id="519" r:id="rId49"/>
    <p:sldId id="536" r:id="rId50"/>
    <p:sldId id="520" r:id="rId51"/>
    <p:sldId id="524" r:id="rId52"/>
    <p:sldId id="521" r:id="rId53"/>
    <p:sldId id="525" r:id="rId54"/>
    <p:sldId id="530" r:id="rId55"/>
    <p:sldId id="526" r:id="rId56"/>
    <p:sldId id="527" r:id="rId57"/>
    <p:sldId id="531" r:id="rId58"/>
    <p:sldId id="455" r:id="rId59"/>
    <p:sldId id="538" r:id="rId60"/>
    <p:sldId id="540" r:id="rId61"/>
    <p:sldId id="548" r:id="rId62"/>
    <p:sldId id="428" r:id="rId63"/>
    <p:sldId id="456" r:id="rId64"/>
    <p:sldId id="532" r:id="rId65"/>
    <p:sldId id="429" r:id="rId66"/>
    <p:sldId id="533" r:id="rId67"/>
    <p:sldId id="534" r:id="rId68"/>
    <p:sldId id="434" r:id="rId69"/>
    <p:sldId id="565" r:id="rId70"/>
    <p:sldId id="564" r:id="rId71"/>
    <p:sldId id="567" r:id="rId72"/>
    <p:sldId id="568" r:id="rId73"/>
    <p:sldId id="570" r:id="rId74"/>
    <p:sldId id="571" r:id="rId75"/>
    <p:sldId id="572" r:id="rId76"/>
    <p:sldId id="596" r:id="rId77"/>
    <p:sldId id="597" r:id="rId78"/>
    <p:sldId id="598" r:id="rId79"/>
    <p:sldId id="599" r:id="rId80"/>
    <p:sldId id="600" r:id="rId81"/>
    <p:sldId id="601" r:id="rId82"/>
    <p:sldId id="602" r:id="rId83"/>
    <p:sldId id="603" r:id="rId84"/>
    <p:sldId id="604" r:id="rId85"/>
    <p:sldId id="541" r:id="rId86"/>
    <p:sldId id="542" r:id="rId87"/>
    <p:sldId id="543" r:id="rId88"/>
    <p:sldId id="544" r:id="rId89"/>
    <p:sldId id="545" r:id="rId90"/>
    <p:sldId id="546" r:id="rId91"/>
    <p:sldId id="547" r:id="rId92"/>
    <p:sldId id="574" r:id="rId93"/>
    <p:sldId id="576" r:id="rId94"/>
    <p:sldId id="577" r:id="rId95"/>
    <p:sldId id="578" r:id="rId96"/>
    <p:sldId id="579" r:id="rId97"/>
    <p:sldId id="582" r:id="rId98"/>
    <p:sldId id="583" r:id="rId99"/>
    <p:sldId id="584" r:id="rId100"/>
    <p:sldId id="585" r:id="rId101"/>
    <p:sldId id="587" r:id="rId102"/>
    <p:sldId id="588" r:id="rId103"/>
    <p:sldId id="589" r:id="rId104"/>
    <p:sldId id="590" r:id="rId105"/>
    <p:sldId id="591" r:id="rId106"/>
    <p:sldId id="606" r:id="rId107"/>
    <p:sldId id="592" r:id="rId108"/>
    <p:sldId id="593" r:id="rId10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4660"/>
  </p:normalViewPr>
  <p:slideViewPr>
    <p:cSldViewPr>
      <p:cViewPr varScale="1">
        <p:scale>
          <a:sx n="68" d="100"/>
          <a:sy n="68" d="100"/>
        </p:scale>
        <p:origin x="1788" y="10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8FD01A-1453-4095-A28F-CEA86FDC2D7C}" type="datetimeFigureOut">
              <a:rPr lang="en-US" smtClean="0"/>
              <a:pPr/>
              <a:t>4/22/2025</a:t>
            </a:fld>
            <a:endParaRPr 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8128-AFA3-4DF2-B26D-BEC94D1BDBE3}" type="slidenum">
              <a:rPr lang="en-US" smtClean="0"/>
              <a:pPr/>
              <a:t>‹N°›</a:t>
            </a:fld>
            <a:endParaRPr lang="en-US"/>
          </a:p>
        </p:txBody>
      </p:sp>
    </p:spTree>
    <p:extLst>
      <p:ext uri="{BB962C8B-B14F-4D97-AF65-F5344CB8AC3E}">
        <p14:creationId xmlns:p14="http://schemas.microsoft.com/office/powerpoint/2010/main" val="3753236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ru-RU" dirty="0"/>
          </a:p>
        </p:txBody>
      </p:sp>
      <p:sp>
        <p:nvSpPr>
          <p:cNvPr id="4" name="Espace réservé du numéro de diapositive 3"/>
          <p:cNvSpPr>
            <a:spLocks noGrp="1"/>
          </p:cNvSpPr>
          <p:nvPr>
            <p:ph type="sldNum" sz="quarter" idx="10"/>
          </p:nvPr>
        </p:nvSpPr>
        <p:spPr/>
        <p:txBody>
          <a:bodyPr/>
          <a:lstStyle/>
          <a:p>
            <a:fld id="{35098128-AFA3-4DF2-B26D-BEC94D1BDBE3}" type="slidenum">
              <a:rPr lang="en-US" smtClean="0"/>
              <a:pPr/>
              <a:t>1</a:t>
            </a:fld>
            <a:endParaRPr lang="en-US"/>
          </a:p>
        </p:txBody>
      </p:sp>
    </p:spTree>
    <p:extLst>
      <p:ext uri="{BB962C8B-B14F-4D97-AF65-F5344CB8AC3E}">
        <p14:creationId xmlns:p14="http://schemas.microsoft.com/office/powerpoint/2010/main" val="2573285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en-US"/>
          </a:p>
        </p:txBody>
      </p:sp>
      <p:sp>
        <p:nvSpPr>
          <p:cNvPr id="4" name="Espace réservé de la date 3"/>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11"/>
          </p:nvPr>
        </p:nvSpPr>
        <p:spPr/>
        <p:txBody>
          <a:bodyPr/>
          <a:lstStyle/>
          <a:p>
            <a:endParaRPr lang="en-US" dirty="0"/>
          </a:p>
        </p:txBody>
      </p:sp>
      <p:sp>
        <p:nvSpPr>
          <p:cNvPr id="6" name="Espace réservé du numéro de diapositive 5"/>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11"/>
          </p:nvPr>
        </p:nvSpPr>
        <p:spPr/>
        <p:txBody>
          <a:bodyPr/>
          <a:lstStyle/>
          <a:p>
            <a:endParaRPr lang="en-US" dirty="0"/>
          </a:p>
        </p:txBody>
      </p:sp>
      <p:sp>
        <p:nvSpPr>
          <p:cNvPr id="6" name="Espace réservé du numéro de diapositive 5"/>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11"/>
          </p:nvPr>
        </p:nvSpPr>
        <p:spPr/>
        <p:txBody>
          <a:bodyPr/>
          <a:lstStyle/>
          <a:p>
            <a:endParaRPr lang="en-US" dirty="0"/>
          </a:p>
        </p:txBody>
      </p:sp>
      <p:sp>
        <p:nvSpPr>
          <p:cNvPr id="6" name="Espace réservé du numéro de diapositive 5"/>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6" name="Espace réservé du pied de page 5"/>
          <p:cNvSpPr>
            <a:spLocks noGrp="1"/>
          </p:cNvSpPr>
          <p:nvPr>
            <p:ph type="ftr" sz="quarter" idx="11"/>
          </p:nvPr>
        </p:nvSpPr>
        <p:spPr/>
        <p:txBody>
          <a:bodyPr/>
          <a:lstStyle/>
          <a:p>
            <a:endParaRPr lang="en-US" dirty="0"/>
          </a:p>
        </p:txBody>
      </p:sp>
      <p:sp>
        <p:nvSpPr>
          <p:cNvPr id="7" name="Espace réservé du numéro de diapositive 6"/>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8" name="Espace réservé du pied de page 7"/>
          <p:cNvSpPr>
            <a:spLocks noGrp="1"/>
          </p:cNvSpPr>
          <p:nvPr>
            <p:ph type="ftr" sz="quarter" idx="11"/>
          </p:nvPr>
        </p:nvSpPr>
        <p:spPr/>
        <p:txBody>
          <a:bodyPr/>
          <a:lstStyle/>
          <a:p>
            <a:endParaRPr lang="en-US" dirty="0"/>
          </a:p>
        </p:txBody>
      </p:sp>
      <p:sp>
        <p:nvSpPr>
          <p:cNvPr id="9" name="Espace réservé du numéro de diapositive 8"/>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e la date 2"/>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3" name="Espace réservé du pied de page 2"/>
          <p:cNvSpPr>
            <a:spLocks noGrp="1"/>
          </p:cNvSpPr>
          <p:nvPr>
            <p:ph type="ftr" sz="quarter" idx="11"/>
          </p:nvPr>
        </p:nvSpPr>
        <p:spPr/>
        <p:txBody>
          <a:bodyPr/>
          <a:lstStyle/>
          <a:p>
            <a:endParaRPr lang="en-US" dirty="0"/>
          </a:p>
        </p:txBody>
      </p:sp>
      <p:sp>
        <p:nvSpPr>
          <p:cNvPr id="4" name="Espace réservé du numéro de diapositive 3"/>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6" name="Espace réservé du pied de page 5"/>
          <p:cNvSpPr>
            <a:spLocks noGrp="1"/>
          </p:cNvSpPr>
          <p:nvPr>
            <p:ph type="ftr" sz="quarter" idx="11"/>
          </p:nvPr>
        </p:nvSpPr>
        <p:spPr/>
        <p:txBody>
          <a:bodyPr/>
          <a:lstStyle/>
          <a:p>
            <a:endParaRPr lang="en-US" dirty="0"/>
          </a:p>
        </p:txBody>
      </p:sp>
      <p:sp>
        <p:nvSpPr>
          <p:cNvPr id="7" name="Espace réservé du numéro de diapositive 6"/>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6" name="Espace réservé du pied de page 5"/>
          <p:cNvSpPr>
            <a:spLocks noGrp="1"/>
          </p:cNvSpPr>
          <p:nvPr>
            <p:ph type="ftr" sz="quarter" idx="11"/>
          </p:nvPr>
        </p:nvSpPr>
        <p:spPr/>
        <p:txBody>
          <a:bodyPr/>
          <a:lstStyle/>
          <a:p>
            <a:endParaRPr lang="en-US" dirty="0"/>
          </a:p>
        </p:txBody>
      </p:sp>
      <p:sp>
        <p:nvSpPr>
          <p:cNvPr id="7" name="Espace réservé du numéro de diapositive 6"/>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11"/>
          </p:nvPr>
        </p:nvSpPr>
        <p:spPr/>
        <p:txBody>
          <a:bodyPr/>
          <a:lstStyle/>
          <a:p>
            <a:endParaRPr lang="en-US" dirty="0"/>
          </a:p>
        </p:txBody>
      </p:sp>
      <p:sp>
        <p:nvSpPr>
          <p:cNvPr id="6" name="Espace réservé du numéro de diapositive 5"/>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11"/>
          </p:nvPr>
        </p:nvSpPr>
        <p:spPr/>
        <p:txBody>
          <a:bodyPr/>
          <a:lstStyle/>
          <a:p>
            <a:endParaRPr lang="en-US" dirty="0"/>
          </a:p>
        </p:txBody>
      </p:sp>
      <p:sp>
        <p:nvSpPr>
          <p:cNvPr id="6" name="Espace réservé du numéro de diapositive 5"/>
          <p:cNvSpPr>
            <a:spLocks noGrp="1"/>
          </p:cNvSpPr>
          <p:nvPr>
            <p:ph type="sldNum" sz="quarter" idx="12"/>
          </p:nvPr>
        </p:nvSpPr>
        <p:spPr/>
        <p:txBody>
          <a:bodyPr/>
          <a:lstStyle/>
          <a:p>
            <a:fld id="{B82143A7-ABD1-4B36-A0F6-B4DA31F76DAF}" type="slidenum">
              <a:rPr lang="en-US" smtClean="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en-US"/>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84232-FAD9-4B0E-B58F-0EE591C1C8B8}" type="datetimeFigureOut">
              <a:rPr lang="en-US" smtClean="0"/>
              <a:pPr/>
              <a:t>4/22/2025</a:t>
            </a:fld>
            <a:endParaRPr lang="en-US" dirty="0"/>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143A7-ABD1-4B36-A0F6-B4DA31F76DAF}"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fr.statista.com/"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comarketing-news.fr/big-data-90-donnees-existantes-ont-ete-creees-deux-dernieres-annee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9144000" cy="6858000"/>
          </a:xfrm>
        </p:spPr>
        <p:txBody>
          <a:bodyPr>
            <a:normAutofit/>
          </a:bodyPr>
          <a:lstStyle/>
          <a:p>
            <a:r>
              <a:rPr lang="en-US" sz="2800" dirty="0" smtClean="0">
                <a:solidFill>
                  <a:schemeClr val="tx1"/>
                </a:solidFill>
                <a:latin typeface="Times New Roman" pitchFamily="18" charset="0"/>
                <a:cs typeface="Times New Roman" pitchFamily="18" charset="0"/>
              </a:rPr>
              <a:t>UNIVERSITE DU BURUNDI (UB)</a:t>
            </a:r>
          </a:p>
          <a:p>
            <a:endParaRPr lang="en-US" sz="2800" dirty="0">
              <a:solidFill>
                <a:schemeClr val="tx1"/>
              </a:solidFill>
              <a:latin typeface="Times New Roman" pitchFamily="18" charset="0"/>
              <a:cs typeface="Times New Roman" pitchFamily="18" charset="0"/>
            </a:endParaRPr>
          </a:p>
          <a:p>
            <a:r>
              <a:rPr lang="fr-FR" sz="2800" dirty="0" smtClean="0">
                <a:solidFill>
                  <a:schemeClr val="tx1"/>
                </a:solidFill>
                <a:latin typeface="Times New Roman" pitchFamily="18" charset="0"/>
                <a:cs typeface="Times New Roman" pitchFamily="18" charset="0"/>
              </a:rPr>
              <a:t>Institut de Statistique Appliquée</a:t>
            </a:r>
          </a:p>
          <a:p>
            <a:endParaRPr lang="fr-FR" sz="2800" dirty="0">
              <a:solidFill>
                <a:schemeClr val="tx1"/>
              </a:solidFill>
              <a:latin typeface="Times New Roman" pitchFamily="18" charset="0"/>
              <a:cs typeface="Times New Roman" pitchFamily="18" charset="0"/>
            </a:endParaRPr>
          </a:p>
          <a:p>
            <a:r>
              <a:rPr lang="fr-FR" sz="2800" dirty="0" smtClean="0">
                <a:solidFill>
                  <a:schemeClr val="tx1"/>
                </a:solidFill>
                <a:latin typeface="Times New Roman" pitchFamily="18" charset="0"/>
                <a:cs typeface="Times New Roman" pitchFamily="18" charset="0"/>
              </a:rPr>
              <a:t>Master 1, en Informatique décisionnelle</a:t>
            </a:r>
          </a:p>
          <a:p>
            <a:endParaRPr lang="en-US" sz="2800" dirty="0" smtClean="0">
              <a:solidFill>
                <a:schemeClr val="tx1"/>
              </a:solidFill>
              <a:latin typeface="Times New Roman" pitchFamily="18" charset="0"/>
              <a:cs typeface="Times New Roman" pitchFamily="18" charset="0"/>
            </a:endParaRPr>
          </a:p>
          <a:p>
            <a:r>
              <a:rPr lang="en-US" sz="2800" dirty="0" err="1">
                <a:solidFill>
                  <a:schemeClr val="tx1"/>
                </a:solidFill>
                <a:latin typeface="Times New Roman" pitchFamily="18" charset="0"/>
                <a:cs typeface="Times New Roman" pitchFamily="18" charset="0"/>
              </a:rPr>
              <a:t>Cours</a:t>
            </a:r>
            <a:r>
              <a:rPr lang="en-US" sz="2800" dirty="0">
                <a:solidFill>
                  <a:schemeClr val="tx1"/>
                </a:solidFill>
                <a:latin typeface="Times New Roman" pitchFamily="18" charset="0"/>
                <a:cs typeface="Times New Roman" pitchFamily="18" charset="0"/>
              </a:rPr>
              <a:t> de </a:t>
            </a:r>
            <a:r>
              <a:rPr lang="fr-FR" sz="2800" dirty="0">
                <a:solidFill>
                  <a:schemeClr val="tx1"/>
                </a:solidFill>
                <a:latin typeface="Times New Roman" pitchFamily="18" charset="0"/>
                <a:cs typeface="Times New Roman" pitchFamily="18" charset="0"/>
              </a:rPr>
              <a:t>Logiciels de calcul formel</a:t>
            </a:r>
          </a:p>
          <a:p>
            <a:endParaRPr lang="en-US" sz="2800" dirty="0" smtClean="0">
              <a:solidFill>
                <a:schemeClr val="tx1"/>
              </a:solidFill>
              <a:latin typeface="Times New Roman" pitchFamily="18" charset="0"/>
              <a:cs typeface="Times New Roman" pitchFamily="18" charset="0"/>
            </a:endParaRPr>
          </a:p>
          <a:p>
            <a:endParaRPr lang="en-US" sz="2800" dirty="0" smtClean="0">
              <a:solidFill>
                <a:schemeClr val="tx1"/>
              </a:solidFill>
              <a:latin typeface="Times New Roman" pitchFamily="18" charset="0"/>
              <a:cs typeface="Times New Roman" pitchFamily="18" charset="0"/>
            </a:endParaRPr>
          </a:p>
          <a:p>
            <a:endParaRPr lang="en-US" sz="2800" dirty="0">
              <a:solidFill>
                <a:schemeClr val="tx1"/>
              </a:solidFill>
              <a:latin typeface="Times New Roman" pitchFamily="18" charset="0"/>
              <a:cs typeface="Times New Roman" pitchFamily="18" charset="0"/>
            </a:endParaRPr>
          </a:p>
          <a:p>
            <a:pPr algn="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P</a:t>
            </a:r>
            <a:r>
              <a:rPr lang="en-US" sz="2800" dirty="0" smtClean="0">
                <a:solidFill>
                  <a:schemeClr val="tx1"/>
                </a:solidFill>
                <a:latin typeface="Times New Roman" pitchFamily="18" charset="0"/>
                <a:cs typeface="Times New Roman" pitchFamily="18" charset="0"/>
              </a:rPr>
              <a:t>r</a:t>
            </a:r>
            <a:r>
              <a:rPr lang="en-US" sz="2800" dirty="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NIYONSABA Thérence</a:t>
            </a:r>
          </a:p>
          <a:p>
            <a:pPr algn="r"/>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A/A 2024-2025</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789841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15816" y="0"/>
            <a:ext cx="3034680" cy="576064"/>
          </a:xfrm>
        </p:spPr>
        <p:txBody>
          <a:bodyPr>
            <a:normAutofit fontScale="90000"/>
          </a:bodyPr>
          <a:lstStyle/>
          <a:p>
            <a:r>
              <a:rPr lang="fr-FR" dirty="0" smtClean="0">
                <a:latin typeface="Times New Roman" panose="02020603050405020304" pitchFamily="18" charset="0"/>
                <a:cs typeface="Times New Roman" panose="02020603050405020304" pitchFamily="18" charset="0"/>
              </a:rPr>
              <a:t>Rappel</a:t>
            </a:r>
            <a:endParaRPr lang="fr-FR"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764704"/>
            <a:ext cx="9036496" cy="4525963"/>
          </a:xfrm>
        </p:spPr>
        <p:txBody>
          <a:bodyPr/>
          <a:lstStyle/>
          <a:p>
            <a:r>
              <a:rPr lang="fr-FR" dirty="0" smtClean="0">
                <a:latin typeface="Times New Roman" panose="02020603050405020304" pitchFamily="18" charset="0"/>
                <a:cs typeface="Times New Roman" panose="02020603050405020304" pitchFamily="18" charset="0"/>
              </a:rPr>
              <a:t>Data science(science des données):rencontre </a:t>
            </a:r>
            <a:r>
              <a:rPr lang="fr-FR" dirty="0" err="1" smtClean="0">
                <a:latin typeface="Times New Roman" panose="02020603050405020304" pitchFamily="18" charset="0"/>
                <a:cs typeface="Times New Roman" panose="02020603050405020304" pitchFamily="18" charset="0"/>
              </a:rPr>
              <a:t>big</a:t>
            </a:r>
            <a:r>
              <a:rPr lang="fr-FR" dirty="0" smtClean="0">
                <a:latin typeface="Times New Roman" panose="02020603050405020304" pitchFamily="18" charset="0"/>
                <a:cs typeface="Times New Roman" panose="02020603050405020304" pitchFamily="18" charset="0"/>
              </a:rPr>
              <a:t> </a:t>
            </a:r>
            <a:r>
              <a:rPr lang="fr-FR" dirty="0" err="1" smtClean="0">
                <a:latin typeface="Times New Roman" panose="02020603050405020304" pitchFamily="18" charset="0"/>
                <a:cs typeface="Times New Roman" panose="02020603050405020304" pitchFamily="18" charset="0"/>
              </a:rPr>
              <a:t>data+analyse</a:t>
            </a:r>
            <a:r>
              <a:rPr lang="fr-FR" dirty="0" smtClean="0">
                <a:latin typeface="Times New Roman" panose="02020603050405020304" pitchFamily="18" charset="0"/>
                <a:cs typeface="Times New Roman" panose="02020603050405020304" pitchFamily="18" charset="0"/>
              </a:rPr>
              <a:t> de ces données=&gt; En tirer conclusion</a:t>
            </a:r>
            <a:r>
              <a:rPr lang="fr-FR" dirty="0" smtClean="0"/>
              <a:t>.</a:t>
            </a:r>
            <a:endParaRPr lang="fr-FR" dirty="0"/>
          </a:p>
        </p:txBody>
      </p:sp>
    </p:spTree>
    <p:extLst>
      <p:ext uri="{BB962C8B-B14F-4D97-AF65-F5344CB8AC3E}">
        <p14:creationId xmlns:p14="http://schemas.microsoft.com/office/powerpoint/2010/main" val="18240754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71800" y="-29763"/>
            <a:ext cx="4007174" cy="476672"/>
          </a:xfrm>
        </p:spPr>
        <p:txBody>
          <a:bodyPr>
            <a:normAutofit fontScale="90000"/>
          </a:bodyPr>
          <a:lstStyle/>
          <a:p>
            <a:r>
              <a:rPr lang="fr-FR" sz="3600" b="1" dirty="0" smtClean="0">
                <a:latin typeface="Times New Roman" panose="02020603050405020304" pitchFamily="18" charset="0"/>
                <a:cs typeface="Times New Roman" panose="02020603050405020304" pitchFamily="18" charset="0"/>
              </a:rPr>
              <a:t>0. Introduction</a:t>
            </a:r>
            <a:endParaRPr lang="fr-FR" sz="3600"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476673"/>
            <a:ext cx="9036496" cy="6552158"/>
          </a:xfrm>
        </p:spPr>
        <p:txBody>
          <a:bodyPr>
            <a:normAutofit fontScale="77500" lnSpcReduction="20000"/>
          </a:bodyPr>
          <a:lstStyle/>
          <a:p>
            <a:pPr marL="0" indent="457200" algn="just">
              <a:spcBef>
                <a:spcPts val="0"/>
              </a:spcBef>
              <a:buNone/>
            </a:pPr>
            <a:r>
              <a:rPr lang="fr-FR" dirty="0" smtClean="0">
                <a:latin typeface="Times New Roman" panose="02020603050405020304" pitchFamily="18" charset="0"/>
                <a:cs typeface="Times New Roman" panose="02020603050405020304" pitchFamily="18" charset="0"/>
              </a:rPr>
              <a:t>Actuellement, </a:t>
            </a:r>
            <a:r>
              <a:rPr lang="fr-FR" dirty="0">
                <a:latin typeface="Times New Roman" panose="02020603050405020304" pitchFamily="18" charset="0"/>
                <a:cs typeface="Times New Roman" panose="02020603050405020304" pitchFamily="18" charset="0"/>
              </a:rPr>
              <a:t>i</a:t>
            </a:r>
            <a:r>
              <a:rPr lang="fr-FR" dirty="0" smtClean="0">
                <a:latin typeface="Times New Roman" panose="02020603050405020304" pitchFamily="18" charset="0"/>
                <a:cs typeface="Times New Roman" panose="02020603050405020304" pitchFamily="18" charset="0"/>
              </a:rPr>
              <a:t>l </a:t>
            </a:r>
            <a:r>
              <a:rPr lang="fr-FR" dirty="0">
                <a:latin typeface="Times New Roman" panose="02020603050405020304" pitchFamily="18" charset="0"/>
                <a:cs typeface="Times New Roman" panose="02020603050405020304" pitchFamily="18" charset="0"/>
              </a:rPr>
              <a:t>existe plusieurs types de bases de données, chacune ayant des caractéristiques et des utilisations spécifiques. Les deux principaux types de bases de données sont les bases de </a:t>
            </a:r>
            <a:r>
              <a:rPr lang="fr-FR" b="1" dirty="0">
                <a:latin typeface="Times New Roman" panose="02020603050405020304" pitchFamily="18" charset="0"/>
                <a:cs typeface="Times New Roman" panose="02020603050405020304" pitchFamily="18" charset="0"/>
              </a:rPr>
              <a:t>données relationnelles et les bases de données non relationnelles</a:t>
            </a:r>
            <a:r>
              <a:rPr lang="fr-FR"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pPr marL="0" indent="457200" algn="just">
              <a:spcBef>
                <a:spcPts val="0"/>
              </a:spcBef>
              <a:buNone/>
            </a:pPr>
            <a:r>
              <a:rPr lang="fr-FR" dirty="0">
                <a:latin typeface="Times New Roman" panose="02020603050405020304" pitchFamily="18" charset="0"/>
                <a:cs typeface="Times New Roman" panose="02020603050405020304" pitchFamily="18" charset="0"/>
              </a:rPr>
              <a:t>Les bases de données relationnelles utilisent une structure de données organisée en tables, avec des relations définies entre les tables</a:t>
            </a:r>
            <a:r>
              <a:rPr lang="fr-FR" dirty="0" smtClean="0">
                <a:latin typeface="Times New Roman" panose="02020603050405020304" pitchFamily="18" charset="0"/>
                <a:cs typeface="Times New Roman" panose="02020603050405020304" pitchFamily="18" charset="0"/>
              </a:rPr>
              <a:t>. Le langage  SQL est utilisée pour formuler les requêtes d interrogation a la base des données relationnelles.</a:t>
            </a:r>
          </a:p>
          <a:p>
            <a:pPr marL="0" indent="457200" algn="just">
              <a:spcBef>
                <a:spcPts val="0"/>
              </a:spcBef>
              <a:buNone/>
            </a:pPr>
            <a:r>
              <a:rPr lang="fr-FR" dirty="0">
                <a:latin typeface="Times New Roman" panose="02020603050405020304" pitchFamily="18" charset="0"/>
                <a:cs typeface="Times New Roman" panose="02020603050405020304" pitchFamily="18" charset="0"/>
              </a:rPr>
              <a:t>Les bases de données non relationnelles, également appelées bases de données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ont une structure de données plus flexible que les bases de données </a:t>
            </a:r>
            <a:r>
              <a:rPr lang="fr-FR" dirty="0" smtClean="0">
                <a:latin typeface="Times New Roman" panose="02020603050405020304" pitchFamily="18" charset="0"/>
                <a:cs typeface="Times New Roman" panose="02020603050405020304" pitchFamily="18" charset="0"/>
              </a:rPr>
              <a:t>relationnelles.</a:t>
            </a:r>
          </a:p>
          <a:p>
            <a:pPr marL="0" indent="457200" algn="just">
              <a:spcBef>
                <a:spcPts val="0"/>
              </a:spcBef>
              <a:buNone/>
            </a:pPr>
            <a:r>
              <a:rPr lang="fr-FR" dirty="0" smtClean="0">
                <a:latin typeface="Times New Roman" panose="02020603050405020304" pitchFamily="18" charset="0"/>
                <a:cs typeface="Times New Roman" panose="02020603050405020304" pitchFamily="18" charset="0"/>
              </a:rPr>
              <a:t>Elle peut  stocker </a:t>
            </a:r>
            <a:r>
              <a:rPr lang="fr-FR" dirty="0">
                <a:latin typeface="Times New Roman" panose="02020603050405020304" pitchFamily="18" charset="0"/>
                <a:cs typeface="Times New Roman" panose="02020603050405020304" pitchFamily="18" charset="0"/>
              </a:rPr>
              <a:t>sous différents </a:t>
            </a:r>
            <a:r>
              <a:rPr lang="fr-FR" dirty="0" smtClean="0">
                <a:latin typeface="Times New Roman" panose="02020603050405020304" pitchFamily="18" charset="0"/>
                <a:cs typeface="Times New Roman" panose="02020603050405020304" pitchFamily="18" charset="0"/>
              </a:rPr>
              <a:t>formats des données  </a:t>
            </a:r>
            <a:r>
              <a:rPr lang="fr-FR" dirty="0">
                <a:latin typeface="Times New Roman" panose="02020603050405020304" pitchFamily="18" charset="0"/>
                <a:cs typeface="Times New Roman" panose="02020603050405020304" pitchFamily="18" charset="0"/>
              </a:rPr>
              <a:t>(clés-valeurs, documents, graphes, etc</a:t>
            </a:r>
            <a:r>
              <a:rPr lang="fr-FR" dirty="0" smtClean="0">
                <a:latin typeface="Times New Roman" panose="02020603050405020304" pitchFamily="18" charset="0"/>
                <a:cs typeface="Times New Roman" panose="02020603050405020304" pitchFamily="18" charset="0"/>
              </a:rPr>
              <a:t>.).</a:t>
            </a:r>
          </a:p>
          <a:p>
            <a:pPr marL="0" indent="457200" algn="just">
              <a:spcBef>
                <a:spcPts val="0"/>
              </a:spcBef>
              <a:buNone/>
            </a:pPr>
            <a:r>
              <a:rPr lang="fr-FR" dirty="0">
                <a:latin typeface="Times New Roman" panose="02020603050405020304" pitchFamily="18" charset="0"/>
                <a:cs typeface="Times New Roman" panose="02020603050405020304" pitchFamily="18" charset="0"/>
              </a:rPr>
              <a:t>Les requêtes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sont utilisées pour interroger </a:t>
            </a:r>
            <a:r>
              <a:rPr lang="fr-FR" dirty="0" smtClean="0">
                <a:latin typeface="Times New Roman" panose="02020603050405020304" pitchFamily="18" charset="0"/>
                <a:cs typeface="Times New Roman" panose="02020603050405020304" pitchFamily="18" charset="0"/>
              </a:rPr>
              <a:t>les bases des  données non relationnelles. </a:t>
            </a:r>
          </a:p>
          <a:p>
            <a:pPr marL="0" indent="457200" algn="just">
              <a:spcBef>
                <a:spcPts val="0"/>
              </a:spcBef>
              <a:buNone/>
            </a:pPr>
            <a:r>
              <a:rPr lang="fr-FR" dirty="0">
                <a:latin typeface="Times New Roman" panose="02020603050405020304" pitchFamily="18" charset="0"/>
                <a:cs typeface="Times New Roman" panose="02020603050405020304" pitchFamily="18" charset="0"/>
              </a:rPr>
              <a:t>Les bases de données non </a:t>
            </a:r>
            <a:r>
              <a:rPr lang="fr-FR" dirty="0" smtClean="0">
                <a:latin typeface="Times New Roman" panose="02020603050405020304" pitchFamily="18" charset="0"/>
                <a:cs typeface="Times New Roman" panose="02020603050405020304" pitchFamily="18" charset="0"/>
              </a:rPr>
              <a:t>relationnelles sont adaptées</a:t>
            </a:r>
            <a:r>
              <a:rPr lang="fr-FR"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pour les applications qui nécessitent une grande scalabilité et une forte performance pour gérer des volumes élevés de données en temps réel</a:t>
            </a:r>
            <a:r>
              <a:rPr lang="fr-FR" dirty="0" smtClean="0">
                <a:latin typeface="Times New Roman" panose="02020603050405020304" pitchFamily="18" charset="0"/>
                <a:cs typeface="Times New Roman" panose="02020603050405020304" pitchFamily="18" charset="0"/>
              </a:rPr>
              <a:t>.</a:t>
            </a:r>
            <a:endParaRPr lang="fr-F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534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9082" y="0"/>
            <a:ext cx="8229600" cy="706090"/>
          </a:xfrm>
        </p:spPr>
        <p:txBody>
          <a:bodyPr>
            <a:normAutofit fontScale="90000"/>
          </a:bodyPr>
          <a:lstStyle/>
          <a:p>
            <a:r>
              <a:rPr lang="fr-FR" dirty="0" smtClean="0">
                <a:latin typeface="Times New Roman" panose="02020603050405020304" pitchFamily="18" charset="0"/>
                <a:cs typeface="Times New Roman" panose="02020603050405020304" pitchFamily="18" charset="0"/>
              </a:rPr>
              <a:t>0.1 Rappel sur la commande SELECT</a:t>
            </a:r>
            <a:endParaRPr lang="fr-FR"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23620" y="706090"/>
            <a:ext cx="9144000" cy="6309320"/>
          </a:xfrm>
        </p:spPr>
        <p:txBody>
          <a:bodyPr>
            <a:normAutofit fontScale="70000" lnSpcReduction="20000"/>
          </a:bodyPr>
          <a:lstStyle/>
          <a:p>
            <a:r>
              <a:rPr lang="fr-FR" sz="3400" dirty="0" smtClean="0">
                <a:latin typeface="Times New Roman" panose="02020603050405020304" pitchFamily="18" charset="0"/>
                <a:cs typeface="Times New Roman" panose="02020603050405020304" pitchFamily="18" charset="0"/>
              </a:rPr>
              <a:t>SELECT colonne FROM table WHERE conditions</a:t>
            </a:r>
          </a:p>
          <a:p>
            <a:r>
              <a:rPr lang="fr-FR" sz="3400" dirty="0" smtClean="0">
                <a:latin typeface="Times New Roman" panose="02020603050405020304" pitchFamily="18" charset="0"/>
                <a:cs typeface="Times New Roman" panose="02020603050405020304" pitchFamily="18" charset="0"/>
              </a:rPr>
              <a:t>SELECT </a:t>
            </a:r>
            <a:r>
              <a:rPr lang="fr-FR" sz="3400" dirty="0">
                <a:latin typeface="Times New Roman" panose="02020603050405020304" pitchFamily="18" charset="0"/>
                <a:cs typeface="Times New Roman" panose="02020603050405020304" pitchFamily="18" charset="0"/>
              </a:rPr>
              <a:t>DISTINCT</a:t>
            </a:r>
          </a:p>
          <a:p>
            <a:r>
              <a:rPr lang="fr-FR" sz="3400" dirty="0">
                <a:latin typeface="Times New Roman" panose="02020603050405020304" pitchFamily="18" charset="0"/>
                <a:cs typeface="Times New Roman" panose="02020603050405020304" pitchFamily="18" charset="0"/>
              </a:rPr>
              <a:t>SELECT …. FROM…. WHERE condition1 AND condition1 </a:t>
            </a:r>
          </a:p>
          <a:p>
            <a:r>
              <a:rPr lang="fr-FR" sz="3400" dirty="0">
                <a:latin typeface="Times New Roman" panose="02020603050405020304" pitchFamily="18" charset="0"/>
                <a:cs typeface="Times New Roman" panose="02020603050405020304" pitchFamily="18" charset="0"/>
              </a:rPr>
              <a:t>SELECT …. FROM…. WHERE (condition1 AND condition1 ) OR (condition1 AND condition1 ) </a:t>
            </a:r>
          </a:p>
          <a:p>
            <a:r>
              <a:rPr lang="fr-FR" sz="3400" dirty="0">
                <a:latin typeface="Times New Roman" panose="02020603050405020304" pitchFamily="18" charset="0"/>
                <a:cs typeface="Times New Roman" panose="02020603050405020304" pitchFamily="18" charset="0"/>
              </a:rPr>
              <a:t>SELECT …. FROM…. WHERE nom colonne BETWEEN « valeur1 »  AND « valeur 2 ». On peut utiliser NOT BETWEEN(si on veut avoir des valeurs qui ne sont pas situes entre cette intervalle)</a:t>
            </a:r>
          </a:p>
          <a:p>
            <a:r>
              <a:rPr lang="fr-FR" sz="3400" dirty="0">
                <a:latin typeface="Times New Roman" panose="02020603050405020304" pitchFamily="18" charset="0"/>
                <a:cs typeface="Times New Roman" panose="02020603050405020304" pitchFamily="18" charset="0"/>
              </a:rPr>
              <a:t>SELECT …. FROM…. WHERE nom colonne BETWEEN « valeur1 »  AND « valeur 2 ». On peut utiliser NOT BETWEEN(si on veut avoir des valeurs qui ne sont pas situes entre cette intervalle)</a:t>
            </a:r>
          </a:p>
          <a:p>
            <a:r>
              <a:rPr lang="fr-FR" sz="3400" dirty="0">
                <a:latin typeface="Times New Roman" panose="02020603050405020304" pitchFamily="18" charset="0"/>
                <a:cs typeface="Times New Roman" panose="02020603050405020304" pitchFamily="18" charset="0"/>
              </a:rPr>
              <a:t>Operateur LIKE:</a:t>
            </a:r>
          </a:p>
          <a:p>
            <a:pPr marL="0" indent="0">
              <a:buNone/>
            </a:pPr>
            <a:r>
              <a:rPr lang="fr-FR" sz="3400" dirty="0" smtClean="0">
                <a:latin typeface="Times New Roman" panose="02020603050405020304" pitchFamily="18" charset="0"/>
                <a:cs typeface="Times New Roman" panose="02020603050405020304" pitchFamily="18" charset="0"/>
              </a:rPr>
              <a:t>Exemple: </a:t>
            </a:r>
          </a:p>
          <a:p>
            <a:pPr marL="0" indent="0">
              <a:buNone/>
            </a:pPr>
            <a:r>
              <a:rPr lang="fr-FR" sz="3400" dirty="0" smtClean="0">
                <a:latin typeface="Times New Roman" panose="02020603050405020304" pitchFamily="18" charset="0"/>
                <a:cs typeface="Times New Roman" panose="02020603050405020304" pitchFamily="18" charset="0"/>
              </a:rPr>
              <a:t>SELECT </a:t>
            </a:r>
            <a:r>
              <a:rPr lang="fr-FR" sz="3400" dirty="0">
                <a:latin typeface="Times New Roman" panose="02020603050405020304" pitchFamily="18" charset="0"/>
                <a:cs typeface="Times New Roman" panose="02020603050405020304" pitchFamily="18" charset="0"/>
              </a:rPr>
              <a:t>…. FROM…. WHERE </a:t>
            </a:r>
            <a:r>
              <a:rPr lang="fr-FR" sz="3400" dirty="0" smtClean="0">
                <a:latin typeface="Times New Roman" panose="02020603050405020304" pitchFamily="18" charset="0"/>
                <a:cs typeface="Times New Roman" panose="02020603050405020304" pitchFamily="18" charset="0"/>
              </a:rPr>
              <a:t>colonne LIKE informatique</a:t>
            </a:r>
          </a:p>
          <a:p>
            <a:pPr marL="0" indent="0">
              <a:buNone/>
            </a:pPr>
            <a:r>
              <a:rPr lang="fr-FR" sz="3400" dirty="0">
                <a:latin typeface="Times New Roman" panose="02020603050405020304" pitchFamily="18" charset="0"/>
                <a:cs typeface="Times New Roman" panose="02020603050405020304" pitchFamily="18" charset="0"/>
              </a:rPr>
              <a:t>SELECT …. FROM…. WHERE colonne </a:t>
            </a:r>
            <a:r>
              <a:rPr lang="fr-FR" sz="3400" dirty="0" smtClean="0">
                <a:latin typeface="Times New Roman" panose="02020603050405020304" pitchFamily="18" charset="0"/>
                <a:cs typeface="Times New Roman" panose="02020603050405020304" pitchFamily="18" charset="0"/>
              </a:rPr>
              <a:t>LIKE ‘%e’</a:t>
            </a:r>
          </a:p>
          <a:p>
            <a:pPr marL="0" indent="0">
              <a:buNone/>
            </a:pPr>
            <a:r>
              <a:rPr lang="fr-FR" sz="3400" dirty="0">
                <a:latin typeface="Times New Roman" panose="02020603050405020304" pitchFamily="18" charset="0"/>
                <a:cs typeface="Times New Roman" panose="02020603050405020304" pitchFamily="18" charset="0"/>
              </a:rPr>
              <a:t>SELECT …. FROM…. WHERE colonne LIKE </a:t>
            </a:r>
            <a:r>
              <a:rPr lang="fr-FR" sz="3400" dirty="0" smtClean="0">
                <a:latin typeface="Times New Roman" panose="02020603050405020304" pitchFamily="18" charset="0"/>
                <a:cs typeface="Times New Roman" panose="02020603050405020304" pitchFamily="18" charset="0"/>
              </a:rPr>
              <a:t>‘e%’</a:t>
            </a:r>
            <a:r>
              <a:rPr lang="fr-FR" sz="3400" dirty="0">
                <a:latin typeface="Times New Roman" panose="02020603050405020304" pitchFamily="18" charset="0"/>
                <a:cs typeface="Times New Roman" panose="02020603050405020304" pitchFamily="18" charset="0"/>
              </a:rPr>
              <a:t> </a:t>
            </a:r>
          </a:p>
          <a:p>
            <a:pPr marL="0" indent="0">
              <a:buNone/>
            </a:pPr>
            <a:r>
              <a:rPr lang="fr-FR" sz="3400" dirty="0">
                <a:latin typeface="Times New Roman" panose="02020603050405020304" pitchFamily="18" charset="0"/>
                <a:cs typeface="Times New Roman" panose="02020603050405020304" pitchFamily="18" charset="0"/>
              </a:rPr>
              <a:t> SELECT …. FROM…. WHERE colonne LIKE ‘%</a:t>
            </a:r>
            <a:r>
              <a:rPr lang="fr-FR" sz="3400" dirty="0" smtClean="0">
                <a:latin typeface="Times New Roman" panose="02020603050405020304" pitchFamily="18" charset="0"/>
                <a:cs typeface="Times New Roman" panose="02020603050405020304" pitchFamily="18" charset="0"/>
              </a:rPr>
              <a:t>e</a:t>
            </a:r>
            <a:r>
              <a:rPr lang="fr-FR" sz="3400" dirty="0">
                <a:latin typeface="Times New Roman" panose="02020603050405020304" pitchFamily="18" charset="0"/>
                <a:cs typeface="Times New Roman" panose="02020603050405020304" pitchFamily="18" charset="0"/>
              </a:rPr>
              <a:t>%</a:t>
            </a:r>
            <a:r>
              <a:rPr lang="fr-FR" sz="3400" dirty="0" smtClean="0">
                <a:latin typeface="Times New Roman" panose="02020603050405020304" pitchFamily="18" charset="0"/>
                <a:cs typeface="Times New Roman" panose="02020603050405020304" pitchFamily="18" charset="0"/>
              </a:rPr>
              <a:t>’</a:t>
            </a:r>
            <a:r>
              <a:rPr lang="fr-FR" sz="3400" dirty="0">
                <a:latin typeface="Times New Roman" panose="02020603050405020304" pitchFamily="18" charset="0"/>
                <a:cs typeface="Times New Roman" panose="02020603050405020304" pitchFamily="18" charset="0"/>
              </a:rPr>
              <a:t> </a:t>
            </a:r>
          </a:p>
          <a:p>
            <a:pPr marL="0" indent="0">
              <a:buNone/>
            </a:pPr>
            <a:endParaRPr lang="fr-FR" dirty="0" smtClean="0"/>
          </a:p>
          <a:p>
            <a:pPr marL="0" indent="0">
              <a:buNone/>
            </a:pPr>
            <a:endParaRPr lang="fr-FR" dirty="0"/>
          </a:p>
          <a:p>
            <a:pPr marL="0" indent="0">
              <a:buNone/>
            </a:pPr>
            <a:endParaRPr lang="fr-FR" dirty="0" smtClean="0"/>
          </a:p>
          <a:p>
            <a:pPr marL="0" indent="0">
              <a:buNone/>
            </a:pPr>
            <a:endParaRPr lang="fr-FR" dirty="0"/>
          </a:p>
        </p:txBody>
      </p:sp>
    </p:spTree>
    <p:extLst>
      <p:ext uri="{BB962C8B-B14F-4D97-AF65-F5344CB8AC3E}">
        <p14:creationId xmlns:p14="http://schemas.microsoft.com/office/powerpoint/2010/main" val="29198117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16632"/>
            <a:ext cx="9036496" cy="6741368"/>
          </a:xfrm>
        </p:spPr>
        <p:txBody>
          <a:bodyPr/>
          <a:lstStyle/>
          <a:p>
            <a:r>
              <a:rPr lang="fr-FR" sz="3600" dirty="0">
                <a:latin typeface="Times New Roman" panose="02020603050405020304" pitchFamily="18" charset="0"/>
                <a:cs typeface="Times New Roman" panose="02020603050405020304" pitchFamily="18" charset="0"/>
              </a:rPr>
              <a:t>La commande GROUP </a:t>
            </a:r>
            <a:r>
              <a:rPr lang="fr-FR" sz="3600" dirty="0" smtClean="0">
                <a:latin typeface="Times New Roman" panose="02020603050405020304" pitchFamily="18" charset="0"/>
                <a:cs typeface="Times New Roman" panose="02020603050405020304" pitchFamily="18" charset="0"/>
              </a:rPr>
              <a:t>BY, Il sert a grouper </a:t>
            </a:r>
            <a:r>
              <a:rPr lang="fr-FR" sz="3600" dirty="0">
                <a:latin typeface="Times New Roman" panose="02020603050405020304" pitchFamily="18" charset="0"/>
                <a:cs typeface="Times New Roman" panose="02020603050405020304" pitchFamily="18" charset="0"/>
              </a:rPr>
              <a:t>plusieurs résultats et utiliser une fonction de totaux sur un groupe de </a:t>
            </a:r>
            <a:r>
              <a:rPr lang="fr-FR" sz="3600" dirty="0" smtClean="0">
                <a:latin typeface="Times New Roman" panose="02020603050405020304" pitchFamily="18" charset="0"/>
                <a:cs typeface="Times New Roman" panose="02020603050405020304" pitchFamily="18" charset="0"/>
              </a:rPr>
              <a:t>résultat.</a:t>
            </a:r>
          </a:p>
          <a:p>
            <a:pPr marL="0" indent="0">
              <a:buNone/>
            </a:pPr>
            <a:r>
              <a:rPr lang="fr-FR" sz="3600" dirty="0" smtClean="0">
                <a:latin typeface="Times New Roman" panose="02020603050405020304" pitchFamily="18" charset="0"/>
                <a:cs typeface="Times New Roman" panose="02020603050405020304" pitchFamily="18" charset="0"/>
              </a:rPr>
              <a:t>Exemple:</a:t>
            </a:r>
          </a:p>
          <a:p>
            <a:pPr marL="0" indent="0">
              <a:buNone/>
            </a:pPr>
            <a:r>
              <a:rPr lang="fr-FR" sz="3600" dirty="0" smtClean="0">
                <a:latin typeface="Times New Roman" panose="02020603050405020304" pitchFamily="18" charset="0"/>
                <a:cs typeface="Times New Roman" panose="02020603050405020304" pitchFamily="18" charset="0"/>
              </a:rPr>
              <a:t>SELECT Client, SUM(Prix) FROM Achat GROUP BY client </a:t>
            </a:r>
            <a:endParaRPr lang="fr-FR" sz="3600" dirty="0">
              <a:latin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26034533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0"/>
            <a:ext cx="8856984" cy="6858000"/>
          </a:xfrm>
        </p:spPr>
        <p:txBody>
          <a:bodyPr>
            <a:noAutofit/>
          </a:bodyPr>
          <a:lstStyle/>
          <a:p>
            <a:pPr algn="ctr">
              <a:buNone/>
            </a:pPr>
            <a:r>
              <a:rPr lang="en-US" sz="2800" b="1" dirty="0" smtClean="0">
                <a:latin typeface="Times New Roman" pitchFamily="18" charset="0"/>
                <a:cs typeface="Times New Roman" pitchFamily="18" charset="0"/>
              </a:rPr>
              <a:t>0.2 LES  JOINTURES</a:t>
            </a:r>
            <a:endParaRPr lang="en-US" sz="2800" dirty="0" smtClean="0">
              <a:latin typeface="Times New Roman" pitchFamily="18" charset="0"/>
              <a:cs typeface="Times New Roman" pitchFamily="18" charset="0"/>
            </a:endParaRPr>
          </a:p>
          <a:p>
            <a:pPr algn="just">
              <a:buNone/>
            </a:pPr>
            <a:r>
              <a:rPr lang="en-US" sz="2800" dirty="0" smtClean="0">
                <a:latin typeface="Times New Roman" pitchFamily="18" charset="0"/>
                <a:cs typeface="Times New Roman" pitchFamily="18" charset="0"/>
              </a:rPr>
              <a:t>		La jointure </a:t>
            </a:r>
            <a:r>
              <a:rPr lang="en-US" sz="2800" dirty="0" err="1" smtClean="0">
                <a:latin typeface="Times New Roman" pitchFamily="18" charset="0"/>
                <a:cs typeface="Times New Roman" pitchFamily="18" charset="0"/>
              </a:rPr>
              <a:t>permet</a:t>
            </a:r>
            <a:r>
              <a:rPr lang="en-US" sz="2800" dirty="0" smtClean="0">
                <a:latin typeface="Times New Roman" pitchFamily="18" charset="0"/>
                <a:cs typeface="Times New Roman" pitchFamily="18" charset="0"/>
              </a:rPr>
              <a:t> de lier deux </a:t>
            </a:r>
            <a:r>
              <a:rPr lang="en-US" sz="2800" dirty="0" err="1" smtClean="0">
                <a:latin typeface="Times New Roman" pitchFamily="18" charset="0"/>
                <a:cs typeface="Times New Roman" pitchFamily="18" charset="0"/>
              </a:rPr>
              <a:t>ou</a:t>
            </a:r>
            <a:r>
              <a:rPr lang="en-US" sz="2800" dirty="0" smtClean="0">
                <a:latin typeface="Times New Roman" pitchFamily="18" charset="0"/>
                <a:cs typeface="Times New Roman" pitchFamily="18" charset="0"/>
              </a:rPr>
              <a:t> plusieurs tables a conditions </a:t>
            </a:r>
            <a:r>
              <a:rPr lang="en-US" sz="2800" dirty="0" err="1" smtClean="0">
                <a:latin typeface="Times New Roman" pitchFamily="18" charset="0"/>
                <a:cs typeface="Times New Roman" pitchFamily="18" charset="0"/>
              </a:rPr>
              <a:t>qu’il</a:t>
            </a:r>
            <a:r>
              <a:rPr lang="en-US" sz="2800" dirty="0" smtClean="0">
                <a:latin typeface="Times New Roman" pitchFamily="18" charset="0"/>
                <a:cs typeface="Times New Roman" pitchFamily="18" charset="0"/>
              </a:rPr>
              <a:t> existe au moins un lien entre </a:t>
            </a:r>
            <a:r>
              <a:rPr lang="en-US" sz="2800" dirty="0" err="1" smtClean="0">
                <a:latin typeface="Times New Roman" pitchFamily="18" charset="0"/>
                <a:cs typeface="Times New Roman" pitchFamily="18" charset="0"/>
              </a:rPr>
              <a:t>ces</a:t>
            </a:r>
            <a:r>
              <a:rPr lang="en-US" sz="2800" dirty="0" smtClean="0">
                <a:latin typeface="Times New Roman" pitchFamily="18" charset="0"/>
                <a:cs typeface="Times New Roman" pitchFamily="18" charset="0"/>
              </a:rPr>
              <a:t> tables.</a:t>
            </a:r>
          </a:p>
          <a:p>
            <a:pPr algn="just">
              <a:buNone/>
            </a:pPr>
            <a:r>
              <a:rPr lang="en-US" sz="2800" dirty="0" smtClean="0">
                <a:latin typeface="Times New Roman" pitchFamily="18" charset="0"/>
                <a:cs typeface="Times New Roman" pitchFamily="18" charset="0"/>
              </a:rPr>
              <a:t>		Un lien </a:t>
            </a:r>
            <a:r>
              <a:rPr lang="en-US" sz="2800" dirty="0" err="1" smtClean="0">
                <a:latin typeface="Times New Roman" pitchFamily="18" charset="0"/>
                <a:cs typeface="Times New Roman" pitchFamily="18" charset="0"/>
              </a:rPr>
              <a:t>est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presenté</a:t>
            </a:r>
            <a:r>
              <a:rPr lang="en-US" sz="2800" dirty="0" smtClean="0">
                <a:latin typeface="Times New Roman" pitchFamily="18" charset="0"/>
                <a:cs typeface="Times New Roman" pitchFamily="18" charset="0"/>
              </a:rPr>
              <a:t> par </a:t>
            </a:r>
            <a:r>
              <a:rPr lang="en-US" sz="2800" dirty="0" err="1" smtClean="0">
                <a:latin typeface="Times New Roman" pitchFamily="18" charset="0"/>
                <a:cs typeface="Times New Roman" pitchFamily="18" charset="0"/>
              </a:rPr>
              <a:t>une</a:t>
            </a:r>
            <a:r>
              <a:rPr lang="en-US" sz="2800" dirty="0" smtClean="0">
                <a:latin typeface="Times New Roman" pitchFamily="18" charset="0"/>
                <a:cs typeface="Times New Roman" pitchFamily="18" charset="0"/>
              </a:rPr>
              <a:t> clef </a:t>
            </a:r>
            <a:r>
              <a:rPr lang="en-US" sz="2800" dirty="0" err="1" smtClean="0">
                <a:latin typeface="Times New Roman" pitchFamily="18" charset="0"/>
                <a:cs typeface="Times New Roman" pitchFamily="18" charset="0"/>
              </a:rPr>
              <a:t>primaire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dans</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une</a:t>
            </a:r>
            <a:r>
              <a:rPr lang="en-US" sz="2800" dirty="0" smtClean="0">
                <a:latin typeface="Times New Roman" pitchFamily="18" charset="0"/>
                <a:cs typeface="Times New Roman" pitchFamily="18" charset="0"/>
              </a:rPr>
              <a:t> table et </a:t>
            </a:r>
            <a:r>
              <a:rPr lang="en-US" sz="2800" dirty="0" err="1" smtClean="0">
                <a:latin typeface="Times New Roman" pitchFamily="18" charset="0"/>
                <a:cs typeface="Times New Roman" pitchFamily="18" charset="0"/>
              </a:rPr>
              <a:t>une</a:t>
            </a:r>
            <a:r>
              <a:rPr lang="en-US" sz="2800" dirty="0" smtClean="0">
                <a:latin typeface="Times New Roman" pitchFamily="18" charset="0"/>
                <a:cs typeface="Times New Roman" pitchFamily="18" charset="0"/>
              </a:rPr>
              <a:t> clef </a:t>
            </a:r>
            <a:r>
              <a:rPr lang="en-US" sz="2800" dirty="0" err="1" smtClean="0">
                <a:latin typeface="Times New Roman" pitchFamily="18" charset="0"/>
                <a:cs typeface="Times New Roman" pitchFamily="18" charset="0"/>
              </a:rPr>
              <a:t>etrangère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dans</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l’autre</a:t>
            </a:r>
            <a:r>
              <a:rPr lang="en-US" sz="2800" dirty="0" smtClean="0">
                <a:latin typeface="Times New Roman" pitchFamily="18" charset="0"/>
                <a:cs typeface="Times New Roman" pitchFamily="18" charset="0"/>
              </a:rPr>
              <a:t> table.</a:t>
            </a:r>
            <a:endParaRPr lang="ru-RU" sz="2800" b="1" dirty="0" smtClean="0">
              <a:latin typeface="Times New Roman" pitchFamily="18" charset="0"/>
              <a:cs typeface="Times New Roman" pitchFamily="18" charset="0"/>
            </a:endParaRPr>
          </a:p>
          <a:p>
            <a:pPr algn="just">
              <a:buNone/>
            </a:pP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Syntaxe</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generale</a:t>
            </a:r>
            <a:r>
              <a:rPr lang="en-US" sz="2800" b="1" dirty="0" smtClean="0">
                <a:latin typeface="Times New Roman" pitchFamily="18" charset="0"/>
                <a:cs typeface="Times New Roman" pitchFamily="18" charset="0"/>
              </a:rPr>
              <a:t> des jointures </a:t>
            </a:r>
            <a:endParaRPr lang="en-US" sz="2800" dirty="0" smtClean="0">
              <a:latin typeface="Times New Roman" pitchFamily="18" charset="0"/>
              <a:cs typeface="Times New Roman" pitchFamily="18" charset="0"/>
            </a:endParaRPr>
          </a:p>
          <a:p>
            <a:pPr algn="just">
              <a:buNone/>
            </a:pPr>
            <a:r>
              <a:rPr lang="en-US" sz="2800" dirty="0" smtClean="0">
                <a:latin typeface="Times New Roman" pitchFamily="18" charset="0"/>
                <a:cs typeface="Times New Roman" pitchFamily="18" charset="0"/>
              </a:rPr>
              <a:t>	Les </a:t>
            </a:r>
            <a:r>
              <a:rPr lang="en-US" sz="2800" dirty="0" err="1" smtClean="0">
                <a:latin typeface="Times New Roman" pitchFamily="18" charset="0"/>
                <a:cs typeface="Times New Roman" pitchFamily="18" charset="0"/>
              </a:rPr>
              <a:t>noms</a:t>
            </a:r>
            <a:r>
              <a:rPr lang="en-US" sz="2800" dirty="0" smtClean="0">
                <a:latin typeface="Times New Roman" pitchFamily="18" charset="0"/>
                <a:cs typeface="Times New Roman" pitchFamily="18" charset="0"/>
              </a:rPr>
              <a:t> des </a:t>
            </a:r>
            <a:r>
              <a:rPr lang="en-US" sz="2800" dirty="0" err="1" smtClean="0">
                <a:latin typeface="Times New Roman" pitchFamily="18" charset="0"/>
                <a:cs typeface="Times New Roman" pitchFamily="18" charset="0"/>
              </a:rPr>
              <a:t>differentes</a:t>
            </a:r>
            <a:r>
              <a:rPr lang="en-US" sz="2800" dirty="0" smtClean="0">
                <a:latin typeface="Times New Roman" pitchFamily="18" charset="0"/>
                <a:cs typeface="Times New Roman" pitchFamily="18" charset="0"/>
              </a:rPr>
              <a:t> relations </a:t>
            </a:r>
            <a:r>
              <a:rPr lang="en-US" sz="2800" dirty="0" err="1" smtClean="0">
                <a:latin typeface="Times New Roman" pitchFamily="18" charset="0"/>
                <a:cs typeface="Times New Roman" pitchFamily="18" charset="0"/>
              </a:rPr>
              <a:t>sont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separés</a:t>
            </a:r>
            <a:r>
              <a:rPr lang="en-US" sz="2800" dirty="0" smtClean="0">
                <a:latin typeface="Times New Roman" pitchFamily="18" charset="0"/>
                <a:cs typeface="Times New Roman" pitchFamily="18" charset="0"/>
              </a:rPr>
              <a:t> par des virgules.</a:t>
            </a:r>
          </a:p>
          <a:p>
            <a:pPr algn="just">
              <a:buNone/>
            </a:pP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SELECT</a:t>
            </a:r>
            <a:r>
              <a:rPr lang="en-US" sz="2800" dirty="0" smtClean="0">
                <a:latin typeface="Times New Roman" pitchFamily="18" charset="0"/>
                <a:cs typeface="Times New Roman" pitchFamily="18" charset="0"/>
              </a:rPr>
              <a:t> table1.attribut1,table2.attribut2,etc.</a:t>
            </a:r>
          </a:p>
          <a:p>
            <a:pPr algn="just">
              <a:buNone/>
            </a:pPr>
            <a:r>
              <a:rPr lang="en-US" sz="2800" b="1" dirty="0" smtClean="0">
                <a:latin typeface="Times New Roman" pitchFamily="18" charset="0"/>
                <a:cs typeface="Times New Roman" pitchFamily="18" charset="0"/>
              </a:rPr>
              <a:t>FROM</a:t>
            </a:r>
            <a:r>
              <a:rPr lang="en-US" sz="2800" dirty="0" smtClean="0">
                <a:latin typeface="Times New Roman" pitchFamily="18" charset="0"/>
                <a:cs typeface="Times New Roman" pitchFamily="18" charset="0"/>
              </a:rPr>
              <a:t> table1 </a:t>
            </a:r>
            <a:r>
              <a:rPr lang="en-US" sz="2800" b="1" dirty="0" smtClean="0">
                <a:latin typeface="Times New Roman" pitchFamily="18" charset="0"/>
                <a:cs typeface="Times New Roman" pitchFamily="18" charset="0"/>
              </a:rPr>
              <a:t>INNER JOIN </a:t>
            </a:r>
            <a:r>
              <a:rPr lang="en-US" sz="2800" dirty="0" smtClean="0">
                <a:latin typeface="Times New Roman" pitchFamily="18" charset="0"/>
                <a:cs typeface="Times New Roman" pitchFamily="18" charset="0"/>
              </a:rPr>
              <a:t>table2 </a:t>
            </a:r>
            <a:r>
              <a:rPr lang="en-US" sz="2800" b="1" dirty="0" smtClean="0">
                <a:latin typeface="Times New Roman" pitchFamily="18" charset="0"/>
                <a:cs typeface="Times New Roman" pitchFamily="18" charset="0"/>
              </a:rPr>
              <a:t>ON</a:t>
            </a:r>
            <a:r>
              <a:rPr lang="en-US" sz="2800" dirty="0" smtClean="0">
                <a:latin typeface="Times New Roman" pitchFamily="18" charset="0"/>
                <a:cs typeface="Times New Roman" pitchFamily="18" charset="0"/>
              </a:rPr>
              <a:t> table1.attribut.CP</a:t>
            </a:r>
          </a:p>
          <a:p>
            <a:pPr algn="just">
              <a:buNone/>
            </a:pPr>
            <a:r>
              <a:rPr lang="en-US" sz="2800" dirty="0" smtClean="0">
                <a:latin typeface="Times New Roman" pitchFamily="18" charset="0"/>
                <a:cs typeface="Times New Roman" pitchFamily="18" charset="0"/>
              </a:rPr>
              <a:t>= table2.attributCE;</a:t>
            </a:r>
          </a:p>
          <a:p>
            <a:pPr algn="just">
              <a:buNone/>
            </a:pPr>
            <a:r>
              <a:rPr lang="fr-FR" sz="2800" b="1" dirty="0" smtClean="0">
                <a:latin typeface="Times New Roman" panose="02020603050405020304" pitchFamily="18" charset="0"/>
                <a:cs typeface="Times New Roman" panose="02020603050405020304" pitchFamily="18" charset="0"/>
              </a:rPr>
              <a:t>WHERE  </a:t>
            </a:r>
            <a:r>
              <a:rPr lang="fr-FR" sz="2800" dirty="0" smtClean="0">
                <a:latin typeface="Times New Roman" panose="02020603050405020304" pitchFamily="18" charset="0"/>
                <a:cs typeface="Times New Roman" panose="02020603050405020304" pitchFamily="18" charset="0"/>
              </a:rPr>
              <a:t>conditions</a:t>
            </a:r>
            <a:endParaRPr lang="fr-FR" sz="2800" dirty="0">
              <a:latin typeface="Times New Roman" panose="02020603050405020304" pitchFamily="18" charset="0"/>
              <a:cs typeface="Times New Roman" panose="02020603050405020304" pitchFamily="18" charset="0"/>
            </a:endParaRPr>
          </a:p>
          <a:p>
            <a:pPr algn="just">
              <a:buNone/>
            </a:pPr>
            <a:endParaRPr lang="en-US" sz="2800" dirty="0" smtClean="0">
              <a:latin typeface="Times New Roman" pitchFamily="18" charset="0"/>
              <a:cs typeface="Times New Roman" pitchFamily="18" charset="0"/>
            </a:endParaRPr>
          </a:p>
          <a:p>
            <a:pPr algn="just">
              <a:buNone/>
            </a:pPr>
            <a:endParaRPr lang="fr-FR" sz="2800" dirty="0" smtClean="0">
              <a:latin typeface="Times New Roman" pitchFamily="18" charset="0"/>
              <a:cs typeface="Times New Roman" pitchFamily="18" charset="0"/>
            </a:endParaRPr>
          </a:p>
          <a:p>
            <a:pPr algn="just">
              <a:buNone/>
            </a:pPr>
            <a:r>
              <a:rPr lang="fr-FR" sz="2800" dirty="0" smtClean="0">
                <a:latin typeface="Times New Roman" pitchFamily="18" charset="0"/>
                <a:cs typeface="Times New Roman" pitchFamily="18" charset="0"/>
              </a:rPr>
              <a:t>		</a:t>
            </a:r>
            <a:endParaRPr lang="ru-RU" sz="2800" dirty="0"/>
          </a:p>
        </p:txBody>
      </p:sp>
    </p:spTree>
    <p:extLst>
      <p:ext uri="{BB962C8B-B14F-4D97-AF65-F5344CB8AC3E}">
        <p14:creationId xmlns:p14="http://schemas.microsoft.com/office/powerpoint/2010/main" val="19187828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Autofit/>
          </a:bodyPr>
          <a:lstStyle/>
          <a:p>
            <a:r>
              <a:rPr lang="fr-FR" sz="2800" dirty="0">
                <a:latin typeface="Times New Roman" panose="02020603050405020304" pitchFamily="18" charset="0"/>
                <a:cs typeface="Times New Roman" panose="02020603050405020304" pitchFamily="18" charset="0"/>
              </a:rPr>
              <a:t>la commande </a:t>
            </a:r>
            <a:r>
              <a:rPr lang="fr-FR" sz="2800" b="1" dirty="0">
                <a:latin typeface="Times New Roman" panose="02020603050405020304" pitchFamily="18" charset="0"/>
                <a:cs typeface="Times New Roman" panose="02020603050405020304" pitchFamily="18" charset="0"/>
              </a:rPr>
              <a:t>INNER JOIN</a:t>
            </a:r>
            <a:r>
              <a:rPr lang="fr-FR" sz="2800" dirty="0">
                <a:latin typeface="Times New Roman" panose="02020603050405020304" pitchFamily="18" charset="0"/>
                <a:cs typeface="Times New Roman" panose="02020603050405020304" pitchFamily="18" charset="0"/>
              </a:rPr>
              <a:t>, aussi appelée EQUIJOIN, est un type de jointures très communes pour lier plusieurs tables </a:t>
            </a:r>
            <a:r>
              <a:rPr lang="fr-FR" sz="2800" dirty="0" err="1" smtClean="0">
                <a:latin typeface="Times New Roman" panose="02020603050405020304" pitchFamily="18" charset="0"/>
                <a:cs typeface="Times New Roman" panose="02020603050405020304" pitchFamily="18" charset="0"/>
              </a:rPr>
              <a:t>entre-elles.Syntaxe</a:t>
            </a:r>
            <a:r>
              <a:rPr lang="fr-FR" sz="2800" dirty="0" smtClean="0">
                <a:latin typeface="Times New Roman" panose="02020603050405020304" pitchFamily="18" charset="0"/>
                <a:cs typeface="Times New Roman" panose="02020603050405020304" pitchFamily="18" charset="0"/>
              </a:rPr>
              <a:t> générale</a:t>
            </a:r>
            <a:r>
              <a:rPr lang="fr-FR" sz="2800" dirty="0" smtClean="0">
                <a:latin typeface="Times New Roman" panose="02020603050405020304" pitchFamily="18" charset="0"/>
                <a:cs typeface="Times New Roman" panose="02020603050405020304" pitchFamily="18" charset="0"/>
                <a:sym typeface="Wingdings" panose="05000000000000000000" pitchFamily="2" charset="2"/>
              </a:rPr>
              <a:t>(diapo précédant)</a:t>
            </a:r>
          </a:p>
          <a:p>
            <a:pPr algn="just"/>
            <a:r>
              <a:rPr lang="fr-FR" sz="2800" dirty="0">
                <a:latin typeface="Times New Roman" panose="02020603050405020304" pitchFamily="18" charset="0"/>
                <a:cs typeface="Times New Roman" panose="02020603050405020304" pitchFamily="18" charset="0"/>
              </a:rPr>
              <a:t>L</a:t>
            </a:r>
            <a:r>
              <a:rPr lang="fr-FR" sz="2800" dirty="0" smtClean="0">
                <a:latin typeface="Times New Roman" panose="02020603050405020304" pitchFamily="18" charset="0"/>
                <a:cs typeface="Times New Roman" panose="02020603050405020304" pitchFamily="18" charset="0"/>
              </a:rPr>
              <a:t>a </a:t>
            </a:r>
            <a:r>
              <a:rPr lang="fr-FR" sz="2800" dirty="0">
                <a:latin typeface="Times New Roman" panose="02020603050405020304" pitchFamily="18" charset="0"/>
                <a:cs typeface="Times New Roman" panose="02020603050405020304" pitchFamily="18" charset="0"/>
              </a:rPr>
              <a:t>commande </a:t>
            </a:r>
            <a:r>
              <a:rPr lang="fr-FR" sz="2800" b="1" dirty="0">
                <a:latin typeface="Times New Roman" panose="02020603050405020304" pitchFamily="18" charset="0"/>
                <a:cs typeface="Times New Roman" panose="02020603050405020304" pitchFamily="18" charset="0"/>
              </a:rPr>
              <a:t>CROSS JOIN </a:t>
            </a:r>
            <a:r>
              <a:rPr lang="fr-FR" sz="2800" dirty="0">
                <a:latin typeface="Times New Roman" panose="02020603050405020304" pitchFamily="18" charset="0"/>
                <a:cs typeface="Times New Roman" panose="02020603050405020304" pitchFamily="18" charset="0"/>
              </a:rPr>
              <a:t>est un type de jointure sur 2 tables SQL qui permet de retourner le produit </a:t>
            </a:r>
            <a:r>
              <a:rPr lang="fr-FR" sz="2800" dirty="0" smtClean="0">
                <a:latin typeface="Times New Roman" panose="02020603050405020304" pitchFamily="18" charset="0"/>
                <a:cs typeface="Times New Roman" panose="02020603050405020304" pitchFamily="18" charset="0"/>
              </a:rPr>
              <a:t>cartésien</a:t>
            </a:r>
          </a:p>
          <a:p>
            <a:pPr algn="just"/>
            <a:r>
              <a:rPr lang="fr-FR" sz="2800" dirty="0">
                <a:latin typeface="Times New Roman" panose="02020603050405020304" pitchFamily="18" charset="0"/>
                <a:cs typeface="Times New Roman" panose="02020603050405020304" pitchFamily="18" charset="0"/>
              </a:rPr>
              <a:t>la commande </a:t>
            </a:r>
            <a:r>
              <a:rPr lang="fr-FR" sz="2800" b="1" dirty="0">
                <a:latin typeface="Times New Roman" panose="02020603050405020304" pitchFamily="18" charset="0"/>
                <a:cs typeface="Times New Roman" panose="02020603050405020304" pitchFamily="18" charset="0"/>
              </a:rPr>
              <a:t>LEFT JOIN </a:t>
            </a:r>
            <a:r>
              <a:rPr lang="fr-FR" sz="2800" dirty="0">
                <a:latin typeface="Times New Roman" panose="02020603050405020304" pitchFamily="18" charset="0"/>
                <a:cs typeface="Times New Roman" panose="02020603050405020304" pitchFamily="18" charset="0"/>
              </a:rPr>
              <a:t>(aussi appelée LEFT OUTER JOIN) est un type de jointure entre 2 tables</a:t>
            </a:r>
            <a:r>
              <a:rPr lang="fr-FR" sz="2800" dirty="0" smtClean="0">
                <a:latin typeface="Times New Roman" panose="02020603050405020304" pitchFamily="18" charset="0"/>
                <a:cs typeface="Times New Roman" panose="02020603050405020304" pitchFamily="18" charset="0"/>
              </a:rPr>
              <a:t>. Cette commande nous  </a:t>
            </a:r>
            <a:r>
              <a:rPr lang="fr-FR" sz="2800" dirty="0">
                <a:latin typeface="Times New Roman" panose="02020603050405020304" pitchFamily="18" charset="0"/>
                <a:cs typeface="Times New Roman" panose="02020603050405020304" pitchFamily="18" charset="0"/>
              </a:rPr>
              <a:t>permet de lister tous les résultats de la table de gauche (</a:t>
            </a:r>
            <a:r>
              <a:rPr lang="fr-FR" sz="2800" dirty="0" err="1">
                <a:latin typeface="Times New Roman" panose="02020603050405020304" pitchFamily="18" charset="0"/>
                <a:cs typeface="Times New Roman" panose="02020603050405020304" pitchFamily="18" charset="0"/>
              </a:rPr>
              <a:t>left</a:t>
            </a:r>
            <a:r>
              <a:rPr lang="fr-FR" sz="2800" dirty="0">
                <a:latin typeface="Times New Roman" panose="02020603050405020304" pitchFamily="18" charset="0"/>
                <a:cs typeface="Times New Roman" panose="02020603050405020304" pitchFamily="18" charset="0"/>
              </a:rPr>
              <a:t> = gauche) même s’il n’y a pas de correspondance dans la deuxième tables</a:t>
            </a:r>
            <a:r>
              <a:rPr lang="fr-FR" sz="2800" dirty="0" smtClean="0">
                <a:latin typeface="Times New Roman" panose="02020603050405020304" pitchFamily="18" charset="0"/>
                <a:cs typeface="Times New Roman" panose="02020603050405020304" pitchFamily="18" charset="0"/>
              </a:rPr>
              <a:t>.</a:t>
            </a:r>
          </a:p>
          <a:p>
            <a:pPr algn="just"/>
            <a:r>
              <a:rPr lang="fr-FR" sz="2800" dirty="0">
                <a:latin typeface="Times New Roman" panose="02020603050405020304" pitchFamily="18" charset="0"/>
                <a:cs typeface="Times New Roman" panose="02020603050405020304" pitchFamily="18" charset="0"/>
              </a:rPr>
              <a:t> la commande </a:t>
            </a:r>
            <a:r>
              <a:rPr lang="fr-FR" sz="2800" b="1" dirty="0">
                <a:latin typeface="Times New Roman" panose="02020603050405020304" pitchFamily="18" charset="0"/>
                <a:cs typeface="Times New Roman" panose="02020603050405020304" pitchFamily="18" charset="0"/>
              </a:rPr>
              <a:t>RIGHT JOIN </a:t>
            </a:r>
            <a:r>
              <a:rPr lang="fr-FR" sz="2800" dirty="0">
                <a:latin typeface="Times New Roman" panose="02020603050405020304" pitchFamily="18" charset="0"/>
                <a:cs typeface="Times New Roman" panose="02020603050405020304" pitchFamily="18" charset="0"/>
              </a:rPr>
              <a:t>(ou RIGHT OUTER JOIN) est un type de jointure entre 2 tables qui permet de retourner tous les enregistrements de la table de droite (right = droite) même s’il n’y a pas de correspondance avec la table de gauche</a:t>
            </a:r>
            <a:r>
              <a:rPr lang="fr-FR" sz="2800" dirty="0" smtClean="0">
                <a:latin typeface="Times New Roman" panose="02020603050405020304" pitchFamily="18" charset="0"/>
                <a:cs typeface="Times New Roman" panose="02020603050405020304" pitchFamily="18" charset="0"/>
              </a:rPr>
              <a:t>. Il y a </a:t>
            </a:r>
            <a:r>
              <a:rPr lang="fr-FR" dirty="0">
                <a:latin typeface="Times New Roman" panose="02020603050405020304" pitchFamily="18" charset="0"/>
                <a:cs typeface="Times New Roman" panose="02020603050405020304" pitchFamily="18" charset="0"/>
              </a:rPr>
              <a:t>la commande </a:t>
            </a:r>
            <a:r>
              <a:rPr lang="fr-FR" b="1" dirty="0">
                <a:latin typeface="Times New Roman" panose="02020603050405020304" pitchFamily="18" charset="0"/>
                <a:cs typeface="Times New Roman" panose="02020603050405020304" pitchFamily="18" charset="0"/>
              </a:rPr>
              <a:t>FULL </a:t>
            </a:r>
            <a:r>
              <a:rPr lang="fr-FR" b="1" dirty="0" smtClean="0">
                <a:latin typeface="Times New Roman" panose="02020603050405020304" pitchFamily="18" charset="0"/>
                <a:cs typeface="Times New Roman" panose="02020603050405020304" pitchFamily="18" charset="0"/>
              </a:rPr>
              <a:t>JOIN</a:t>
            </a:r>
            <a:endParaRPr lang="fr-FR" sz="2800" b="1" dirty="0">
              <a:latin typeface="Times New Roman" panose="02020603050405020304" pitchFamily="18" charset="0"/>
              <a:cs typeface="Times New Roman" panose="02020603050405020304" pitchFamily="18" charset="0"/>
            </a:endParaRPr>
          </a:p>
          <a:p>
            <a:pPr algn="just">
              <a:buNone/>
            </a:pPr>
            <a:r>
              <a:rPr lang="en-US" sz="2800" dirty="0"/>
              <a:t> </a:t>
            </a:r>
            <a:endParaRPr lang="fr-FR" sz="2800" dirty="0"/>
          </a:p>
        </p:txBody>
      </p:sp>
    </p:spTree>
    <p:extLst>
      <p:ext uri="{BB962C8B-B14F-4D97-AF65-F5344CB8AC3E}">
        <p14:creationId xmlns:p14="http://schemas.microsoft.com/office/powerpoint/2010/main" val="33209352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16632"/>
            <a:ext cx="8507288" cy="6009531"/>
          </a:xfrm>
        </p:spPr>
        <p:txBody>
          <a:bodyPr>
            <a:normAutofit fontScale="92500" lnSpcReduction="20000"/>
          </a:bodyPr>
          <a:lstStyle/>
          <a:p>
            <a:pPr>
              <a:buNone/>
            </a:pPr>
            <a:r>
              <a:rPr lang="en-US" b="1" dirty="0" smtClean="0">
                <a:latin typeface="Times New Roman" pitchFamily="18" charset="0"/>
                <a:cs typeface="Times New Roman" pitchFamily="18" charset="0"/>
              </a:rPr>
              <a:t>La clause ORDER BY</a:t>
            </a:r>
          </a:p>
          <a:p>
            <a:pPr>
              <a:buNone/>
            </a:pPr>
            <a:r>
              <a:rPr lang="fr-FR" dirty="0" smtClean="0">
                <a:latin typeface="Times New Roman" pitchFamily="18" charset="0"/>
                <a:cs typeface="Times New Roman" pitchFamily="18" charset="0"/>
              </a:rPr>
              <a:t>La clause ORDER BY permet de trier et ordonner  le </a:t>
            </a:r>
            <a:r>
              <a:rPr lang="fr-FR" dirty="0" err="1" smtClean="0">
                <a:latin typeface="Times New Roman" pitchFamily="18" charset="0"/>
                <a:cs typeface="Times New Roman" pitchFamily="18" charset="0"/>
              </a:rPr>
              <a:t>resultat</a:t>
            </a:r>
            <a:r>
              <a:rPr lang="fr-FR" dirty="0" smtClean="0">
                <a:latin typeface="Times New Roman" pitchFamily="18" charset="0"/>
                <a:cs typeface="Times New Roman" pitchFamily="18" charset="0"/>
              </a:rPr>
              <a:t>. La syntaxe est la suivante :</a:t>
            </a:r>
          </a:p>
          <a:p>
            <a:pPr>
              <a:buNone/>
            </a:pPr>
            <a:r>
              <a:rPr lang="en-US" dirty="0" smtClean="0">
                <a:latin typeface="Times New Roman" pitchFamily="18" charset="0"/>
                <a:cs typeface="Times New Roman" pitchFamily="18" charset="0"/>
              </a:rPr>
              <a:t>ORDER BY expression [ ASC | DESC ] ;</a:t>
            </a:r>
          </a:p>
          <a:p>
            <a:pPr>
              <a:buNone/>
            </a:pPr>
            <a:r>
              <a:rPr lang="fr-FR" dirty="0" smtClean="0">
                <a:latin typeface="Times New Roman" pitchFamily="18" charset="0"/>
                <a:cs typeface="Times New Roman" pitchFamily="18" charset="0"/>
              </a:rPr>
              <a:t>ASC spécifie l'ordre ascendant et DESC l'ordre descendant du tri.</a:t>
            </a:r>
            <a:r>
              <a:rPr lang="ru-RU"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En </a:t>
            </a:r>
            <a:r>
              <a:rPr lang="en-US" dirty="0" err="1" smtClean="0">
                <a:latin typeface="Times New Roman" pitchFamily="18" charset="0"/>
                <a:cs typeface="Times New Roman" pitchFamily="18" charset="0"/>
              </a:rPr>
              <a:t>l'absence</a:t>
            </a:r>
            <a:r>
              <a:rPr lang="en-US" dirty="0" smtClean="0">
                <a:latin typeface="Times New Roman" pitchFamily="18" charset="0"/>
                <a:cs typeface="Times New Roman" pitchFamily="18" charset="0"/>
              </a:rPr>
              <a:t> de</a:t>
            </a:r>
            <a:r>
              <a:rPr lang="ru-RU" dirty="0" smtClean="0">
                <a:latin typeface="Times New Roman" pitchFamily="18" charset="0"/>
                <a:cs typeface="Times New Roman" pitchFamily="18" charset="0"/>
              </a:rPr>
              <a:t> </a:t>
            </a:r>
            <a:r>
              <a:rPr lang="fr-FR" dirty="0" smtClean="0">
                <a:latin typeface="Times New Roman" pitchFamily="18" charset="0"/>
                <a:cs typeface="Times New Roman" pitchFamily="18" charset="0"/>
              </a:rPr>
              <a:t>précision ASC ou DESC, c'est l'ordre ascendant qui est utilise par défaut.</a:t>
            </a:r>
            <a:endParaRPr lang="fr-FR" b="1" dirty="0" smtClean="0">
              <a:latin typeface="Times New Roman" pitchFamily="18" charset="0"/>
              <a:cs typeface="Times New Roman" pitchFamily="18" charset="0"/>
            </a:endParaRPr>
          </a:p>
          <a:p>
            <a:pPr>
              <a:buNone/>
            </a:pPr>
            <a:r>
              <a:rPr lang="fr-FR" b="1" dirty="0" smtClean="0">
                <a:latin typeface="Times New Roman" pitchFamily="18" charset="0"/>
                <a:cs typeface="Times New Roman" pitchFamily="18" charset="0"/>
              </a:rPr>
              <a:t>Exemple: </a:t>
            </a:r>
            <a:r>
              <a:rPr lang="fr-FR" dirty="0" smtClean="0">
                <a:latin typeface="Times New Roman" pitchFamily="18" charset="0"/>
                <a:cs typeface="Times New Roman" pitchFamily="18" charset="0"/>
              </a:rPr>
              <a:t>liste des clients (</a:t>
            </a:r>
            <a:r>
              <a:rPr lang="ru-RU"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nom, </a:t>
            </a:r>
            <a:r>
              <a:rPr lang="en-US" dirty="0" err="1" smtClean="0">
                <a:latin typeface="Times New Roman" pitchFamily="18" charset="0"/>
                <a:cs typeface="Times New Roman" pitchFamily="18" charset="0"/>
              </a:rPr>
              <a:t>prenom</a:t>
            </a:r>
            <a:r>
              <a:rPr lang="en-US" dirty="0" smtClean="0">
                <a:latin typeface="Times New Roman" pitchFamily="18" charset="0"/>
                <a:cs typeface="Times New Roman" pitchFamily="18" charset="0"/>
              </a:rPr>
              <a:t>, date de creation</a:t>
            </a:r>
            <a:r>
              <a:rPr lang="fr-FR" dirty="0" smtClean="0">
                <a:latin typeface="Times New Roman" pitchFamily="18" charset="0"/>
                <a:cs typeface="Times New Roman" pitchFamily="18" charset="0"/>
              </a:rPr>
              <a:t>) par ancienneté: </a:t>
            </a:r>
          </a:p>
          <a:p>
            <a:pPr>
              <a:buNone/>
            </a:pPr>
            <a:r>
              <a:rPr lang="fr-FR" dirty="0" smtClean="0">
                <a:latin typeface="Times New Roman" pitchFamily="18" charset="0"/>
                <a:cs typeface="Times New Roman" pitchFamily="18" charset="0"/>
              </a:rPr>
              <a:t>SELECT </a:t>
            </a:r>
            <a:r>
              <a:rPr lang="ru-RU"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nom,prenom,date_creation</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FROM Client</a:t>
            </a:r>
          </a:p>
          <a:p>
            <a:pPr>
              <a:buNone/>
            </a:pPr>
            <a:r>
              <a:rPr lang="en-US" dirty="0" smtClean="0">
                <a:latin typeface="Times New Roman" pitchFamily="18" charset="0"/>
                <a:cs typeface="Times New Roman" pitchFamily="18" charset="0"/>
              </a:rPr>
              <a:t>ORDER BY </a:t>
            </a:r>
            <a:r>
              <a:rPr lang="en-US" dirty="0" err="1" smtClean="0">
                <a:latin typeface="Times New Roman" pitchFamily="18" charset="0"/>
                <a:cs typeface="Times New Roman" pitchFamily="18" charset="0"/>
              </a:rPr>
              <a:t>date_creation</a:t>
            </a:r>
            <a:r>
              <a:rPr lang="en-US" dirty="0" smtClean="0">
                <a:latin typeface="Times New Roman" pitchFamily="18" charset="0"/>
                <a:cs typeface="Times New Roman" pitchFamily="18" charset="0"/>
              </a:rPr>
              <a:t> ASC;</a:t>
            </a:r>
            <a:endParaRPr lang="fr-FR" dirty="0" smtClean="0">
              <a:latin typeface="Times New Roman" pitchFamily="18" charset="0"/>
              <a:cs typeface="Times New Roman" pitchFamily="18" charset="0"/>
            </a:endParaRPr>
          </a:p>
          <a:p>
            <a:pPr>
              <a:buNone/>
            </a:pPr>
            <a:endParaRPr lang="ru-RU"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3768" y="0"/>
            <a:ext cx="5940152" cy="778098"/>
          </a:xfrm>
        </p:spPr>
        <p:txBody>
          <a:bodyPr>
            <a:normAutofit fontScale="90000"/>
          </a:bodyPr>
          <a:lstStyle/>
          <a:p>
            <a:r>
              <a:rPr lang="fr-FR" sz="3600" b="1" dirty="0" smtClean="0">
                <a:latin typeface="Times New Roman" panose="02020603050405020304" pitchFamily="18" charset="0"/>
                <a:cs typeface="Times New Roman" panose="02020603050405020304" pitchFamily="18" charset="0"/>
              </a:rPr>
              <a:t/>
            </a:r>
            <a:br>
              <a:rPr lang="fr-FR" sz="3600" b="1" dirty="0" smtClean="0">
                <a:latin typeface="Times New Roman" panose="02020603050405020304" pitchFamily="18" charset="0"/>
                <a:cs typeface="Times New Roman" panose="02020603050405020304" pitchFamily="18" charset="0"/>
              </a:rPr>
            </a:br>
            <a:r>
              <a:rPr lang="fr-FR" sz="3600" b="1" dirty="0" smtClean="0">
                <a:latin typeface="Times New Roman" panose="02020603050405020304" pitchFamily="18" charset="0"/>
                <a:cs typeface="Times New Roman" panose="02020603050405020304" pitchFamily="18" charset="0"/>
              </a:rPr>
              <a:t> 0.3 </a:t>
            </a:r>
            <a:r>
              <a:rPr lang="fr-FR" b="1" dirty="0" smtClean="0">
                <a:latin typeface="Times New Roman" panose="02020603050405020304" pitchFamily="18" charset="0"/>
                <a:cs typeface="Times New Roman" panose="02020603050405020304" pitchFamily="18" charset="0"/>
              </a:rPr>
              <a:t>Les transactions</a:t>
            </a:r>
            <a:r>
              <a:rPr lang="fr-FR" b="1" dirty="0">
                <a:latin typeface="Times New Roman" panose="02020603050405020304" pitchFamily="18" charset="0"/>
                <a:cs typeface="Times New Roman" panose="02020603050405020304" pitchFamily="18" charset="0"/>
              </a:rPr>
              <a:t/>
            </a:r>
            <a:br>
              <a:rPr lang="fr-FR" b="1" dirty="0">
                <a:latin typeface="Times New Roman" panose="02020603050405020304" pitchFamily="18" charset="0"/>
                <a:cs typeface="Times New Roman" panose="02020603050405020304" pitchFamily="18" charset="0"/>
              </a:rPr>
            </a:br>
            <a:endParaRPr lang="fr-FR"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692696"/>
            <a:ext cx="9144000" cy="6165304"/>
          </a:xfrm>
        </p:spPr>
        <p:txBody>
          <a:bodyPr>
            <a:normAutofit fontScale="92500" lnSpcReduction="10000"/>
          </a:bodyPr>
          <a:lstStyle/>
          <a:p>
            <a:pPr marL="0" indent="457200" algn="just">
              <a:buNone/>
            </a:pPr>
            <a:r>
              <a:rPr lang="fr-FR" sz="2800" b="1" dirty="0" smtClean="0">
                <a:latin typeface="Times New Roman" panose="02020603050405020304" pitchFamily="18" charset="0"/>
                <a:cs typeface="Times New Roman" panose="02020603050405020304" pitchFamily="18" charset="0"/>
              </a:rPr>
              <a:t> les transactions</a:t>
            </a:r>
          </a:p>
          <a:p>
            <a:pPr marL="0" indent="457200" algn="just">
              <a:buNone/>
            </a:pPr>
            <a:r>
              <a:rPr lang="fr-FR" dirty="0" smtClean="0">
                <a:latin typeface="Times New Roman" panose="02020603050405020304" pitchFamily="18" charset="0"/>
                <a:cs typeface="Times New Roman" panose="02020603050405020304" pitchFamily="18" charset="0"/>
              </a:rPr>
              <a:t>Une </a:t>
            </a:r>
            <a:r>
              <a:rPr lang="fr-FR" dirty="0">
                <a:latin typeface="Times New Roman" panose="02020603050405020304" pitchFamily="18" charset="0"/>
                <a:cs typeface="Times New Roman" panose="02020603050405020304" pitchFamily="18" charset="0"/>
              </a:rPr>
              <a:t>transaction, c’est un ensemble de requêtes qui sont exécutées en un seul bloc. Ainsi, si une des requêtes du bloc échoue, </a:t>
            </a:r>
            <a:r>
              <a:rPr lang="fr-FR" dirty="0" smtClean="0">
                <a:latin typeface="Times New Roman" panose="02020603050405020304" pitchFamily="18" charset="0"/>
                <a:cs typeface="Times New Roman" panose="02020603050405020304" pitchFamily="18" charset="0"/>
              </a:rPr>
              <a:t>le </a:t>
            </a:r>
            <a:r>
              <a:rPr lang="fr-FR" dirty="0">
                <a:latin typeface="Times New Roman" panose="02020603050405020304" pitchFamily="18" charset="0"/>
                <a:cs typeface="Times New Roman" panose="02020603050405020304" pitchFamily="18" charset="0"/>
              </a:rPr>
              <a:t>bloc de </a:t>
            </a:r>
            <a:r>
              <a:rPr lang="fr-FR" dirty="0" smtClean="0">
                <a:latin typeface="Times New Roman" panose="02020603050405020304" pitchFamily="18" charset="0"/>
                <a:cs typeface="Times New Roman" panose="02020603050405020304" pitchFamily="18" charset="0"/>
              </a:rPr>
              <a:t>requêtes échoue.</a:t>
            </a:r>
          </a:p>
          <a:p>
            <a:pPr marL="0" indent="457200" algn="just">
              <a:buNone/>
            </a:pPr>
            <a:r>
              <a:rPr lang="fr-FR" dirty="0" smtClean="0">
                <a:latin typeface="Times New Roman" panose="02020603050405020304" pitchFamily="18" charset="0"/>
                <a:cs typeface="Times New Roman" panose="02020603050405020304" pitchFamily="18" charset="0"/>
              </a:rPr>
              <a:t>Exemple </a:t>
            </a:r>
            <a:r>
              <a:rPr lang="fr-FR" dirty="0">
                <a:latin typeface="Times New Roman" panose="02020603050405020304" pitchFamily="18" charset="0"/>
                <a:cs typeface="Times New Roman" panose="02020603050405020304" pitchFamily="18" charset="0"/>
              </a:rPr>
              <a:t>de débit et crédit des comptes des clients de la banque.</a:t>
            </a:r>
          </a:p>
          <a:p>
            <a:pPr marL="0" indent="45720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Sans transactions, certaines opérations risqueraient d’être à moitié réalisées, et la moindre erreur, la moindre interruption pourrait avoir des conséquences énormes. En effet, les transactions permettent de regrouper des requêtes dans des blocs, et de faire en sorte que tout le bloc soit exécuté en une seule fois, cela afin de préserver l’intégrité des données de la base.</a:t>
            </a:r>
          </a:p>
          <a:p>
            <a:pPr marL="0" indent="0">
              <a:buNone/>
            </a:pPr>
            <a:endParaRPr lang="fr-FR" dirty="0"/>
          </a:p>
        </p:txBody>
      </p:sp>
    </p:spTree>
    <p:extLst>
      <p:ext uri="{BB962C8B-B14F-4D97-AF65-F5344CB8AC3E}">
        <p14:creationId xmlns:p14="http://schemas.microsoft.com/office/powerpoint/2010/main" val="6136101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580926"/>
          </a:xfrm>
        </p:spPr>
        <p:txBody>
          <a:bodyPr>
            <a:normAutofit/>
          </a:bodyPr>
          <a:lstStyle/>
          <a:p>
            <a:pPr lvl="0"/>
            <a:r>
              <a:rPr lang="fr-FR" sz="3200" b="1" dirty="0">
                <a:latin typeface="Times New Roman" panose="02020603050405020304" pitchFamily="18" charset="0"/>
                <a:cs typeface="Times New Roman" panose="02020603050405020304" pitchFamily="18" charset="0"/>
              </a:rPr>
              <a:t>Déroulement d’une </a:t>
            </a:r>
            <a:r>
              <a:rPr lang="fr-FR" sz="3200" b="1" dirty="0" smtClean="0">
                <a:latin typeface="Times New Roman" panose="02020603050405020304" pitchFamily="18" charset="0"/>
                <a:cs typeface="Times New Roman" panose="02020603050405020304" pitchFamily="18" charset="0"/>
              </a:rPr>
              <a:t>transaction</a:t>
            </a:r>
            <a:endParaRPr lang="fr-FR" sz="3200" dirty="0">
              <a:latin typeface="Times New Roman" panose="02020603050405020304" pitchFamily="18" charset="0"/>
              <a:cs typeface="Times New Roman" panose="02020603050405020304" pitchFamily="18" charset="0"/>
            </a:endParaRPr>
          </a:p>
        </p:txBody>
      </p:sp>
      <p:pic>
        <p:nvPicPr>
          <p:cNvPr id="4" name="Espace réservé du contenu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712" y="670949"/>
            <a:ext cx="5184576" cy="6160442"/>
          </a:xfrm>
          <a:prstGeom prst="rect">
            <a:avLst/>
          </a:prstGeom>
          <a:noFill/>
          <a:ln>
            <a:noFill/>
          </a:ln>
        </p:spPr>
      </p:pic>
    </p:spTree>
    <p:extLst>
      <p:ext uri="{BB962C8B-B14F-4D97-AF65-F5344CB8AC3E}">
        <p14:creationId xmlns:p14="http://schemas.microsoft.com/office/powerpoint/2010/main" val="19538783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188640"/>
            <a:ext cx="6491064" cy="490066"/>
          </a:xfrm>
        </p:spPr>
        <p:txBody>
          <a:bodyPr>
            <a:normAutofit fontScale="90000"/>
          </a:bodyPr>
          <a:lstStyle/>
          <a:p>
            <a:pPr lvl="0"/>
            <a:r>
              <a:rPr lang="fr-FR" b="1" dirty="0" smtClean="0"/>
              <a:t/>
            </a:r>
            <a:br>
              <a:rPr lang="fr-FR" b="1" dirty="0" smtClean="0"/>
            </a:br>
            <a:r>
              <a:rPr lang="fr-FR" sz="4000" b="1" dirty="0" smtClean="0">
                <a:latin typeface="Times New Roman" panose="02020603050405020304" pitchFamily="18" charset="0"/>
                <a:cs typeface="Times New Roman" panose="02020603050405020304" pitchFamily="18" charset="0"/>
              </a:rPr>
              <a:t>Syntaxe </a:t>
            </a:r>
            <a:r>
              <a:rPr lang="fr-FR" sz="4000" b="1" dirty="0">
                <a:latin typeface="Times New Roman" panose="02020603050405020304" pitchFamily="18" charset="0"/>
                <a:cs typeface="Times New Roman" panose="02020603050405020304" pitchFamily="18" charset="0"/>
              </a:rPr>
              <a:t>et utilisation</a:t>
            </a:r>
            <a:r>
              <a:rPr lang="fr-FR" b="1" dirty="0"/>
              <a:t/>
            </a:r>
            <a:br>
              <a:rPr lang="fr-FR" b="1" dirty="0"/>
            </a:br>
            <a:endParaRPr lang="fr-FR" dirty="0"/>
          </a:p>
        </p:txBody>
      </p:sp>
      <p:sp>
        <p:nvSpPr>
          <p:cNvPr id="3" name="Espace réservé du contenu 2"/>
          <p:cNvSpPr>
            <a:spLocks noGrp="1"/>
          </p:cNvSpPr>
          <p:nvPr>
            <p:ph idx="1"/>
          </p:nvPr>
        </p:nvSpPr>
        <p:spPr>
          <a:xfrm>
            <a:off x="107504" y="678706"/>
            <a:ext cx="9036496" cy="5447457"/>
          </a:xfrm>
        </p:spPr>
        <p:txBody>
          <a:bodyPr>
            <a:normAutofit fontScale="92500"/>
          </a:bodyPr>
          <a:lstStyle/>
          <a:p>
            <a:pPr marL="0" indent="457200" algn="just">
              <a:spcBef>
                <a:spcPts val="0"/>
              </a:spcBef>
              <a:buNone/>
            </a:pPr>
            <a:r>
              <a:rPr lang="fr-FR" sz="3600" dirty="0" smtClean="0">
                <a:latin typeface="Times New Roman" panose="02020603050405020304" pitchFamily="18" charset="0"/>
                <a:cs typeface="Times New Roman" panose="02020603050405020304" pitchFamily="18" charset="0"/>
              </a:rPr>
              <a:t>Quand on valide les </a:t>
            </a:r>
            <a:r>
              <a:rPr lang="fr-FR" sz="3600" dirty="0">
                <a:latin typeface="Times New Roman" panose="02020603050405020304" pitchFamily="18" charset="0"/>
                <a:cs typeface="Times New Roman" panose="02020603050405020304" pitchFamily="18" charset="0"/>
              </a:rPr>
              <a:t>requêtes d’une </a:t>
            </a:r>
            <a:r>
              <a:rPr lang="fr-FR" sz="3600" dirty="0" smtClean="0">
                <a:latin typeface="Times New Roman" panose="02020603050405020304" pitchFamily="18" charset="0"/>
                <a:cs typeface="Times New Roman" panose="02020603050405020304" pitchFamily="18" charset="0"/>
              </a:rPr>
              <a:t>transaction, </a:t>
            </a:r>
            <a:r>
              <a:rPr lang="fr-FR" sz="3600" dirty="0">
                <a:latin typeface="Times New Roman" panose="02020603050405020304" pitchFamily="18" charset="0"/>
                <a:cs typeface="Times New Roman" panose="02020603050405020304" pitchFamily="18" charset="0"/>
              </a:rPr>
              <a:t>on dit aussi que l’on </a:t>
            </a:r>
            <a:r>
              <a:rPr lang="fr-FR" sz="3600" b="1" dirty="0" err="1">
                <a:latin typeface="Times New Roman" panose="02020603050405020304" pitchFamily="18" charset="0"/>
                <a:cs typeface="Times New Roman" panose="02020603050405020304" pitchFamily="18" charset="0"/>
              </a:rPr>
              <a:t>commite</a:t>
            </a:r>
            <a:r>
              <a:rPr lang="fr-FR" sz="3600" dirty="0">
                <a:latin typeface="Times New Roman" panose="02020603050405020304" pitchFamily="18" charset="0"/>
                <a:cs typeface="Times New Roman" panose="02020603050405020304" pitchFamily="18" charset="0"/>
              </a:rPr>
              <a:t> les changements. À </a:t>
            </a:r>
            <a:r>
              <a:rPr lang="fr-FR" sz="3600" dirty="0" smtClean="0">
                <a:latin typeface="Times New Roman" panose="02020603050405020304" pitchFamily="18" charset="0"/>
                <a:cs typeface="Times New Roman" panose="02020603050405020304" pitchFamily="18" charset="0"/>
              </a:rPr>
              <a:t>l’inverse(l’annulation </a:t>
            </a:r>
            <a:r>
              <a:rPr lang="fr-FR" sz="3600" dirty="0">
                <a:latin typeface="Times New Roman" panose="02020603050405020304" pitchFamily="18" charset="0"/>
                <a:cs typeface="Times New Roman" panose="02020603050405020304" pitchFamily="18" charset="0"/>
              </a:rPr>
              <a:t>des </a:t>
            </a:r>
            <a:r>
              <a:rPr lang="fr-FR" sz="3600" dirty="0" smtClean="0">
                <a:latin typeface="Times New Roman" panose="02020603050405020304" pitchFamily="18" charset="0"/>
                <a:cs typeface="Times New Roman" panose="02020603050405020304" pitchFamily="18" charset="0"/>
              </a:rPr>
              <a:t>requêtes) </a:t>
            </a:r>
            <a:r>
              <a:rPr lang="fr-FR" sz="3600" dirty="0">
                <a:latin typeface="Times New Roman" panose="02020603050405020304" pitchFamily="18" charset="0"/>
                <a:cs typeface="Times New Roman" panose="02020603050405020304" pitchFamily="18" charset="0"/>
              </a:rPr>
              <a:t>s’appelle un</a:t>
            </a:r>
            <a:r>
              <a:rPr lang="fr-FR" sz="3600" b="1" dirty="0">
                <a:latin typeface="Times New Roman" panose="02020603050405020304" pitchFamily="18" charset="0"/>
                <a:cs typeface="Times New Roman" panose="02020603050405020304" pitchFamily="18" charset="0"/>
              </a:rPr>
              <a:t> </a:t>
            </a:r>
            <a:r>
              <a:rPr lang="fr-FR" sz="3600" b="1" dirty="0" err="1">
                <a:latin typeface="Times New Roman" panose="02020603050405020304" pitchFamily="18" charset="0"/>
                <a:cs typeface="Times New Roman" panose="02020603050405020304" pitchFamily="18" charset="0"/>
              </a:rPr>
              <a:t>rollback</a:t>
            </a:r>
            <a:r>
              <a:rPr lang="fr-FR" sz="3600" dirty="0" smtClean="0">
                <a:latin typeface="Times New Roman" panose="02020603050405020304" pitchFamily="18" charset="0"/>
                <a:cs typeface="Times New Roman" panose="02020603050405020304" pitchFamily="18" charset="0"/>
              </a:rPr>
              <a:t>.</a:t>
            </a:r>
          </a:p>
          <a:p>
            <a:pPr marL="0" indent="457200" algn="just">
              <a:spcBef>
                <a:spcPts val="0"/>
              </a:spcBef>
              <a:buNone/>
            </a:pPr>
            <a:r>
              <a:rPr lang="fr-FR" sz="3600" dirty="0">
                <a:latin typeface="Times New Roman" panose="02020603050405020304" pitchFamily="18" charset="0"/>
                <a:cs typeface="Times New Roman" panose="02020603050405020304" pitchFamily="18" charset="0"/>
              </a:rPr>
              <a:t>Chaque requête effectuée dans MySQL est directement </a:t>
            </a:r>
            <a:r>
              <a:rPr lang="fr-FR" sz="3600" dirty="0" err="1">
                <a:latin typeface="Times New Roman" panose="02020603050405020304" pitchFamily="18" charset="0"/>
                <a:cs typeface="Times New Roman" panose="02020603050405020304" pitchFamily="18" charset="0"/>
              </a:rPr>
              <a:t>commitée</a:t>
            </a:r>
            <a:r>
              <a:rPr lang="fr-FR" sz="3600" dirty="0">
                <a:latin typeface="Times New Roman" panose="02020603050405020304" pitchFamily="18" charset="0"/>
                <a:cs typeface="Times New Roman" panose="02020603050405020304" pitchFamily="18" charset="0"/>
              </a:rPr>
              <a:t> (validée). Elle est automatiquement </a:t>
            </a:r>
            <a:r>
              <a:rPr lang="fr-FR" sz="3600" dirty="0" err="1">
                <a:latin typeface="Times New Roman" panose="02020603050405020304" pitchFamily="18" charset="0"/>
                <a:cs typeface="Times New Roman" panose="02020603050405020304" pitchFamily="18" charset="0"/>
              </a:rPr>
              <a:t>commitée</a:t>
            </a:r>
            <a:r>
              <a:rPr lang="fr-FR" sz="3600" dirty="0">
                <a:latin typeface="Times New Roman" panose="02020603050405020304" pitchFamily="18" charset="0"/>
                <a:cs typeface="Times New Roman" panose="02020603050405020304" pitchFamily="18" charset="0"/>
              </a:rPr>
              <a:t>. C’est donc en mode “</a:t>
            </a:r>
            <a:r>
              <a:rPr lang="fr-FR" sz="3600" dirty="0" err="1">
                <a:latin typeface="Times New Roman" panose="02020603050405020304" pitchFamily="18" charset="0"/>
                <a:cs typeface="Times New Roman" panose="02020603050405020304" pitchFamily="18" charset="0"/>
              </a:rPr>
              <a:t>autocommit</a:t>
            </a:r>
            <a:r>
              <a:rPr lang="fr-FR" sz="3600" dirty="0">
                <a:latin typeface="Times New Roman" panose="02020603050405020304" pitchFamily="18" charset="0"/>
                <a:cs typeface="Times New Roman" panose="02020603050405020304" pitchFamily="18" charset="0"/>
              </a:rPr>
              <a:t>”.</a:t>
            </a:r>
          </a:p>
          <a:p>
            <a:pPr marL="0" indent="0">
              <a:buNone/>
            </a:pPr>
            <a:r>
              <a:rPr lang="fr-FR" sz="3600" dirty="0">
                <a:latin typeface="Times New Roman" panose="02020603050405020304" pitchFamily="18" charset="0"/>
                <a:cs typeface="Times New Roman" panose="02020603050405020304" pitchFamily="18" charset="0"/>
              </a:rPr>
              <a:t>Pour quitter ce mode, il faut </a:t>
            </a:r>
            <a:r>
              <a:rPr lang="fr-FR" sz="3600" dirty="0" err="1">
                <a:latin typeface="Times New Roman" panose="02020603050405020304" pitchFamily="18" charset="0"/>
                <a:cs typeface="Times New Roman" panose="02020603050405020304" pitchFamily="18" charset="0"/>
              </a:rPr>
              <a:t>deactiver</a:t>
            </a:r>
            <a:r>
              <a:rPr lang="fr-FR" sz="3600" dirty="0">
                <a:latin typeface="Times New Roman" panose="02020603050405020304" pitchFamily="18" charset="0"/>
                <a:cs typeface="Times New Roman" panose="02020603050405020304" pitchFamily="18" charset="0"/>
              </a:rPr>
              <a:t> l’</a:t>
            </a:r>
            <a:r>
              <a:rPr lang="fr-FR" sz="3600" dirty="0" err="1">
                <a:latin typeface="Times New Roman" panose="02020603050405020304" pitchFamily="18" charset="0"/>
                <a:cs typeface="Times New Roman" panose="02020603050405020304" pitchFamily="18" charset="0"/>
              </a:rPr>
              <a:t>autocommit</a:t>
            </a:r>
            <a:r>
              <a:rPr lang="fr-FR" sz="3600" dirty="0">
                <a:latin typeface="Times New Roman" panose="02020603050405020304" pitchFamily="18" charset="0"/>
                <a:cs typeface="Times New Roman" panose="02020603050405020304" pitchFamily="18" charset="0"/>
              </a:rPr>
              <a:t>, selon la requête suivante : SET </a:t>
            </a:r>
            <a:r>
              <a:rPr lang="fr-FR" sz="3600" dirty="0" err="1">
                <a:latin typeface="Times New Roman" panose="02020603050405020304" pitchFamily="18" charset="0"/>
                <a:cs typeface="Times New Roman" panose="02020603050405020304" pitchFamily="18" charset="0"/>
              </a:rPr>
              <a:t>autocommit</a:t>
            </a:r>
            <a:r>
              <a:rPr lang="fr-FR" sz="3600" dirty="0">
                <a:latin typeface="Times New Roman" panose="02020603050405020304" pitchFamily="18" charset="0"/>
                <a:cs typeface="Times New Roman" panose="02020603050405020304" pitchFamily="18" charset="0"/>
              </a:rPr>
              <a:t>=0 ;</a:t>
            </a:r>
          </a:p>
          <a:p>
            <a:pPr marL="0" indent="0">
              <a:buNone/>
            </a:pPr>
            <a:endParaRPr lang="fr-FR" dirty="0" smtClean="0"/>
          </a:p>
          <a:p>
            <a:pPr marL="0" indent="0">
              <a:buNone/>
            </a:pPr>
            <a:endParaRPr lang="fr-FR" dirty="0"/>
          </a:p>
        </p:txBody>
      </p:sp>
    </p:spTree>
    <p:extLst>
      <p:ext uri="{BB962C8B-B14F-4D97-AF65-F5344CB8AC3E}">
        <p14:creationId xmlns:p14="http://schemas.microsoft.com/office/powerpoint/2010/main" val="703396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0"/>
            <a:ext cx="8229600" cy="764704"/>
          </a:xfrm>
        </p:spPr>
        <p:txBody>
          <a:bodyPr>
            <a:normAutofit/>
          </a:bodyPr>
          <a:lstStyle/>
          <a:p>
            <a:r>
              <a:rPr lang="fr-FR" sz="3600" b="1" dirty="0">
                <a:latin typeface="Times New Roman" panose="02020603050405020304" pitchFamily="18" charset="0"/>
                <a:cs typeface="Times New Roman" panose="02020603050405020304" pitchFamily="18" charset="0"/>
              </a:rPr>
              <a:t>Exemple 1 : </a:t>
            </a:r>
            <a:r>
              <a:rPr lang="fr-FR" sz="3600" b="1" dirty="0" smtClean="0">
                <a:latin typeface="Times New Roman" panose="02020603050405020304" pitchFamily="18" charset="0"/>
                <a:cs typeface="Times New Roman" panose="02020603050405020304" pitchFamily="18" charset="0"/>
              </a:rPr>
              <a:t>Validation  </a:t>
            </a:r>
            <a:r>
              <a:rPr lang="fr-FR" sz="3600" b="1" dirty="0">
                <a:latin typeface="Times New Roman" panose="02020603050405020304" pitchFamily="18" charset="0"/>
                <a:cs typeface="Times New Roman" panose="02020603050405020304" pitchFamily="18" charset="0"/>
              </a:rPr>
              <a:t>des </a:t>
            </a:r>
            <a:r>
              <a:rPr lang="fr-FR" sz="3600" b="1" dirty="0" smtClean="0">
                <a:latin typeface="Times New Roman" panose="02020603050405020304" pitchFamily="18" charset="0"/>
                <a:cs typeface="Times New Roman" panose="02020603050405020304" pitchFamily="18" charset="0"/>
              </a:rPr>
              <a:t>requêtes</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36512" y="548680"/>
            <a:ext cx="9252520" cy="6309320"/>
          </a:xfrm>
        </p:spPr>
        <p:txBody>
          <a:bodyPr>
            <a:noAutofit/>
          </a:bodyPr>
          <a:lstStyle/>
          <a:p>
            <a:pPr marL="0" indent="0" algn="just">
              <a:buNone/>
            </a:pPr>
            <a:r>
              <a:rPr lang="fr-FR" sz="2700" dirty="0">
                <a:latin typeface="Times New Roman" panose="02020603050405020304" pitchFamily="18" charset="0"/>
                <a:cs typeface="Times New Roman" panose="02020603050405020304" pitchFamily="18" charset="0"/>
              </a:rPr>
              <a:t>INSERT INTO Animal (nom, espece_id, </a:t>
            </a:r>
            <a:r>
              <a:rPr lang="fr-FR" sz="2700" dirty="0" err="1">
                <a:latin typeface="Times New Roman" panose="02020603050405020304" pitchFamily="18" charset="0"/>
                <a:cs typeface="Times New Roman" panose="02020603050405020304" pitchFamily="18" charset="0"/>
              </a:rPr>
              <a:t>date_naissance</a:t>
            </a:r>
            <a:r>
              <a:rPr lang="fr-FR" sz="2700" dirty="0">
                <a:latin typeface="Times New Roman" panose="02020603050405020304" pitchFamily="18" charset="0"/>
                <a:cs typeface="Times New Roman" panose="02020603050405020304" pitchFamily="18" charset="0"/>
              </a:rPr>
              <a:t>, sexe)</a:t>
            </a:r>
          </a:p>
          <a:p>
            <a:pPr marL="0" indent="0" algn="just">
              <a:buNone/>
            </a:pPr>
            <a:r>
              <a:rPr lang="en-US" sz="2700" dirty="0">
                <a:latin typeface="Times New Roman" panose="02020603050405020304" pitchFamily="18" charset="0"/>
                <a:cs typeface="Times New Roman" panose="02020603050405020304" pitchFamily="18" charset="0"/>
              </a:rPr>
              <a:t>VALUES ('Baba', 5, '2012-02-13 15:45:00', 'F');</a:t>
            </a:r>
            <a:endParaRPr lang="fr-FR" sz="2700" dirty="0">
              <a:latin typeface="Times New Roman" panose="02020603050405020304" pitchFamily="18" charset="0"/>
              <a:cs typeface="Times New Roman" panose="02020603050405020304" pitchFamily="18" charset="0"/>
            </a:endParaRPr>
          </a:p>
          <a:p>
            <a:pPr marL="0" indent="0" algn="just">
              <a:buNone/>
            </a:pPr>
            <a:r>
              <a:rPr lang="fr-FR" sz="2700" dirty="0">
                <a:latin typeface="Times New Roman" panose="02020603050405020304" pitchFamily="18" charset="0"/>
                <a:cs typeface="Times New Roman" panose="02020603050405020304" pitchFamily="18" charset="0"/>
              </a:rPr>
              <a:t>INSERT INTO Animal (nom, espece_id, </a:t>
            </a:r>
            <a:r>
              <a:rPr lang="fr-FR" sz="2700" dirty="0" err="1">
                <a:latin typeface="Times New Roman" panose="02020603050405020304" pitchFamily="18" charset="0"/>
                <a:cs typeface="Times New Roman" panose="02020603050405020304" pitchFamily="18" charset="0"/>
              </a:rPr>
              <a:t>date_naissance</a:t>
            </a:r>
            <a:r>
              <a:rPr lang="fr-FR" sz="2700" dirty="0">
                <a:latin typeface="Times New Roman" panose="02020603050405020304" pitchFamily="18" charset="0"/>
                <a:cs typeface="Times New Roman" panose="02020603050405020304" pitchFamily="18" charset="0"/>
              </a:rPr>
              <a:t>, sexe)</a:t>
            </a:r>
          </a:p>
          <a:p>
            <a:pPr marL="0" indent="0" algn="just">
              <a:buNone/>
            </a:pPr>
            <a:r>
              <a:rPr lang="fr-FR" sz="2700" dirty="0">
                <a:latin typeface="Times New Roman" panose="02020603050405020304" pitchFamily="18" charset="0"/>
                <a:cs typeface="Times New Roman" panose="02020603050405020304" pitchFamily="18" charset="0"/>
              </a:rPr>
              <a:t>VALUES ('</a:t>
            </a:r>
            <a:r>
              <a:rPr lang="fr-FR" sz="2700" dirty="0" err="1">
                <a:latin typeface="Times New Roman" panose="02020603050405020304" pitchFamily="18" charset="0"/>
                <a:cs typeface="Times New Roman" panose="02020603050405020304" pitchFamily="18" charset="0"/>
              </a:rPr>
              <a:t>Bibo</a:t>
            </a:r>
            <a:r>
              <a:rPr lang="fr-FR" sz="2700" dirty="0">
                <a:latin typeface="Times New Roman" panose="02020603050405020304" pitchFamily="18" charset="0"/>
                <a:cs typeface="Times New Roman" panose="02020603050405020304" pitchFamily="18" charset="0"/>
              </a:rPr>
              <a:t>', 5, '2012-02-13 15:48:00', 'M');</a:t>
            </a:r>
          </a:p>
          <a:p>
            <a:pPr marL="0" indent="0" algn="just">
              <a:buNone/>
            </a:pPr>
            <a:r>
              <a:rPr lang="fr-FR" sz="2700" dirty="0">
                <a:latin typeface="Times New Roman" panose="02020603050405020304" pitchFamily="18" charset="0"/>
                <a:cs typeface="Times New Roman" panose="02020603050405020304" pitchFamily="18" charset="0"/>
              </a:rPr>
              <a:t>INSERT INTO Animal (nom, espece_id, </a:t>
            </a:r>
            <a:r>
              <a:rPr lang="fr-FR" sz="2700" dirty="0" err="1">
                <a:latin typeface="Times New Roman" panose="02020603050405020304" pitchFamily="18" charset="0"/>
                <a:cs typeface="Times New Roman" panose="02020603050405020304" pitchFamily="18" charset="0"/>
              </a:rPr>
              <a:t>date_naissance</a:t>
            </a:r>
            <a:r>
              <a:rPr lang="fr-FR" sz="2700" dirty="0">
                <a:latin typeface="Times New Roman" panose="02020603050405020304" pitchFamily="18" charset="0"/>
                <a:cs typeface="Times New Roman" panose="02020603050405020304" pitchFamily="18" charset="0"/>
              </a:rPr>
              <a:t>, sexe)</a:t>
            </a:r>
          </a:p>
          <a:p>
            <a:pPr marL="0" indent="0" algn="just">
              <a:buNone/>
            </a:pPr>
            <a:r>
              <a:rPr lang="fr-FR" sz="2700" dirty="0">
                <a:latin typeface="Times New Roman" panose="02020603050405020304" pitchFamily="18" charset="0"/>
                <a:cs typeface="Times New Roman" panose="02020603050405020304" pitchFamily="18" charset="0"/>
              </a:rPr>
              <a:t>VALUES ('</a:t>
            </a:r>
            <a:r>
              <a:rPr lang="fr-FR" sz="2700" dirty="0" err="1">
                <a:latin typeface="Times New Roman" panose="02020603050405020304" pitchFamily="18" charset="0"/>
                <a:cs typeface="Times New Roman" panose="02020603050405020304" pitchFamily="18" charset="0"/>
              </a:rPr>
              <a:t>Buba</a:t>
            </a:r>
            <a:r>
              <a:rPr lang="fr-FR" sz="2700" dirty="0">
                <a:latin typeface="Times New Roman" panose="02020603050405020304" pitchFamily="18" charset="0"/>
                <a:cs typeface="Times New Roman" panose="02020603050405020304" pitchFamily="18" charset="0"/>
              </a:rPr>
              <a:t>', 5, '2012-02-13 18:32:00', 'F'); </a:t>
            </a:r>
            <a:endParaRPr lang="fr-FR" sz="2700" dirty="0" smtClean="0">
              <a:latin typeface="Times New Roman" panose="02020603050405020304" pitchFamily="18" charset="0"/>
              <a:cs typeface="Times New Roman" panose="02020603050405020304" pitchFamily="18" charset="0"/>
            </a:endParaRPr>
          </a:p>
          <a:p>
            <a:pPr marL="0" indent="0" algn="just">
              <a:buNone/>
            </a:pPr>
            <a:r>
              <a:rPr lang="fr-FR" sz="2700" dirty="0" smtClean="0">
                <a:latin typeface="Times New Roman" panose="02020603050405020304" pitchFamily="18" charset="0"/>
                <a:cs typeface="Times New Roman" panose="02020603050405020304" pitchFamily="18" charset="0"/>
              </a:rPr>
              <a:t>-- </a:t>
            </a:r>
            <a:r>
              <a:rPr lang="fr-FR" sz="2700" dirty="0">
                <a:latin typeface="Times New Roman" panose="02020603050405020304" pitchFamily="18" charset="0"/>
                <a:cs typeface="Times New Roman" panose="02020603050405020304" pitchFamily="18" charset="0"/>
              </a:rPr>
              <a:t>Insertion de 3 rats bruns</a:t>
            </a:r>
          </a:p>
          <a:p>
            <a:pPr marL="0" indent="0" algn="just">
              <a:buNone/>
            </a:pPr>
            <a:r>
              <a:rPr lang="fr-FR" sz="2700" dirty="0">
                <a:latin typeface="Times New Roman" panose="02020603050405020304" pitchFamily="18" charset="0"/>
                <a:cs typeface="Times New Roman" panose="02020603050405020304" pitchFamily="18" charset="0"/>
              </a:rPr>
              <a:t>UPDATE </a:t>
            </a:r>
            <a:r>
              <a:rPr lang="fr-FR" sz="2700" dirty="0" err="1">
                <a:latin typeface="Times New Roman" panose="02020603050405020304" pitchFamily="18" charset="0"/>
                <a:cs typeface="Times New Roman" panose="02020603050405020304" pitchFamily="18" charset="0"/>
              </a:rPr>
              <a:t>Espece</a:t>
            </a:r>
            <a:endParaRPr lang="fr-FR" sz="2700" dirty="0">
              <a:latin typeface="Times New Roman" panose="02020603050405020304" pitchFamily="18" charset="0"/>
              <a:cs typeface="Times New Roman" panose="02020603050405020304" pitchFamily="18" charset="0"/>
            </a:endParaRPr>
          </a:p>
          <a:p>
            <a:pPr marL="0" indent="0" algn="just">
              <a:buNone/>
            </a:pPr>
            <a:r>
              <a:rPr lang="fr-FR" sz="2700" dirty="0">
                <a:latin typeface="Times New Roman" panose="02020603050405020304" pitchFamily="18" charset="0"/>
                <a:cs typeface="Times New Roman" panose="02020603050405020304" pitchFamily="18" charset="0"/>
              </a:rPr>
              <a:t>SET prix = 20</a:t>
            </a:r>
          </a:p>
          <a:p>
            <a:pPr marL="0" indent="0">
              <a:buNone/>
            </a:pPr>
            <a:r>
              <a:rPr lang="fr-FR" sz="2700" dirty="0">
                <a:latin typeface="Times New Roman" panose="02020603050405020304" pitchFamily="18" charset="0"/>
                <a:cs typeface="Times New Roman" panose="02020603050405020304" pitchFamily="18" charset="0"/>
              </a:rPr>
              <a:t>WHERE id = 5 ; </a:t>
            </a:r>
            <a:endParaRPr lang="fr-FR" sz="2700" dirty="0" smtClean="0">
              <a:latin typeface="Times New Roman" panose="02020603050405020304" pitchFamily="18" charset="0"/>
              <a:cs typeface="Times New Roman" panose="02020603050405020304" pitchFamily="18" charset="0"/>
            </a:endParaRPr>
          </a:p>
          <a:p>
            <a:pPr marL="0" indent="0">
              <a:buNone/>
            </a:pPr>
            <a:r>
              <a:rPr lang="fr-FR" sz="2700" dirty="0">
                <a:latin typeface="Times New Roman" panose="02020603050405020304" pitchFamily="18" charset="0"/>
                <a:cs typeface="Times New Roman" panose="02020603050405020304" pitchFamily="18" charset="0"/>
              </a:rPr>
              <a:t>Les changements faits sont bien visibles. Les rats bruns valent maintenant 20 euros, et </a:t>
            </a:r>
            <a:r>
              <a:rPr lang="fr-FR" sz="2700" dirty="0" smtClean="0">
                <a:latin typeface="Times New Roman" panose="02020603050405020304" pitchFamily="18" charset="0"/>
                <a:cs typeface="Times New Roman" panose="02020603050405020304" pitchFamily="18" charset="0"/>
              </a:rPr>
              <a:t>les </a:t>
            </a:r>
            <a:r>
              <a:rPr lang="fr-FR" sz="2700" dirty="0">
                <a:latin typeface="Times New Roman" panose="02020603050405020304" pitchFamily="18" charset="0"/>
                <a:cs typeface="Times New Roman" panose="02020603050405020304" pitchFamily="18" charset="0"/>
              </a:rPr>
              <a:t>trois nouvelles bestioles (Baba, </a:t>
            </a:r>
            <a:r>
              <a:rPr lang="fr-FR" sz="2700" dirty="0" err="1">
                <a:latin typeface="Times New Roman" panose="02020603050405020304" pitchFamily="18" charset="0"/>
                <a:cs typeface="Times New Roman" panose="02020603050405020304" pitchFamily="18" charset="0"/>
              </a:rPr>
              <a:t>Bibo</a:t>
            </a:r>
            <a:r>
              <a:rPr lang="fr-FR" sz="2700" dirty="0">
                <a:latin typeface="Times New Roman" panose="02020603050405020304" pitchFamily="18" charset="0"/>
                <a:cs typeface="Times New Roman" panose="02020603050405020304" pitchFamily="18" charset="0"/>
              </a:rPr>
              <a:t> et </a:t>
            </a:r>
            <a:r>
              <a:rPr lang="fr-FR" sz="2700" dirty="0" err="1">
                <a:latin typeface="Times New Roman" panose="02020603050405020304" pitchFamily="18" charset="0"/>
                <a:cs typeface="Times New Roman" panose="02020603050405020304" pitchFamily="18" charset="0"/>
              </a:rPr>
              <a:t>Buba</a:t>
            </a:r>
            <a:r>
              <a:rPr lang="fr-FR" sz="2700" dirty="0">
                <a:latin typeface="Times New Roman" panose="02020603050405020304" pitchFamily="18" charset="0"/>
                <a:cs typeface="Times New Roman" panose="02020603050405020304" pitchFamily="18" charset="0"/>
              </a:rPr>
              <a:t>) ont bien été insérées. </a:t>
            </a:r>
          </a:p>
        </p:txBody>
      </p:sp>
    </p:spTree>
    <p:extLst>
      <p:ext uri="{BB962C8B-B14F-4D97-AF65-F5344CB8AC3E}">
        <p14:creationId xmlns:p14="http://schemas.microsoft.com/office/powerpoint/2010/main" val="5298167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2887" y="7260"/>
            <a:ext cx="8229600" cy="613428"/>
          </a:xfrm>
        </p:spPr>
        <p:txBody>
          <a:bodyPr>
            <a:normAutofit/>
          </a:bodyPr>
          <a:lstStyle/>
          <a:p>
            <a:r>
              <a:rPr lang="fr-FR" sz="3200" b="1" dirty="0">
                <a:latin typeface="Times New Roman" panose="02020603050405020304" pitchFamily="18" charset="0"/>
                <a:cs typeface="Times New Roman" panose="02020603050405020304" pitchFamily="18" charset="0"/>
              </a:rPr>
              <a:t>Exemple 2 : validation et </a:t>
            </a:r>
            <a:r>
              <a:rPr lang="fr-FR" sz="3200" b="1" dirty="0" smtClean="0">
                <a:latin typeface="Times New Roman" panose="02020603050405020304" pitchFamily="18" charset="0"/>
                <a:cs typeface="Times New Roman" panose="02020603050405020304" pitchFamily="18" charset="0"/>
              </a:rPr>
              <a:t>annulation</a:t>
            </a:r>
            <a:endParaRPr lang="fr-FR" sz="32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620688"/>
            <a:ext cx="9144000" cy="6048672"/>
          </a:xfrm>
        </p:spPr>
        <p:txBody>
          <a:bodyPr>
            <a:normAutofit fontScale="70000" lnSpcReduction="20000"/>
          </a:bodyPr>
          <a:lstStyle/>
          <a:p>
            <a:pPr marL="0" indent="0" algn="just">
              <a:buNone/>
            </a:pPr>
            <a:r>
              <a:rPr lang="fr-FR" sz="3400" dirty="0">
                <a:latin typeface="Times New Roman" panose="02020603050405020304" pitchFamily="18" charset="0"/>
                <a:cs typeface="Times New Roman" panose="02020603050405020304" pitchFamily="18" charset="0"/>
              </a:rPr>
              <a:t>Exécutez la séquence de requêtes suivante </a:t>
            </a:r>
            <a:r>
              <a:rPr lang="fr-FR" sz="3400" dirty="0" smtClean="0">
                <a:latin typeface="Times New Roman" panose="02020603050405020304" pitchFamily="18" charset="0"/>
                <a:cs typeface="Times New Roman" panose="02020603050405020304" pitchFamily="18" charset="0"/>
              </a:rPr>
              <a:t>:</a:t>
            </a:r>
          </a:p>
          <a:p>
            <a:pPr marL="0" indent="0" algn="just">
              <a:buNone/>
            </a:pPr>
            <a:r>
              <a:rPr lang="fr-FR" sz="3600" dirty="0">
                <a:latin typeface="Times New Roman" panose="02020603050405020304" pitchFamily="18" charset="0"/>
                <a:cs typeface="Times New Roman" panose="02020603050405020304" pitchFamily="18" charset="0"/>
              </a:rPr>
              <a:t>START TRANSACTION </a:t>
            </a:r>
            <a:r>
              <a:rPr lang="fr-FR" sz="3600" dirty="0" smtClean="0">
                <a:latin typeface="Times New Roman" panose="02020603050405020304" pitchFamily="18" charset="0"/>
                <a:cs typeface="Times New Roman" panose="02020603050405020304" pitchFamily="18" charset="0"/>
              </a:rPr>
              <a:t>;</a:t>
            </a:r>
            <a:endParaRPr lang="fr-FR" sz="3400" dirty="0">
              <a:latin typeface="Times New Roman" panose="02020603050405020304" pitchFamily="18" charset="0"/>
              <a:cs typeface="Times New Roman" panose="02020603050405020304" pitchFamily="18" charset="0"/>
            </a:endParaRPr>
          </a:p>
          <a:p>
            <a:pPr marL="0" indent="0" algn="just">
              <a:buNone/>
            </a:pPr>
            <a:r>
              <a:rPr lang="fr-FR" sz="3400" dirty="0">
                <a:latin typeface="Times New Roman" panose="02020603050405020304" pitchFamily="18" charset="0"/>
                <a:cs typeface="Times New Roman" panose="02020603050405020304" pitchFamily="18" charset="0"/>
              </a:rPr>
              <a:t>INSERT INTO Animal (nom, espece_id, </a:t>
            </a:r>
            <a:r>
              <a:rPr lang="fr-FR" sz="3400" dirty="0" err="1">
                <a:latin typeface="Times New Roman" panose="02020603050405020304" pitchFamily="18" charset="0"/>
                <a:cs typeface="Times New Roman" panose="02020603050405020304" pitchFamily="18" charset="0"/>
              </a:rPr>
              <a:t>date_naissance</a:t>
            </a:r>
            <a:r>
              <a:rPr lang="fr-FR" sz="3400" dirty="0">
                <a:latin typeface="Times New Roman" panose="02020603050405020304" pitchFamily="18" charset="0"/>
                <a:cs typeface="Times New Roman" panose="02020603050405020304" pitchFamily="18" charset="0"/>
              </a:rPr>
              <a:t>, sexe)</a:t>
            </a:r>
          </a:p>
          <a:p>
            <a:pPr marL="0" indent="0" algn="just">
              <a:buNone/>
            </a:pPr>
            <a:r>
              <a:rPr lang="en-US" sz="3400" dirty="0">
                <a:latin typeface="Times New Roman" panose="02020603050405020304" pitchFamily="18" charset="0"/>
                <a:cs typeface="Times New Roman" panose="02020603050405020304" pitchFamily="18" charset="0"/>
              </a:rPr>
              <a:t>VALUES ('Baba', 5, '2012-02-13 15:45:00', 'F');</a:t>
            </a:r>
            <a:endParaRPr lang="fr-FR" sz="3400" dirty="0">
              <a:latin typeface="Times New Roman" panose="02020603050405020304" pitchFamily="18" charset="0"/>
              <a:cs typeface="Times New Roman" panose="02020603050405020304" pitchFamily="18" charset="0"/>
            </a:endParaRPr>
          </a:p>
          <a:p>
            <a:pPr marL="0" indent="0" algn="just">
              <a:buNone/>
            </a:pPr>
            <a:r>
              <a:rPr lang="fr-FR" sz="3400" dirty="0">
                <a:latin typeface="Times New Roman" panose="02020603050405020304" pitchFamily="18" charset="0"/>
                <a:cs typeface="Times New Roman" panose="02020603050405020304" pitchFamily="18" charset="0"/>
              </a:rPr>
              <a:t>INSERT INTO Animal (nom, espece_id, </a:t>
            </a:r>
            <a:r>
              <a:rPr lang="fr-FR" sz="3400" dirty="0" err="1">
                <a:latin typeface="Times New Roman" panose="02020603050405020304" pitchFamily="18" charset="0"/>
                <a:cs typeface="Times New Roman" panose="02020603050405020304" pitchFamily="18" charset="0"/>
              </a:rPr>
              <a:t>date_naissance</a:t>
            </a:r>
            <a:r>
              <a:rPr lang="fr-FR" sz="3400" dirty="0">
                <a:latin typeface="Times New Roman" panose="02020603050405020304" pitchFamily="18" charset="0"/>
                <a:cs typeface="Times New Roman" panose="02020603050405020304" pitchFamily="18" charset="0"/>
              </a:rPr>
              <a:t>, sexe)</a:t>
            </a:r>
          </a:p>
          <a:p>
            <a:pPr marL="0" indent="0" algn="just">
              <a:buNone/>
            </a:pPr>
            <a:r>
              <a:rPr lang="fr-FR" sz="3400" dirty="0">
                <a:latin typeface="Times New Roman" panose="02020603050405020304" pitchFamily="18" charset="0"/>
                <a:cs typeface="Times New Roman" panose="02020603050405020304" pitchFamily="18" charset="0"/>
              </a:rPr>
              <a:t>VALUES ('</a:t>
            </a:r>
            <a:r>
              <a:rPr lang="fr-FR" sz="3400" dirty="0" err="1">
                <a:latin typeface="Times New Roman" panose="02020603050405020304" pitchFamily="18" charset="0"/>
                <a:cs typeface="Times New Roman" panose="02020603050405020304" pitchFamily="18" charset="0"/>
              </a:rPr>
              <a:t>Bibo</a:t>
            </a:r>
            <a:r>
              <a:rPr lang="fr-FR" sz="3400" dirty="0">
                <a:latin typeface="Times New Roman" panose="02020603050405020304" pitchFamily="18" charset="0"/>
                <a:cs typeface="Times New Roman" panose="02020603050405020304" pitchFamily="18" charset="0"/>
              </a:rPr>
              <a:t>', 5, '2012-02-13 15:48:00', 'M');</a:t>
            </a:r>
          </a:p>
          <a:p>
            <a:pPr marL="0" indent="0" algn="just">
              <a:buNone/>
            </a:pPr>
            <a:r>
              <a:rPr lang="fr-FR" sz="3400" dirty="0">
                <a:latin typeface="Times New Roman" panose="02020603050405020304" pitchFamily="18" charset="0"/>
                <a:cs typeface="Times New Roman" panose="02020603050405020304" pitchFamily="18" charset="0"/>
              </a:rPr>
              <a:t>INSERT INTO Animal (nom, espece_id, </a:t>
            </a:r>
            <a:r>
              <a:rPr lang="fr-FR" sz="3400" dirty="0" err="1">
                <a:latin typeface="Times New Roman" panose="02020603050405020304" pitchFamily="18" charset="0"/>
                <a:cs typeface="Times New Roman" panose="02020603050405020304" pitchFamily="18" charset="0"/>
              </a:rPr>
              <a:t>date_naissance</a:t>
            </a:r>
            <a:r>
              <a:rPr lang="fr-FR" sz="3400" dirty="0">
                <a:latin typeface="Times New Roman" panose="02020603050405020304" pitchFamily="18" charset="0"/>
                <a:cs typeface="Times New Roman" panose="02020603050405020304" pitchFamily="18" charset="0"/>
              </a:rPr>
              <a:t>, sexe)</a:t>
            </a:r>
          </a:p>
          <a:p>
            <a:pPr marL="0" indent="0" algn="just">
              <a:buNone/>
            </a:pPr>
            <a:r>
              <a:rPr lang="fr-FR" sz="3400" dirty="0">
                <a:latin typeface="Times New Roman" panose="02020603050405020304" pitchFamily="18" charset="0"/>
                <a:cs typeface="Times New Roman" panose="02020603050405020304" pitchFamily="18" charset="0"/>
              </a:rPr>
              <a:t>VALUES ('</a:t>
            </a:r>
            <a:r>
              <a:rPr lang="fr-FR" sz="3400" dirty="0" err="1">
                <a:latin typeface="Times New Roman" panose="02020603050405020304" pitchFamily="18" charset="0"/>
                <a:cs typeface="Times New Roman" panose="02020603050405020304" pitchFamily="18" charset="0"/>
              </a:rPr>
              <a:t>Buba</a:t>
            </a:r>
            <a:r>
              <a:rPr lang="fr-FR" sz="3400" dirty="0">
                <a:latin typeface="Times New Roman" panose="02020603050405020304" pitchFamily="18" charset="0"/>
                <a:cs typeface="Times New Roman" panose="02020603050405020304" pitchFamily="18" charset="0"/>
              </a:rPr>
              <a:t>', 5, '2012-02-13 18:32:00', 'F</a:t>
            </a:r>
            <a:r>
              <a:rPr lang="fr-FR" sz="3400" dirty="0" smtClean="0">
                <a:latin typeface="Times New Roman" panose="02020603050405020304" pitchFamily="18" charset="0"/>
                <a:cs typeface="Times New Roman" panose="02020603050405020304" pitchFamily="18" charset="0"/>
              </a:rPr>
              <a:t>');</a:t>
            </a:r>
          </a:p>
          <a:p>
            <a:pPr marL="0" indent="0" algn="just">
              <a:buNone/>
            </a:pPr>
            <a:r>
              <a:rPr lang="fr-FR" sz="3400" dirty="0" smtClean="0">
                <a:latin typeface="Times New Roman" panose="02020603050405020304" pitchFamily="18" charset="0"/>
                <a:cs typeface="Times New Roman" panose="02020603050405020304" pitchFamily="18" charset="0"/>
              </a:rPr>
              <a:t> </a:t>
            </a:r>
            <a:r>
              <a:rPr lang="fr-FR" sz="3400" dirty="0">
                <a:latin typeface="Times New Roman" panose="02020603050405020304" pitchFamily="18" charset="0"/>
                <a:cs typeface="Times New Roman" panose="02020603050405020304" pitchFamily="18" charset="0"/>
              </a:rPr>
              <a:t>-- Insertion de 3 rats bruns</a:t>
            </a:r>
          </a:p>
          <a:p>
            <a:pPr marL="0" indent="0" algn="just">
              <a:buNone/>
            </a:pPr>
            <a:r>
              <a:rPr lang="en-US" sz="3400" dirty="0">
                <a:latin typeface="Times New Roman" panose="02020603050405020304" pitchFamily="18" charset="0"/>
                <a:cs typeface="Times New Roman" panose="02020603050405020304" pitchFamily="18" charset="0"/>
              </a:rPr>
              <a:t>COMMIT ;</a:t>
            </a:r>
            <a:endParaRPr lang="fr-FR" sz="3400" dirty="0">
              <a:latin typeface="Times New Roman" panose="02020603050405020304" pitchFamily="18" charset="0"/>
              <a:cs typeface="Times New Roman" panose="02020603050405020304" pitchFamily="18" charset="0"/>
            </a:endParaRPr>
          </a:p>
          <a:p>
            <a:pPr marL="0" indent="0" algn="just">
              <a:buNone/>
            </a:pPr>
            <a:r>
              <a:rPr lang="en-US" sz="3400" dirty="0">
                <a:latin typeface="Times New Roman" panose="02020603050405020304" pitchFamily="18" charset="0"/>
                <a:cs typeface="Times New Roman" panose="02020603050405020304" pitchFamily="18" charset="0"/>
              </a:rPr>
              <a:t>UPDATE </a:t>
            </a:r>
            <a:r>
              <a:rPr lang="en-US" sz="3400" dirty="0" err="1">
                <a:latin typeface="Times New Roman" panose="02020603050405020304" pitchFamily="18" charset="0"/>
                <a:cs typeface="Times New Roman" panose="02020603050405020304" pitchFamily="18" charset="0"/>
              </a:rPr>
              <a:t>Espece</a:t>
            </a:r>
            <a:endParaRPr lang="fr-FR" sz="3400" dirty="0">
              <a:latin typeface="Times New Roman" panose="02020603050405020304" pitchFamily="18" charset="0"/>
              <a:cs typeface="Times New Roman" panose="02020603050405020304" pitchFamily="18" charset="0"/>
            </a:endParaRPr>
          </a:p>
          <a:p>
            <a:pPr marL="0" indent="0" algn="just">
              <a:buNone/>
            </a:pPr>
            <a:r>
              <a:rPr lang="en-US" sz="3400" dirty="0">
                <a:latin typeface="Times New Roman" panose="02020603050405020304" pitchFamily="18" charset="0"/>
                <a:cs typeface="Times New Roman" panose="02020603050405020304" pitchFamily="18" charset="0"/>
              </a:rPr>
              <a:t>SET prix = 20</a:t>
            </a:r>
            <a:endParaRPr lang="fr-FR" sz="3400" dirty="0">
              <a:latin typeface="Times New Roman" panose="02020603050405020304" pitchFamily="18" charset="0"/>
              <a:cs typeface="Times New Roman" panose="02020603050405020304" pitchFamily="18" charset="0"/>
            </a:endParaRPr>
          </a:p>
          <a:p>
            <a:pPr marL="0" indent="0" algn="just">
              <a:buNone/>
            </a:pPr>
            <a:r>
              <a:rPr lang="fr-FR" sz="3400" dirty="0">
                <a:latin typeface="Times New Roman" panose="02020603050405020304" pitchFamily="18" charset="0"/>
                <a:cs typeface="Times New Roman" panose="02020603050405020304" pitchFamily="18" charset="0"/>
              </a:rPr>
              <a:t>WHERE id = 5 ; -- Les rats valent 20 euros</a:t>
            </a:r>
          </a:p>
          <a:p>
            <a:pPr marL="0" indent="0" algn="just">
              <a:buNone/>
            </a:pPr>
            <a:r>
              <a:rPr lang="fr-FR" sz="3400" dirty="0">
                <a:latin typeface="Times New Roman" panose="02020603050405020304" pitchFamily="18" charset="0"/>
                <a:cs typeface="Times New Roman" panose="02020603050405020304" pitchFamily="18" charset="0"/>
              </a:rPr>
              <a:t>ROLLBACK </a:t>
            </a:r>
            <a:r>
              <a:rPr lang="fr-FR" sz="3400" dirty="0" smtClean="0">
                <a:latin typeface="Times New Roman" panose="02020603050405020304" pitchFamily="18" charset="0"/>
                <a:cs typeface="Times New Roman" panose="02020603050405020304" pitchFamily="18" charset="0"/>
              </a:rPr>
              <a:t>;</a:t>
            </a:r>
          </a:p>
          <a:p>
            <a:pPr marL="0" indent="0" algn="just">
              <a:buNone/>
            </a:pPr>
            <a:r>
              <a:rPr lang="fr-FR" sz="3400" dirty="0">
                <a:latin typeface="Times New Roman" panose="02020603050405020304" pitchFamily="18" charset="0"/>
                <a:cs typeface="Times New Roman" panose="02020603050405020304" pitchFamily="18" charset="0"/>
              </a:rPr>
              <a:t>Trois nouveaux rats bruns (les requêtes d’insertion ayant été validées), et ils ne valent toujours que l’ancien prix chacun.</a:t>
            </a:r>
          </a:p>
          <a:p>
            <a:pPr marL="0" indent="0" algn="just">
              <a:buNone/>
            </a:pPr>
            <a:endParaRPr lang="fr-FR" dirty="0">
              <a:latin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4443121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3448" y="0"/>
            <a:ext cx="8229600" cy="562074"/>
          </a:xfrm>
        </p:spPr>
        <p:txBody>
          <a:bodyPr>
            <a:normAutofit fontScale="90000"/>
          </a:bodyPr>
          <a:lstStyle/>
          <a:p>
            <a:pPr lvl="0"/>
            <a:r>
              <a:rPr lang="fr-FR" sz="4000" b="1" dirty="0" smtClean="0">
                <a:latin typeface="Times New Roman" panose="02020603050405020304" pitchFamily="18" charset="0"/>
                <a:cs typeface="Times New Roman" panose="02020603050405020304" pitchFamily="18" charset="0"/>
              </a:rPr>
              <a:t/>
            </a:r>
            <a:br>
              <a:rPr lang="fr-FR" sz="4000" b="1" dirty="0" smtClean="0">
                <a:latin typeface="Times New Roman" panose="02020603050405020304" pitchFamily="18" charset="0"/>
                <a:cs typeface="Times New Roman" panose="02020603050405020304" pitchFamily="18" charset="0"/>
              </a:rPr>
            </a:br>
            <a:r>
              <a:rPr lang="fr-FR" sz="4000" b="1" dirty="0" smtClean="0">
                <a:latin typeface="Times New Roman" panose="02020603050405020304" pitchFamily="18" charset="0"/>
                <a:cs typeface="Times New Roman" panose="02020603050405020304" pitchFamily="18" charset="0"/>
              </a:rPr>
              <a:t>Jalon </a:t>
            </a:r>
            <a:r>
              <a:rPr lang="fr-FR" sz="4000" b="1" dirty="0">
                <a:latin typeface="Times New Roman" panose="02020603050405020304" pitchFamily="18" charset="0"/>
                <a:cs typeface="Times New Roman" panose="02020603050405020304" pitchFamily="18" charset="0"/>
              </a:rPr>
              <a:t>de transaction</a:t>
            </a:r>
            <a:r>
              <a:rPr lang="fr-FR" dirty="0"/>
              <a:t/>
            </a:r>
            <a:br>
              <a:rPr lang="fr-FR" dirty="0"/>
            </a:br>
            <a:endParaRPr lang="fr-FR" dirty="0"/>
          </a:p>
        </p:txBody>
      </p:sp>
      <p:sp>
        <p:nvSpPr>
          <p:cNvPr id="3" name="Espace réservé du contenu 2"/>
          <p:cNvSpPr>
            <a:spLocks noGrp="1"/>
          </p:cNvSpPr>
          <p:nvPr>
            <p:ph idx="1"/>
          </p:nvPr>
        </p:nvSpPr>
        <p:spPr>
          <a:xfrm>
            <a:off x="0" y="548680"/>
            <a:ext cx="9036496" cy="6309320"/>
          </a:xfrm>
        </p:spPr>
        <p:txBody>
          <a:bodyPr>
            <a:noAutofit/>
          </a:bodyPr>
          <a:lstStyle/>
          <a:p>
            <a:pPr marL="0" indent="0" algn="just">
              <a:spcBef>
                <a:spcPts val="0"/>
              </a:spcBef>
              <a:buNone/>
            </a:pPr>
            <a:r>
              <a:rPr lang="fr-FR" sz="3600" dirty="0" smtClean="0">
                <a:latin typeface="Times New Roman" panose="02020603050405020304" pitchFamily="18" charset="0"/>
                <a:cs typeface="Times New Roman" panose="02020603050405020304" pitchFamily="18" charset="0"/>
              </a:rPr>
              <a:t>	Lorsque </a:t>
            </a:r>
            <a:r>
              <a:rPr lang="fr-FR" sz="3600" dirty="0">
                <a:latin typeface="Times New Roman" panose="02020603050405020304" pitchFamily="18" charset="0"/>
                <a:cs typeface="Times New Roman" panose="02020603050405020304" pitchFamily="18" charset="0"/>
              </a:rPr>
              <a:t>l’on travaille dans une transaction, et que l’on constate que certaines requêtes posent problème, on n’a pas toujours envie de faire un </a:t>
            </a:r>
            <a:r>
              <a:rPr lang="fr-FR" sz="3600" dirty="0" err="1">
                <a:latin typeface="Times New Roman" panose="02020603050405020304" pitchFamily="18" charset="0"/>
                <a:cs typeface="Times New Roman" panose="02020603050405020304" pitchFamily="18" charset="0"/>
              </a:rPr>
              <a:t>rollback</a:t>
            </a:r>
            <a:r>
              <a:rPr lang="fr-FR" sz="3600" dirty="0">
                <a:latin typeface="Times New Roman" panose="02020603050405020304" pitchFamily="18" charset="0"/>
                <a:cs typeface="Times New Roman" panose="02020603050405020304" pitchFamily="18" charset="0"/>
              </a:rPr>
              <a:t> depuis le début de la transaction, annulant toutes les requêtes alors qu’une partie aurait pu être validée, </a:t>
            </a:r>
            <a:r>
              <a:rPr lang="fr-FR" sz="3600" dirty="0" smtClean="0">
                <a:latin typeface="Times New Roman" panose="02020603050405020304" pitchFamily="18" charset="0"/>
                <a:cs typeface="Times New Roman" panose="02020603050405020304" pitchFamily="18" charset="0"/>
              </a:rPr>
              <a:t>on </a:t>
            </a:r>
            <a:r>
              <a:rPr lang="fr-FR" sz="3600" dirty="0">
                <a:latin typeface="Times New Roman" panose="02020603050405020304" pitchFamily="18" charset="0"/>
                <a:cs typeface="Times New Roman" panose="02020603050405020304" pitchFamily="18" charset="0"/>
              </a:rPr>
              <a:t>pose des jalons de </a:t>
            </a:r>
            <a:r>
              <a:rPr lang="fr-FR" sz="3600" dirty="0" smtClean="0">
                <a:latin typeface="Times New Roman" panose="02020603050405020304" pitchFamily="18" charset="0"/>
                <a:cs typeface="Times New Roman" panose="02020603050405020304" pitchFamily="18" charset="0"/>
              </a:rPr>
              <a:t>transaction.</a:t>
            </a:r>
          </a:p>
          <a:p>
            <a:pPr marL="0" indent="0" algn="just">
              <a:spcBef>
                <a:spcPts val="0"/>
              </a:spcBef>
              <a:buNone/>
            </a:pPr>
            <a:r>
              <a:rPr lang="fr-FR" sz="3600" dirty="0" smtClean="0">
                <a:latin typeface="Times New Roman" panose="02020603050405020304" pitchFamily="18" charset="0"/>
                <a:cs typeface="Times New Roman" panose="02020603050405020304" pitchFamily="18" charset="0"/>
              </a:rPr>
              <a:t>	Il </a:t>
            </a:r>
            <a:r>
              <a:rPr lang="fr-FR" sz="3600" dirty="0">
                <a:latin typeface="Times New Roman" panose="02020603050405020304" pitchFamily="18" charset="0"/>
                <a:cs typeface="Times New Roman" panose="02020603050405020304" pitchFamily="18" charset="0"/>
              </a:rPr>
              <a:t>s’agit de points de repère, qui permettent d’annuler toutes les requêtes exécutées depuis ce jalon, et non toutes les requêtes de la transaction.</a:t>
            </a:r>
          </a:p>
        </p:txBody>
      </p:sp>
    </p:spTree>
    <p:extLst>
      <p:ext uri="{BB962C8B-B14F-4D97-AF65-F5344CB8AC3E}">
        <p14:creationId xmlns:p14="http://schemas.microsoft.com/office/powerpoint/2010/main" val="9591050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Autofit/>
          </a:bodyPr>
          <a:lstStyle/>
          <a:p>
            <a:pPr marL="0" indent="0" algn="just">
              <a:buNone/>
            </a:pPr>
            <a:r>
              <a:rPr lang="fr-FR" sz="2400" b="1" dirty="0">
                <a:latin typeface="Times New Roman" panose="02020603050405020304" pitchFamily="18" charset="0"/>
                <a:cs typeface="Times New Roman" panose="02020603050405020304" pitchFamily="18" charset="0"/>
              </a:rPr>
              <a:t>Syntaxe :</a:t>
            </a:r>
            <a:endParaRPr lang="fr-FR" sz="2400" dirty="0">
              <a:latin typeface="Times New Roman" panose="02020603050405020304" pitchFamily="18" charset="0"/>
              <a:cs typeface="Times New Roman" panose="02020603050405020304" pitchFamily="18" charset="0"/>
            </a:endParaRPr>
          </a:p>
          <a:p>
            <a:pPr marL="0" indent="0" algn="just">
              <a:buNone/>
            </a:pPr>
            <a:r>
              <a:rPr lang="fr-FR" sz="2400" dirty="0">
                <a:latin typeface="Times New Roman" panose="02020603050405020304" pitchFamily="18" charset="0"/>
                <a:cs typeface="Times New Roman" panose="02020603050405020304" pitchFamily="18" charset="0"/>
              </a:rPr>
              <a:t>SAVEPOINT </a:t>
            </a:r>
            <a:r>
              <a:rPr lang="fr-FR" sz="2400" dirty="0" err="1">
                <a:latin typeface="Times New Roman" panose="02020603050405020304" pitchFamily="18" charset="0"/>
                <a:cs typeface="Times New Roman" panose="02020603050405020304" pitchFamily="18" charset="0"/>
              </a:rPr>
              <a:t>nom_jalon</a:t>
            </a:r>
            <a:r>
              <a:rPr lang="fr-FR" sz="2400" dirty="0">
                <a:latin typeface="Times New Roman" panose="02020603050405020304" pitchFamily="18" charset="0"/>
                <a:cs typeface="Times New Roman" panose="02020603050405020304" pitchFamily="18" charset="0"/>
              </a:rPr>
              <a:t>; </a:t>
            </a:r>
            <a:endParaRPr lang="fr-FR" sz="2400" dirty="0" smtClean="0">
              <a:latin typeface="Times New Roman" panose="02020603050405020304" pitchFamily="18" charset="0"/>
              <a:cs typeface="Times New Roman" panose="02020603050405020304" pitchFamily="18" charset="0"/>
            </a:endParaRPr>
          </a:p>
          <a:p>
            <a:pPr marL="0" indent="0" algn="just">
              <a:buNone/>
            </a:pPr>
            <a:r>
              <a:rPr lang="fr-FR" sz="2400" b="1" dirty="0">
                <a:latin typeface="Times New Roman" panose="02020603050405020304" pitchFamily="18" charset="0"/>
                <a:cs typeface="Times New Roman" panose="02020603050405020304" pitchFamily="18" charset="0"/>
              </a:rPr>
              <a:t>Exemple </a:t>
            </a:r>
            <a:r>
              <a:rPr lang="fr-FR" sz="2400" dirty="0">
                <a:latin typeface="Times New Roman" panose="02020603050405020304" pitchFamily="18" charset="0"/>
                <a:cs typeface="Times New Roman" panose="02020603050405020304" pitchFamily="18" charset="0"/>
              </a:rPr>
              <a:t>: .</a:t>
            </a:r>
          </a:p>
          <a:p>
            <a:pPr marL="0" indent="0" algn="just">
              <a:buNone/>
            </a:pPr>
            <a:r>
              <a:rPr lang="fr-FR" sz="2200" dirty="0">
                <a:latin typeface="Times New Roman" panose="02020603050405020304" pitchFamily="18" charset="0"/>
                <a:cs typeface="Times New Roman" panose="02020603050405020304" pitchFamily="18" charset="0"/>
              </a:rPr>
              <a:t>START TRANSACTION ;</a:t>
            </a:r>
          </a:p>
          <a:p>
            <a:pPr marL="0" indent="0" algn="just">
              <a:buNone/>
            </a:pPr>
            <a:r>
              <a:rPr lang="fr-FR" sz="2200" dirty="0">
                <a:latin typeface="Times New Roman" panose="02020603050405020304" pitchFamily="18" charset="0"/>
                <a:cs typeface="Times New Roman" panose="02020603050405020304" pitchFamily="18" charset="0"/>
              </a:rPr>
              <a:t>INSERT INTO Animal (nom, espece_id, </a:t>
            </a:r>
            <a:r>
              <a:rPr lang="fr-FR" sz="2200" dirty="0" err="1">
                <a:latin typeface="Times New Roman" panose="02020603050405020304" pitchFamily="18" charset="0"/>
                <a:cs typeface="Times New Roman" panose="02020603050405020304" pitchFamily="18" charset="0"/>
              </a:rPr>
              <a:t>date_naissance</a:t>
            </a:r>
            <a:r>
              <a:rPr lang="fr-FR" sz="2200" dirty="0">
                <a:latin typeface="Times New Roman" panose="02020603050405020304" pitchFamily="18" charset="0"/>
                <a:cs typeface="Times New Roman" panose="02020603050405020304" pitchFamily="18" charset="0"/>
              </a:rPr>
              <a:t>, sexe)</a:t>
            </a:r>
          </a:p>
          <a:p>
            <a:pPr marL="0" indent="0" algn="just">
              <a:buNone/>
            </a:pPr>
            <a:r>
              <a:rPr lang="fr-FR" sz="2200" dirty="0">
                <a:latin typeface="Times New Roman" panose="02020603050405020304" pitchFamily="18" charset="0"/>
                <a:cs typeface="Times New Roman" panose="02020603050405020304" pitchFamily="18" charset="0"/>
              </a:rPr>
              <a:t>VALUES ('</a:t>
            </a:r>
            <a:r>
              <a:rPr lang="fr-FR" sz="2200" dirty="0" err="1">
                <a:latin typeface="Times New Roman" panose="02020603050405020304" pitchFamily="18" charset="0"/>
                <a:cs typeface="Times New Roman" panose="02020603050405020304" pitchFamily="18" charset="0"/>
              </a:rPr>
              <a:t>Popi</a:t>
            </a:r>
            <a:r>
              <a:rPr lang="fr-FR" sz="2200" dirty="0">
                <a:latin typeface="Times New Roman" panose="02020603050405020304" pitchFamily="18" charset="0"/>
                <a:cs typeface="Times New Roman" panose="02020603050405020304" pitchFamily="18" charset="0"/>
              </a:rPr>
              <a:t>', 5, '2007-03-11 12:45:00', 'M');</a:t>
            </a:r>
          </a:p>
          <a:p>
            <a:pPr marL="0" indent="0" algn="just">
              <a:buNone/>
            </a:pPr>
            <a:r>
              <a:rPr lang="fr-FR" sz="2200" dirty="0">
                <a:latin typeface="Times New Roman" panose="02020603050405020304" pitchFamily="18" charset="0"/>
                <a:cs typeface="Times New Roman" panose="02020603050405020304" pitchFamily="18" charset="0"/>
              </a:rPr>
              <a:t>SAVEPOINT jalon1;</a:t>
            </a:r>
          </a:p>
          <a:p>
            <a:pPr marL="0" indent="0" algn="just">
              <a:buNone/>
            </a:pPr>
            <a:r>
              <a:rPr lang="fr-FR" sz="2200" dirty="0">
                <a:latin typeface="Times New Roman" panose="02020603050405020304" pitchFamily="18" charset="0"/>
                <a:cs typeface="Times New Roman" panose="02020603050405020304" pitchFamily="18" charset="0"/>
              </a:rPr>
              <a:t>INSERT INTO Animal (nom, espece_id, </a:t>
            </a:r>
            <a:r>
              <a:rPr lang="fr-FR" sz="2200" dirty="0" err="1">
                <a:latin typeface="Times New Roman" panose="02020603050405020304" pitchFamily="18" charset="0"/>
                <a:cs typeface="Times New Roman" panose="02020603050405020304" pitchFamily="18" charset="0"/>
              </a:rPr>
              <a:t>date_naissance</a:t>
            </a:r>
            <a:r>
              <a:rPr lang="fr-FR" sz="2200" dirty="0">
                <a:latin typeface="Times New Roman" panose="02020603050405020304" pitchFamily="18" charset="0"/>
                <a:cs typeface="Times New Roman" panose="02020603050405020304" pitchFamily="18" charset="0"/>
              </a:rPr>
              <a:t>, sexe)</a:t>
            </a:r>
          </a:p>
          <a:p>
            <a:pPr marL="0" indent="0" algn="just">
              <a:buNone/>
            </a:pPr>
            <a:r>
              <a:rPr lang="fr-FR" sz="2200" dirty="0">
                <a:latin typeface="Times New Roman" panose="02020603050405020304" pitchFamily="18" charset="0"/>
                <a:cs typeface="Times New Roman" panose="02020603050405020304" pitchFamily="18" charset="0"/>
              </a:rPr>
              <a:t>VALUES ('Momo', 5, '2007-03-12 05:23:00', 'M');</a:t>
            </a:r>
          </a:p>
          <a:p>
            <a:pPr marL="0" indent="0" algn="just">
              <a:buNone/>
            </a:pPr>
            <a:r>
              <a:rPr lang="fr-FR" sz="2200" dirty="0">
                <a:latin typeface="Times New Roman" panose="02020603050405020304" pitchFamily="18" charset="0"/>
                <a:cs typeface="Times New Roman" panose="02020603050405020304" pitchFamily="18" charset="0"/>
              </a:rPr>
              <a:t>ROLLBACK TO SAVEPOINT jalon1;</a:t>
            </a:r>
          </a:p>
          <a:p>
            <a:pPr marL="0" indent="0" algn="just">
              <a:buNone/>
            </a:pPr>
            <a:r>
              <a:rPr lang="fr-FR" sz="2200" dirty="0">
                <a:latin typeface="Times New Roman" panose="02020603050405020304" pitchFamily="18" charset="0"/>
                <a:cs typeface="Times New Roman" panose="02020603050405020304" pitchFamily="18" charset="0"/>
              </a:rPr>
              <a:t>INSERT INTO Animal (nom, espece_id, </a:t>
            </a:r>
            <a:r>
              <a:rPr lang="fr-FR" sz="2200" dirty="0" err="1">
                <a:latin typeface="Times New Roman" panose="02020603050405020304" pitchFamily="18" charset="0"/>
                <a:cs typeface="Times New Roman" panose="02020603050405020304" pitchFamily="18" charset="0"/>
              </a:rPr>
              <a:t>date_naissance</a:t>
            </a:r>
            <a:r>
              <a:rPr lang="fr-FR" sz="2200" dirty="0">
                <a:latin typeface="Times New Roman" panose="02020603050405020304" pitchFamily="18" charset="0"/>
                <a:cs typeface="Times New Roman" panose="02020603050405020304" pitchFamily="18" charset="0"/>
              </a:rPr>
              <a:t>, sexe)</a:t>
            </a:r>
          </a:p>
          <a:p>
            <a:pPr marL="0" indent="0" algn="just">
              <a:buNone/>
            </a:pPr>
            <a:r>
              <a:rPr lang="fr-FR" sz="2200" dirty="0">
                <a:latin typeface="Times New Roman" panose="02020603050405020304" pitchFamily="18" charset="0"/>
                <a:cs typeface="Times New Roman" panose="02020603050405020304" pitchFamily="18" charset="0"/>
              </a:rPr>
              <a:t>VALUES ('Mimi', 5, '2007-03-12 22:03:00', 'F');</a:t>
            </a:r>
          </a:p>
          <a:p>
            <a:pPr marL="0" indent="0" algn="just">
              <a:buNone/>
            </a:pPr>
            <a:r>
              <a:rPr lang="fr-FR" sz="2200" dirty="0">
                <a:latin typeface="Times New Roman" panose="02020603050405020304" pitchFamily="18" charset="0"/>
                <a:cs typeface="Times New Roman" panose="02020603050405020304" pitchFamily="18" charset="0"/>
              </a:rPr>
              <a:t>COMMIT </a:t>
            </a:r>
            <a:r>
              <a:rPr lang="fr-FR" sz="2200" dirty="0" smtClean="0">
                <a:latin typeface="Times New Roman" panose="02020603050405020304" pitchFamily="18" charset="0"/>
                <a:cs typeface="Times New Roman" panose="02020603050405020304" pitchFamily="18" charset="0"/>
              </a:rPr>
              <a:t>;</a:t>
            </a:r>
            <a:endParaRPr lang="fr-FR" sz="2200" dirty="0">
              <a:latin typeface="Times New Roman" panose="02020603050405020304" pitchFamily="18" charset="0"/>
              <a:cs typeface="Times New Roman" panose="02020603050405020304" pitchFamily="18" charset="0"/>
            </a:endParaRPr>
          </a:p>
          <a:p>
            <a:pPr marL="0" indent="0" algn="just">
              <a:buNone/>
            </a:pPr>
            <a:r>
              <a:rPr lang="fr-FR" sz="2400" dirty="0">
                <a:latin typeface="Times New Roman" panose="02020603050405020304" pitchFamily="18" charset="0"/>
                <a:cs typeface="Times New Roman" panose="02020603050405020304" pitchFamily="18" charset="0"/>
              </a:rPr>
              <a:t>On n’utilise qu’une seule transaction, on valide à la </a:t>
            </a:r>
            <a:r>
              <a:rPr lang="fr-FR" sz="2400" dirty="0" smtClean="0">
                <a:latin typeface="Times New Roman" panose="02020603050405020304" pitchFamily="18" charset="0"/>
                <a:cs typeface="Times New Roman" panose="02020603050405020304" pitchFamily="18" charset="0"/>
              </a:rPr>
              <a:t>fin. La </a:t>
            </a:r>
            <a:r>
              <a:rPr lang="fr-FR" sz="2400" dirty="0">
                <a:latin typeface="Times New Roman" panose="02020603050405020304" pitchFamily="18" charset="0"/>
                <a:cs typeface="Times New Roman" panose="02020603050405020304" pitchFamily="18" charset="0"/>
              </a:rPr>
              <a:t>seconde insertion n’a pas été faite au final, puisqu’elle a été annulée grâce au jalon. Seuls </a:t>
            </a:r>
            <a:r>
              <a:rPr lang="fr-FR" sz="2400" dirty="0" err="1">
                <a:latin typeface="Times New Roman" panose="02020603050405020304" pitchFamily="18" charset="0"/>
                <a:cs typeface="Times New Roman" panose="02020603050405020304" pitchFamily="18" charset="0"/>
              </a:rPr>
              <a:t>Popi</a:t>
            </a:r>
            <a:r>
              <a:rPr lang="fr-FR" sz="2400" dirty="0">
                <a:latin typeface="Times New Roman" panose="02020603050405020304" pitchFamily="18" charset="0"/>
                <a:cs typeface="Times New Roman" panose="02020603050405020304" pitchFamily="18" charset="0"/>
              </a:rPr>
              <a:t> et Mimi existent.</a:t>
            </a:r>
          </a:p>
          <a:p>
            <a:pPr marL="0" indent="0">
              <a:buNone/>
            </a:pPr>
            <a:r>
              <a:rPr lang="fr-FR" sz="2400" dirty="0">
                <a:latin typeface="Times New Roman" panose="02020603050405020304" pitchFamily="18" charset="0"/>
                <a:cs typeface="Times New Roman" panose="02020603050405020304" pitchFamily="18" charset="0"/>
              </a:rPr>
              <a:t> </a:t>
            </a:r>
          </a:p>
          <a:p>
            <a:pPr marL="0" indent="0">
              <a:buNone/>
            </a:pP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382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16632"/>
            <a:ext cx="9144000" cy="6624736"/>
          </a:xfrm>
        </p:spPr>
        <p:txBody>
          <a:bodyPr>
            <a:normAutofit/>
          </a:bodyPr>
          <a:lstStyle/>
          <a:p>
            <a:pPr marL="0" indent="457200" algn="just">
              <a:spcBef>
                <a:spcPts val="0"/>
              </a:spcBef>
              <a:buNone/>
            </a:pPr>
            <a:r>
              <a:rPr lang="fr-FR" sz="2800" dirty="0">
                <a:latin typeface="Times New Roman" panose="02020603050405020304" pitchFamily="18" charset="0"/>
                <a:cs typeface="Times New Roman" panose="02020603050405020304" pitchFamily="18" charset="0"/>
              </a:rPr>
              <a:t>Pour supporter les transactions, une table doit être </a:t>
            </a:r>
            <a:r>
              <a:rPr lang="fr-FR" sz="2800" b="1" dirty="0">
                <a:latin typeface="Times New Roman" panose="02020603050405020304" pitchFamily="18" charset="0"/>
                <a:cs typeface="Times New Roman" panose="02020603050405020304" pitchFamily="18" charset="0"/>
              </a:rPr>
              <a:t>transactionnelle</a:t>
            </a:r>
            <a:r>
              <a:rPr lang="fr-FR" sz="2800" dirty="0">
                <a:latin typeface="Times New Roman" panose="02020603050405020304" pitchFamily="18" charset="0"/>
                <a:cs typeface="Times New Roman" panose="02020603050405020304" pitchFamily="18" charset="0"/>
              </a:rPr>
              <a:t>, ce qui, avec MySQL, est défini par le </a:t>
            </a:r>
            <a:r>
              <a:rPr lang="fr-FR" sz="2800" b="1" dirty="0">
                <a:latin typeface="Times New Roman" panose="02020603050405020304" pitchFamily="18" charset="0"/>
                <a:cs typeface="Times New Roman" panose="02020603050405020304" pitchFamily="18" charset="0"/>
              </a:rPr>
              <a:t>moteur de stockage </a:t>
            </a:r>
            <a:r>
              <a:rPr lang="fr-FR" sz="2800" dirty="0">
                <a:latin typeface="Times New Roman" panose="02020603050405020304" pitchFamily="18" charset="0"/>
                <a:cs typeface="Times New Roman" panose="02020603050405020304" pitchFamily="18" charset="0"/>
              </a:rPr>
              <a:t>utilisé pour la table.</a:t>
            </a:r>
          </a:p>
          <a:p>
            <a:pPr marL="0" indent="457200" algn="just">
              <a:spcBef>
                <a:spcPts val="0"/>
              </a:spcBef>
              <a:buNone/>
            </a:pPr>
            <a:r>
              <a:rPr lang="fr-FR" sz="2800" dirty="0" smtClean="0">
                <a:latin typeface="Times New Roman" panose="02020603050405020304" pitchFamily="18" charset="0"/>
                <a:cs typeface="Times New Roman" panose="02020603050405020304" pitchFamily="18" charset="0"/>
              </a:rPr>
              <a:t>Il existait différents moteurs </a:t>
            </a:r>
            <a:r>
              <a:rPr lang="fr-FR" sz="2800" dirty="0">
                <a:latin typeface="Times New Roman" panose="02020603050405020304" pitchFamily="18" charset="0"/>
                <a:cs typeface="Times New Roman" panose="02020603050405020304" pitchFamily="18" charset="0"/>
              </a:rPr>
              <a:t>de stockage possibles avec MySQL, dont les plus connus sont </a:t>
            </a:r>
            <a:r>
              <a:rPr lang="fr-FR" sz="2800" b="1" dirty="0" err="1">
                <a:latin typeface="Times New Roman" panose="02020603050405020304" pitchFamily="18" charset="0"/>
                <a:cs typeface="Times New Roman" panose="02020603050405020304" pitchFamily="18" charset="0"/>
              </a:rPr>
              <a:t>MyISAM</a:t>
            </a:r>
            <a:r>
              <a:rPr lang="fr-FR" sz="2800" dirty="0">
                <a:latin typeface="Times New Roman" panose="02020603050405020304" pitchFamily="18" charset="0"/>
                <a:cs typeface="Times New Roman" panose="02020603050405020304" pitchFamily="18" charset="0"/>
              </a:rPr>
              <a:t> et </a:t>
            </a:r>
            <a:r>
              <a:rPr lang="fr-FR" sz="2800" b="1" dirty="0" err="1">
                <a:latin typeface="Times New Roman" panose="02020603050405020304" pitchFamily="18" charset="0"/>
                <a:cs typeface="Times New Roman" panose="02020603050405020304" pitchFamily="18" charset="0"/>
              </a:rPr>
              <a:t>InnoDB</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MyISAM</a:t>
            </a:r>
            <a:r>
              <a:rPr lang="fr-FR" sz="2800" dirty="0">
                <a:latin typeface="Times New Roman" panose="02020603050405020304" pitchFamily="18" charset="0"/>
                <a:cs typeface="Times New Roman" panose="02020603050405020304" pitchFamily="18" charset="0"/>
              </a:rPr>
              <a:t> ne supportant pas les contraintes de clés </a:t>
            </a:r>
            <a:r>
              <a:rPr lang="fr-FR" sz="2800" dirty="0" smtClean="0">
                <a:latin typeface="Times New Roman" panose="02020603050405020304" pitchFamily="18" charset="0"/>
                <a:cs typeface="Times New Roman" panose="02020603050405020304" pitchFamily="18" charset="0"/>
              </a:rPr>
              <a:t>étrangères.</a:t>
            </a:r>
          </a:p>
          <a:p>
            <a:r>
              <a:rPr lang="fr-FR" sz="2800" dirty="0" smtClean="0">
                <a:latin typeface="Times New Roman" panose="02020603050405020304" pitchFamily="18" charset="0"/>
                <a:cs typeface="Times New Roman" panose="02020603050405020304" pitchFamily="18" charset="0"/>
              </a:rPr>
              <a:t>les </a:t>
            </a:r>
            <a:r>
              <a:rPr lang="fr-FR" sz="2800" dirty="0">
                <a:latin typeface="Times New Roman" panose="02020603050405020304" pitchFamily="18" charset="0"/>
                <a:cs typeface="Times New Roman" panose="02020603050405020304" pitchFamily="18" charset="0"/>
              </a:rPr>
              <a:t>tables </a:t>
            </a:r>
            <a:r>
              <a:rPr lang="fr-FR" sz="2800" dirty="0" err="1">
                <a:latin typeface="Times New Roman" panose="02020603050405020304" pitchFamily="18" charset="0"/>
                <a:cs typeface="Times New Roman" panose="02020603050405020304" pitchFamily="18" charset="0"/>
              </a:rPr>
              <a:t>MyISAM</a:t>
            </a:r>
            <a:r>
              <a:rPr lang="fr-FR" sz="2800" dirty="0">
                <a:latin typeface="Times New Roman" panose="02020603050405020304" pitchFamily="18" charset="0"/>
                <a:cs typeface="Times New Roman" panose="02020603050405020304" pitchFamily="18" charset="0"/>
              </a:rPr>
              <a:t> sont non-transactionnelles, donc ne supportent pas les transactions ;</a:t>
            </a:r>
          </a:p>
          <a:p>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les tables </a:t>
            </a:r>
            <a:r>
              <a:rPr lang="fr-FR" sz="2800" dirty="0" err="1">
                <a:latin typeface="Times New Roman" panose="02020603050405020304" pitchFamily="18" charset="0"/>
                <a:cs typeface="Times New Roman" panose="02020603050405020304" pitchFamily="18" charset="0"/>
              </a:rPr>
              <a:t>InnoDB</a:t>
            </a:r>
            <a:r>
              <a:rPr lang="fr-FR" sz="2800" dirty="0">
                <a:latin typeface="Times New Roman" panose="02020603050405020304" pitchFamily="18" charset="0"/>
                <a:cs typeface="Times New Roman" panose="02020603050405020304" pitchFamily="18" charset="0"/>
              </a:rPr>
              <a:t> sont transactionnelles, donc supportent les transactions.</a:t>
            </a:r>
          </a:p>
        </p:txBody>
      </p:sp>
    </p:spTree>
    <p:extLst>
      <p:ext uri="{BB962C8B-B14F-4D97-AF65-F5344CB8AC3E}">
        <p14:creationId xmlns:p14="http://schemas.microsoft.com/office/powerpoint/2010/main" val="4069549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16632"/>
            <a:ext cx="9144000" cy="764704"/>
          </a:xfrm>
        </p:spPr>
        <p:txBody>
          <a:bodyPr>
            <a:normAutofit fontScale="90000"/>
          </a:bodyPr>
          <a:lstStyle/>
          <a:p>
            <a:r>
              <a:rPr lang="fr-FR" sz="2800" dirty="0" smtClean="0">
                <a:latin typeface="Times New Roman" panose="02020603050405020304" pitchFamily="18" charset="0"/>
                <a:cs typeface="Times New Roman" panose="02020603050405020304" pitchFamily="18" charset="0"/>
              </a:rPr>
              <a:t>ACID (</a:t>
            </a:r>
            <a:r>
              <a:rPr lang="fr-FR" sz="2800" b="1" dirty="0">
                <a:latin typeface="Times New Roman" panose="02020603050405020304" pitchFamily="18" charset="0"/>
                <a:cs typeface="Times New Roman" panose="02020603050405020304" pitchFamily="18" charset="0"/>
              </a:rPr>
              <a:t>A</a:t>
            </a:r>
            <a:r>
              <a:rPr lang="fr-FR" sz="2800" dirty="0">
                <a:latin typeface="Times New Roman" panose="02020603050405020304" pitchFamily="18" charset="0"/>
                <a:cs typeface="Times New Roman" panose="02020603050405020304" pitchFamily="18" charset="0"/>
              </a:rPr>
              <a:t>tomicité, </a:t>
            </a:r>
            <a:r>
              <a:rPr lang="fr-FR" sz="2800" b="1" dirty="0">
                <a:latin typeface="Times New Roman" panose="02020603050405020304" pitchFamily="18" charset="0"/>
                <a:cs typeface="Times New Roman" panose="02020603050405020304" pitchFamily="18" charset="0"/>
              </a:rPr>
              <a:t>C</a:t>
            </a:r>
            <a:r>
              <a:rPr lang="fr-FR" sz="2800" dirty="0">
                <a:latin typeface="Times New Roman" panose="02020603050405020304" pitchFamily="18" charset="0"/>
                <a:cs typeface="Times New Roman" panose="02020603050405020304" pitchFamily="18" charset="0"/>
              </a:rPr>
              <a:t>ohérence, </a:t>
            </a:r>
            <a:r>
              <a:rPr lang="fr-FR" sz="2800" b="1" dirty="0">
                <a:latin typeface="Times New Roman" panose="02020603050405020304" pitchFamily="18" charset="0"/>
                <a:cs typeface="Times New Roman" panose="02020603050405020304" pitchFamily="18" charset="0"/>
              </a:rPr>
              <a:t>I</a:t>
            </a:r>
            <a:r>
              <a:rPr lang="fr-FR" sz="2800" dirty="0">
                <a:latin typeface="Times New Roman" panose="02020603050405020304" pitchFamily="18" charset="0"/>
                <a:cs typeface="Times New Roman" panose="02020603050405020304" pitchFamily="18" charset="0"/>
              </a:rPr>
              <a:t>solation et</a:t>
            </a:r>
            <a:br>
              <a:rPr lang="fr-FR" sz="2800" dirty="0">
                <a:latin typeface="Times New Roman" panose="02020603050405020304" pitchFamily="18" charset="0"/>
                <a:cs typeface="Times New Roman" panose="02020603050405020304" pitchFamily="18" charset="0"/>
              </a:rPr>
            </a:br>
            <a:r>
              <a:rPr lang="fr-FR" sz="2800" b="1" dirty="0">
                <a:latin typeface="Times New Roman" panose="02020603050405020304" pitchFamily="18" charset="0"/>
                <a:cs typeface="Times New Roman" panose="02020603050405020304" pitchFamily="18" charset="0"/>
              </a:rPr>
              <a:t>D</a:t>
            </a:r>
            <a:r>
              <a:rPr lang="fr-FR" sz="2800" dirty="0">
                <a:latin typeface="Times New Roman" panose="02020603050405020304" pitchFamily="18" charset="0"/>
                <a:cs typeface="Times New Roman" panose="02020603050405020304" pitchFamily="18" charset="0"/>
              </a:rPr>
              <a:t>urabilité</a:t>
            </a:r>
            <a:r>
              <a:rPr lang="fr-FR" sz="2800" dirty="0" smtClean="0">
                <a:latin typeface="Times New Roman" panose="02020603050405020304" pitchFamily="18" charset="0"/>
                <a:cs typeface="Times New Roman" panose="02020603050405020304" pitchFamily="18" charset="0"/>
              </a:rPr>
              <a:t>)</a:t>
            </a:r>
            <a:endParaRPr lang="fr-FR" sz="2800"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720080"/>
            <a:ext cx="9144000" cy="6093296"/>
          </a:xfrm>
        </p:spPr>
        <p:txBody>
          <a:bodyPr>
            <a:noAutofit/>
          </a:bodyPr>
          <a:lstStyle/>
          <a:p>
            <a:pPr marL="0" indent="457200" algn="just">
              <a:spcBef>
                <a:spcPts val="0"/>
              </a:spcBef>
              <a:buNone/>
            </a:pPr>
            <a:r>
              <a:rPr lang="fr-FR" dirty="0" smtClean="0">
                <a:latin typeface="Times New Roman" panose="02020603050405020304" pitchFamily="18" charset="0"/>
                <a:cs typeface="Times New Roman" panose="02020603050405020304" pitchFamily="18" charset="0"/>
              </a:rPr>
              <a:t>Ce sont </a:t>
            </a:r>
            <a:r>
              <a:rPr lang="fr-FR" dirty="0">
                <a:latin typeface="Times New Roman" panose="02020603050405020304" pitchFamily="18" charset="0"/>
                <a:cs typeface="Times New Roman" panose="02020603050405020304" pitchFamily="18" charset="0"/>
              </a:rPr>
              <a:t>les </a:t>
            </a:r>
            <a:r>
              <a:rPr lang="fr-FR" b="1" dirty="0">
                <a:latin typeface="Times New Roman" panose="02020603050405020304" pitchFamily="18" charset="0"/>
                <a:cs typeface="Times New Roman" panose="02020603050405020304" pitchFamily="18" charset="0"/>
              </a:rPr>
              <a:t>critères </a:t>
            </a:r>
            <a:r>
              <a:rPr lang="fr-FR" dirty="0">
                <a:latin typeface="Times New Roman" panose="02020603050405020304" pitchFamily="18" charset="0"/>
                <a:cs typeface="Times New Roman" panose="02020603050405020304" pitchFamily="18" charset="0"/>
              </a:rPr>
              <a:t>qu’un système utilisant les transactions doit </a:t>
            </a:r>
            <a:r>
              <a:rPr lang="fr-FR" dirty="0" smtClean="0">
                <a:latin typeface="Times New Roman" panose="02020603050405020304" pitchFamily="18" charset="0"/>
                <a:cs typeface="Times New Roman" panose="02020603050405020304" pitchFamily="18" charset="0"/>
              </a:rPr>
              <a:t>respecter pour être </a:t>
            </a:r>
            <a:r>
              <a:rPr lang="fr-FR" b="1" dirty="0" smtClean="0">
                <a:latin typeface="Times New Roman" panose="02020603050405020304" pitchFamily="18" charset="0"/>
                <a:cs typeface="Times New Roman" panose="02020603050405020304" pitchFamily="18" charset="0"/>
              </a:rPr>
              <a:t>fiable.</a:t>
            </a:r>
          </a:p>
          <a:p>
            <a:pPr marL="0" indent="0">
              <a:buNone/>
            </a:pPr>
            <a:r>
              <a:rPr lang="fr-FR" b="1" dirty="0" smtClean="0">
                <a:latin typeface="Times New Roman" panose="02020603050405020304" pitchFamily="18" charset="0"/>
                <a:cs typeface="Times New Roman" panose="02020603050405020304" pitchFamily="18" charset="0"/>
              </a:rPr>
              <a:t>Atomicité</a:t>
            </a:r>
            <a:r>
              <a:rPr lang="fr-FR" dirty="0" smtClean="0">
                <a:latin typeface="Times New Roman" panose="02020603050405020304" pitchFamily="18" charset="0"/>
                <a:cs typeface="Times New Roman" panose="02020603050405020304" pitchFamily="18" charset="0"/>
              </a:rPr>
              <a:t>: Une </a:t>
            </a:r>
            <a:r>
              <a:rPr lang="fr-FR" dirty="0">
                <a:latin typeface="Times New Roman" panose="02020603050405020304" pitchFamily="18" charset="0"/>
                <a:cs typeface="Times New Roman" panose="02020603050405020304" pitchFamily="18" charset="0"/>
              </a:rPr>
              <a:t>transaction doit être </a:t>
            </a:r>
            <a:r>
              <a:rPr lang="fr-FR" dirty="0" smtClean="0">
                <a:latin typeface="Times New Roman" panose="02020603050405020304" pitchFamily="18" charset="0"/>
                <a:cs typeface="Times New Roman" panose="02020603050405020304" pitchFamily="18" charset="0"/>
              </a:rPr>
              <a:t>atomique, c’est-à-dire </a:t>
            </a:r>
            <a:r>
              <a:rPr lang="fr-FR" dirty="0">
                <a:latin typeface="Times New Roman" panose="02020603050405020304" pitchFamily="18" charset="0"/>
                <a:cs typeface="Times New Roman" panose="02020603050405020304" pitchFamily="18" charset="0"/>
              </a:rPr>
              <a:t>qu’elle doit former une entité complète et indivisible. </a:t>
            </a:r>
            <a:endParaRPr lang="fr-FR"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Chaque </a:t>
            </a:r>
            <a:r>
              <a:rPr lang="fr-FR" dirty="0">
                <a:latin typeface="Times New Roman" panose="02020603050405020304" pitchFamily="18" charset="0"/>
                <a:cs typeface="Times New Roman" panose="02020603050405020304" pitchFamily="18" charset="0"/>
              </a:rPr>
              <a:t>élément de la transaction</a:t>
            </a:r>
            <a:r>
              <a:rPr lang="fr-FR" dirty="0" smtClean="0">
                <a:latin typeface="Times New Roman" panose="02020603050405020304" pitchFamily="18" charset="0"/>
                <a:cs typeface="Times New Roman" panose="02020603050405020304" pitchFamily="18" charset="0"/>
              </a:rPr>
              <a:t>, chaque </a:t>
            </a:r>
            <a:r>
              <a:rPr lang="fr-FR" dirty="0">
                <a:latin typeface="Times New Roman" panose="02020603050405020304" pitchFamily="18" charset="0"/>
                <a:cs typeface="Times New Roman" panose="02020603050405020304" pitchFamily="18" charset="0"/>
              </a:rPr>
              <a:t>requête effectuée, ne peut exister que dans la transaction</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pPr marL="0" indent="0" algn="just">
              <a:buNone/>
            </a:pPr>
            <a:r>
              <a:rPr lang="fr-FR" b="1" dirty="0" smtClean="0">
                <a:latin typeface="Times New Roman" panose="02020603050405020304" pitchFamily="18" charset="0"/>
                <a:cs typeface="Times New Roman" panose="02020603050405020304" pitchFamily="18" charset="0"/>
              </a:rPr>
              <a:t>Cohérence: </a:t>
            </a:r>
            <a:r>
              <a:rPr lang="fr-FR" dirty="0" smtClean="0">
                <a:latin typeface="Times New Roman" panose="02020603050405020304" pitchFamily="18" charset="0"/>
                <a:cs typeface="Times New Roman" panose="02020603050405020304" pitchFamily="18" charset="0"/>
              </a:rPr>
              <a:t>Les données doivent rester cohérentes dans tous les cas, </a:t>
            </a:r>
            <a:r>
              <a:rPr lang="fr-FR" dirty="0">
                <a:latin typeface="Times New Roman" panose="02020603050405020304" pitchFamily="18" charset="0"/>
                <a:cs typeface="Times New Roman" panose="02020603050405020304" pitchFamily="18" charset="0"/>
              </a:rPr>
              <a:t>que la transaction se termine </a:t>
            </a:r>
            <a:r>
              <a:rPr lang="fr-FR" dirty="0" smtClean="0">
                <a:latin typeface="Times New Roman" panose="02020603050405020304" pitchFamily="18" charset="0"/>
                <a:cs typeface="Times New Roman" panose="02020603050405020304" pitchFamily="18" charset="0"/>
              </a:rPr>
              <a:t>avec succès ou qu’elle </a:t>
            </a:r>
            <a:r>
              <a:rPr lang="fr-FR" dirty="0">
                <a:latin typeface="Times New Roman" panose="02020603050405020304" pitchFamily="18" charset="0"/>
                <a:cs typeface="Times New Roman" panose="02020603050405020304" pitchFamily="18" charset="0"/>
              </a:rPr>
              <a:t>soit interrompue</a:t>
            </a:r>
            <a:r>
              <a:rPr lang="fr-FR" dirty="0" smtClean="0">
                <a:latin typeface="Times New Roman" panose="02020603050405020304" pitchFamily="18" charset="0"/>
                <a:cs typeface="Times New Roman" panose="02020603050405020304" pitchFamily="18" charset="0"/>
              </a:rPr>
              <a:t>. Tant </a:t>
            </a:r>
            <a:r>
              <a:rPr lang="fr-FR" dirty="0">
                <a:latin typeface="Times New Roman" panose="02020603050405020304" pitchFamily="18" charset="0"/>
                <a:cs typeface="Times New Roman" panose="02020603050405020304" pitchFamily="18" charset="0"/>
              </a:rPr>
              <a:t>que la totalité des étapes n’a pas été réalisée avec succès, les données </a:t>
            </a:r>
            <a:r>
              <a:rPr lang="fr-FR" dirty="0" smtClean="0">
                <a:latin typeface="Times New Roman" panose="02020603050405020304" pitchFamily="18" charset="0"/>
                <a:cs typeface="Times New Roman" panose="02020603050405020304" pitchFamily="18" charset="0"/>
              </a:rPr>
              <a:t>restent dans </a:t>
            </a:r>
            <a:r>
              <a:rPr lang="fr-FR" dirty="0">
                <a:latin typeface="Times New Roman" panose="02020603050405020304" pitchFamily="18" charset="0"/>
                <a:cs typeface="Times New Roman" panose="02020603050405020304" pitchFamily="18" charset="0"/>
              </a:rPr>
              <a:t>leur état initial.</a:t>
            </a:r>
          </a:p>
        </p:txBody>
      </p:sp>
    </p:spTree>
    <p:extLst>
      <p:ext uri="{BB962C8B-B14F-4D97-AF65-F5344CB8AC3E}">
        <p14:creationId xmlns:p14="http://schemas.microsoft.com/office/powerpoint/2010/main" val="7804978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16632"/>
            <a:ext cx="8686800" cy="6009531"/>
          </a:xfrm>
        </p:spPr>
        <p:txBody>
          <a:bodyPr>
            <a:normAutofit/>
          </a:bodyPr>
          <a:lstStyle/>
          <a:p>
            <a:pPr marL="0" indent="0">
              <a:buNone/>
            </a:pPr>
            <a:r>
              <a:rPr lang="fr-FR" b="1" dirty="0">
                <a:latin typeface="Times New Roman" panose="02020603050405020304" pitchFamily="18" charset="0"/>
                <a:cs typeface="Times New Roman" panose="02020603050405020304" pitchFamily="18" charset="0"/>
              </a:rPr>
              <a:t>Isolation</a:t>
            </a:r>
            <a:r>
              <a:rPr lang="fr-FR" b="1" dirty="0" smtClean="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Chaque </a:t>
            </a:r>
            <a:r>
              <a:rPr lang="fr-FR" dirty="0">
                <a:latin typeface="Times New Roman" panose="02020603050405020304" pitchFamily="18" charset="0"/>
                <a:cs typeface="Times New Roman" panose="02020603050405020304" pitchFamily="18" charset="0"/>
              </a:rPr>
              <a:t>transaction doit être isolée, donc ne pas interagir avec une autre transaction. </a:t>
            </a:r>
            <a:r>
              <a:rPr lang="fr-FR" dirty="0" smtClean="0">
                <a:latin typeface="Times New Roman" panose="02020603050405020304" pitchFamily="18" charset="0"/>
                <a:cs typeface="Times New Roman" panose="02020603050405020304" pitchFamily="18" charset="0"/>
              </a:rPr>
              <a:t>Tous les transactions sont isoles pour éviter que l’</a:t>
            </a:r>
            <a:r>
              <a:rPr lang="fr-FR" dirty="0" err="1" smtClean="0">
                <a:latin typeface="Times New Roman" panose="02020603050405020304" pitchFamily="18" charset="0"/>
                <a:cs typeface="Times New Roman" panose="02020603050405020304" pitchFamily="18" charset="0"/>
              </a:rPr>
              <a:t>execution</a:t>
            </a:r>
            <a:r>
              <a:rPr lang="fr-FR" dirty="0" smtClean="0">
                <a:latin typeface="Times New Roman" panose="02020603050405020304" pitchFamily="18" charset="0"/>
                <a:cs typeface="Times New Roman" panose="02020603050405020304" pitchFamily="18" charset="0"/>
              </a:rPr>
              <a:t> de l’un n'interfère pas dans l’</a:t>
            </a:r>
            <a:r>
              <a:rPr lang="fr-FR" dirty="0" err="1" smtClean="0">
                <a:latin typeface="Times New Roman" panose="02020603050405020304" pitchFamily="18" charset="0"/>
                <a:cs typeface="Times New Roman" panose="02020603050405020304" pitchFamily="18" charset="0"/>
              </a:rPr>
              <a:t>execution</a:t>
            </a:r>
            <a:r>
              <a:rPr lang="fr-FR" dirty="0" smtClean="0">
                <a:latin typeface="Times New Roman" panose="02020603050405020304" pitchFamily="18" charset="0"/>
                <a:cs typeface="Times New Roman" panose="02020603050405020304" pitchFamily="18" charset="0"/>
              </a:rPr>
              <a:t> de l’autre. </a:t>
            </a:r>
            <a:r>
              <a:rPr lang="fr-FR" dirty="0">
                <a:latin typeface="Times New Roman" panose="02020603050405020304" pitchFamily="18" charset="0"/>
                <a:cs typeface="Times New Roman" panose="02020603050405020304" pitchFamily="18" charset="0"/>
              </a:rPr>
              <a:t>On isole </a:t>
            </a:r>
            <a:r>
              <a:rPr lang="fr-FR" dirty="0" smtClean="0">
                <a:latin typeface="Times New Roman" panose="02020603050405020304" pitchFamily="18" charset="0"/>
                <a:cs typeface="Times New Roman" panose="02020603050405020304" pitchFamily="18" charset="0"/>
              </a:rPr>
              <a:t>donc les transactions </a:t>
            </a:r>
            <a:r>
              <a:rPr lang="fr-FR" dirty="0">
                <a:latin typeface="Times New Roman" panose="02020603050405020304" pitchFamily="18" charset="0"/>
                <a:cs typeface="Times New Roman" panose="02020603050405020304" pitchFamily="18" charset="0"/>
              </a:rPr>
              <a:t>grâce aux </a:t>
            </a:r>
            <a:r>
              <a:rPr lang="fr-FR" dirty="0" smtClean="0">
                <a:latin typeface="Times New Roman" panose="02020603050405020304" pitchFamily="18" charset="0"/>
                <a:cs typeface="Times New Roman" panose="02020603050405020304" pitchFamily="18" charset="0"/>
              </a:rPr>
              <a:t>verrous.</a:t>
            </a:r>
          </a:p>
          <a:p>
            <a:pPr marL="0" indent="0" algn="just">
              <a:buNone/>
            </a:pPr>
            <a:r>
              <a:rPr lang="fr-FR" b="1" dirty="0">
                <a:latin typeface="Times New Roman" panose="02020603050405020304" pitchFamily="18" charset="0"/>
                <a:cs typeface="Times New Roman" panose="02020603050405020304" pitchFamily="18" charset="0"/>
              </a:rPr>
              <a:t>Durabilité</a:t>
            </a:r>
            <a:r>
              <a:rPr lang="fr-FR"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Une fois la transaction terminée, les données résultant de cette transaction doivent être stockées de manière durable, et pouvoir être récupérées, en cas de crash du serveur par exemple.</a:t>
            </a:r>
          </a:p>
        </p:txBody>
      </p:sp>
    </p:spTree>
    <p:extLst>
      <p:ext uri="{BB962C8B-B14F-4D97-AF65-F5344CB8AC3E}">
        <p14:creationId xmlns:p14="http://schemas.microsoft.com/office/powerpoint/2010/main" val="12177600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2536" y="44624"/>
            <a:ext cx="9577064" cy="792088"/>
          </a:xfrm>
        </p:spPr>
        <p:txBody>
          <a:bodyPr>
            <a:normAutofit fontScale="90000"/>
          </a:bodyPr>
          <a:lstStyle/>
          <a:p>
            <a:r>
              <a:rPr lang="fr-FR" b="1" dirty="0">
                <a:latin typeface="Times New Roman" panose="02020603050405020304" pitchFamily="18" charset="0"/>
                <a:cs typeface="Times New Roman" panose="02020603050405020304" pitchFamily="18" charset="0"/>
              </a:rPr>
              <a:t>0</a:t>
            </a:r>
            <a:r>
              <a:rPr lang="fr-FR" b="1" dirty="0" smtClean="0">
                <a:latin typeface="Times New Roman" panose="02020603050405020304" pitchFamily="18" charset="0"/>
                <a:cs typeface="Times New Roman" panose="02020603050405020304" pitchFamily="18" charset="0"/>
              </a:rPr>
              <a:t>.4.Les </a:t>
            </a:r>
            <a:r>
              <a:rPr lang="fr-FR" b="1" dirty="0">
                <a:latin typeface="Times New Roman" panose="02020603050405020304" pitchFamily="18" charset="0"/>
                <a:cs typeface="Times New Roman" panose="02020603050405020304" pitchFamily="18" charset="0"/>
              </a:rPr>
              <a:t>contraintes des </a:t>
            </a:r>
            <a:r>
              <a:rPr lang="fr-FR" b="1" dirty="0" smtClean="0">
                <a:latin typeface="Times New Roman" panose="02020603050405020304" pitchFamily="18" charset="0"/>
                <a:cs typeface="Times New Roman" panose="02020603050405020304" pitchFamily="18" charset="0"/>
              </a:rPr>
              <a:t>SGBD </a:t>
            </a:r>
            <a:r>
              <a:rPr lang="fr-FR" b="1" dirty="0">
                <a:latin typeface="Times New Roman" panose="02020603050405020304" pitchFamily="18" charset="0"/>
                <a:cs typeface="Times New Roman" panose="02020603050405020304" pitchFamily="18" charset="0"/>
              </a:rPr>
              <a:t>relationnels </a:t>
            </a:r>
          </a:p>
        </p:txBody>
      </p:sp>
      <p:sp>
        <p:nvSpPr>
          <p:cNvPr id="3" name="Espace réservé du contenu 2"/>
          <p:cNvSpPr>
            <a:spLocks noGrp="1"/>
          </p:cNvSpPr>
          <p:nvPr>
            <p:ph idx="1"/>
          </p:nvPr>
        </p:nvSpPr>
        <p:spPr>
          <a:xfrm>
            <a:off x="0" y="884239"/>
            <a:ext cx="9143999" cy="5544616"/>
          </a:xfrm>
        </p:spPr>
        <p:txBody>
          <a:bodyPr/>
          <a:lstStyle/>
          <a:p>
            <a:pPr marL="0" indent="457200" algn="just">
              <a:spcBef>
                <a:spcPts val="0"/>
              </a:spcBef>
              <a:buNone/>
            </a:pPr>
            <a:r>
              <a:rPr lang="fr-FR" dirty="0" smtClean="0">
                <a:latin typeface="Times New Roman" panose="02020603050405020304" pitchFamily="18" charset="0"/>
                <a:cs typeface="Times New Roman" panose="02020603050405020304" pitchFamily="18" charset="0"/>
              </a:rPr>
              <a:t>La </a:t>
            </a:r>
            <a:r>
              <a:rPr lang="fr-FR" dirty="0">
                <a:latin typeface="Times New Roman" panose="02020603050405020304" pitchFamily="18" charset="0"/>
                <a:cs typeface="Times New Roman" panose="02020603050405020304" pitchFamily="18" charset="0"/>
              </a:rPr>
              <a:t>plupart des moteurs de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relationnels se base sur le concept de la transaction 4 qui est une </a:t>
            </a:r>
            <a:r>
              <a:rPr lang="fr-FR" dirty="0" smtClean="0">
                <a:latin typeface="Times New Roman" panose="02020603050405020304" pitchFamily="18" charset="0"/>
                <a:cs typeface="Times New Roman" panose="02020603050405020304" pitchFamily="18" charset="0"/>
              </a:rPr>
              <a:t>unité </a:t>
            </a:r>
            <a:r>
              <a:rPr lang="fr-FR" dirty="0">
                <a:latin typeface="Times New Roman" panose="02020603050405020304" pitchFamily="18" charset="0"/>
                <a:cs typeface="Times New Roman" panose="02020603050405020304" pitchFamily="18" charset="0"/>
              </a:rPr>
              <a:t>d’action qui leur impose le respect des contraintes ACID acronyme de : </a:t>
            </a:r>
            <a:r>
              <a:rPr lang="fr-FR" b="1" dirty="0" smtClean="0">
                <a:latin typeface="Times New Roman" panose="02020603050405020304" pitchFamily="18" charset="0"/>
                <a:cs typeface="Times New Roman" panose="02020603050405020304" pitchFamily="18" charset="0"/>
              </a:rPr>
              <a:t>A</a:t>
            </a:r>
            <a:r>
              <a:rPr lang="fr-FR" dirty="0">
                <a:latin typeface="Times New Roman" panose="02020603050405020304" pitchFamily="18" charset="0"/>
                <a:cs typeface="Times New Roman" panose="02020603050405020304" pitchFamily="18" charset="0"/>
              </a:rPr>
              <a:t>tomicité </a:t>
            </a:r>
            <a:r>
              <a:rPr lang="fr-FR" b="1" dirty="0" smtClean="0">
                <a:latin typeface="Times New Roman" panose="02020603050405020304" pitchFamily="18" charset="0"/>
                <a:cs typeface="Times New Roman" panose="02020603050405020304" pitchFamily="18" charset="0"/>
              </a:rPr>
              <a:t>C</a:t>
            </a:r>
            <a:r>
              <a:rPr lang="fr-FR" dirty="0" smtClean="0">
                <a:latin typeface="Times New Roman" panose="02020603050405020304" pitchFamily="18" charset="0"/>
                <a:cs typeface="Times New Roman" panose="02020603050405020304" pitchFamily="18" charset="0"/>
              </a:rPr>
              <a:t>ohérence ou </a:t>
            </a:r>
            <a:r>
              <a:rPr lang="fr-FR" dirty="0">
                <a:latin typeface="Times New Roman" panose="02020603050405020304" pitchFamily="18" charset="0"/>
                <a:cs typeface="Times New Roman" panose="02020603050405020304" pitchFamily="18" charset="0"/>
              </a:rPr>
              <a:t>c</a:t>
            </a:r>
            <a:r>
              <a:rPr lang="fr-FR" dirty="0" smtClean="0">
                <a:latin typeface="Times New Roman" panose="02020603050405020304" pitchFamily="18" charset="0"/>
                <a:cs typeface="Times New Roman" panose="02020603050405020304" pitchFamily="18" charset="0"/>
              </a:rPr>
              <a:t>onsistance </a:t>
            </a:r>
            <a:r>
              <a:rPr lang="fr-FR" b="1" dirty="0">
                <a:latin typeface="Times New Roman" panose="02020603050405020304" pitchFamily="18" charset="0"/>
                <a:cs typeface="Times New Roman" panose="02020603050405020304" pitchFamily="18" charset="0"/>
              </a:rPr>
              <a:t>I</a:t>
            </a:r>
            <a:r>
              <a:rPr lang="fr-FR" dirty="0">
                <a:latin typeface="Times New Roman" panose="02020603050405020304" pitchFamily="18" charset="0"/>
                <a:cs typeface="Times New Roman" panose="02020603050405020304" pitchFamily="18" charset="0"/>
              </a:rPr>
              <a:t>solation </a:t>
            </a:r>
            <a:r>
              <a:rPr lang="fr-FR" b="1" dirty="0" smtClean="0">
                <a:latin typeface="Times New Roman" panose="02020603050405020304" pitchFamily="18" charset="0"/>
                <a:cs typeface="Times New Roman" panose="02020603050405020304" pitchFamily="18" charset="0"/>
              </a:rPr>
              <a:t>D</a:t>
            </a:r>
            <a:r>
              <a:rPr lang="fr-FR" dirty="0" smtClean="0">
                <a:latin typeface="Times New Roman" panose="02020603050405020304" pitchFamily="18" charset="0"/>
                <a:cs typeface="Times New Roman" panose="02020603050405020304" pitchFamily="18" charset="0"/>
              </a:rPr>
              <a:t>urabilité </a:t>
            </a:r>
            <a:r>
              <a:rPr lang="fr-FR" dirty="0">
                <a:latin typeface="Times New Roman" panose="02020603050405020304" pitchFamily="18" charset="0"/>
                <a:cs typeface="Times New Roman" panose="02020603050405020304" pitchFamily="18" charset="0"/>
              </a:rPr>
              <a:t>et qu’on nomme donc </a:t>
            </a:r>
            <a:r>
              <a:rPr lang="fr-FR" dirty="0" smtClean="0">
                <a:latin typeface="Times New Roman" panose="02020603050405020304" pitchFamily="18" charset="0"/>
                <a:cs typeface="Times New Roman" panose="02020603050405020304" pitchFamily="18" charset="0"/>
              </a:rPr>
              <a:t>l’</a:t>
            </a:r>
            <a:r>
              <a:rPr lang="fr-FR" dirty="0" err="1" smtClean="0">
                <a:latin typeface="Times New Roman" panose="02020603050405020304" pitchFamily="18" charset="0"/>
                <a:cs typeface="Times New Roman" panose="02020603050405020304" pitchFamily="18" charset="0"/>
              </a:rPr>
              <a:t>acidite</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de la </a:t>
            </a:r>
            <a:r>
              <a:rPr lang="fr-FR" dirty="0" smtClean="0">
                <a:latin typeface="Times New Roman" panose="02020603050405020304" pitchFamily="18" charset="0"/>
                <a:cs typeface="Times New Roman" panose="02020603050405020304" pitchFamily="18" charset="0"/>
              </a:rPr>
              <a:t>transaction : ACID</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6450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16632"/>
            <a:ext cx="9036496" cy="6624736"/>
          </a:xfrm>
        </p:spPr>
        <p:txBody>
          <a:bodyPr>
            <a:normAutofit/>
          </a:bodyPr>
          <a:lstStyle/>
          <a:p>
            <a:pPr marL="0" indent="457200" algn="just">
              <a:spcBef>
                <a:spcPts val="0"/>
              </a:spcBef>
              <a:buNone/>
            </a:pPr>
            <a:r>
              <a:rPr lang="fr-FR" b="1" dirty="0" smtClean="0">
                <a:latin typeface="Times New Roman" panose="02020603050405020304" pitchFamily="18" charset="0"/>
                <a:cs typeface="Times New Roman" panose="02020603050405020304" pitchFamily="18" charset="0"/>
              </a:rPr>
              <a:t>0.5. </a:t>
            </a:r>
            <a:r>
              <a:rPr lang="fr-FR" b="1" dirty="0">
                <a:latin typeface="Times New Roman" panose="02020603050405020304" pitchFamily="18" charset="0"/>
                <a:cs typeface="Times New Roman" panose="02020603050405020304" pitchFamily="18" charset="0"/>
              </a:rPr>
              <a:t>Les Forces des </a:t>
            </a:r>
            <a:r>
              <a:rPr lang="fr-FR" b="1" dirty="0" err="1">
                <a:latin typeface="Times New Roman" panose="02020603050405020304" pitchFamily="18" charset="0"/>
                <a:cs typeface="Times New Roman" panose="02020603050405020304" pitchFamily="18" charset="0"/>
              </a:rPr>
              <a:t>SGBDs</a:t>
            </a:r>
            <a:r>
              <a:rPr lang="fr-FR" b="1" dirty="0">
                <a:latin typeface="Times New Roman" panose="02020603050405020304" pitchFamily="18" charset="0"/>
                <a:cs typeface="Times New Roman" panose="02020603050405020304" pitchFamily="18" charset="0"/>
              </a:rPr>
              <a:t> relationnels </a:t>
            </a:r>
          </a:p>
          <a:p>
            <a:pPr marL="0" indent="457200" algn="just">
              <a:spcBef>
                <a:spcPts val="0"/>
              </a:spcBef>
              <a:buNone/>
            </a:pPr>
            <a:r>
              <a:rPr lang="fr-FR" dirty="0" smtClean="0">
                <a:latin typeface="Times New Roman" panose="02020603050405020304" pitchFamily="18" charset="0"/>
                <a:cs typeface="Times New Roman" panose="02020603050405020304" pitchFamily="18" charset="0"/>
              </a:rPr>
              <a:t>Le succès </a:t>
            </a:r>
            <a:r>
              <a:rPr lang="fr-FR" dirty="0">
                <a:latin typeface="Times New Roman" panose="02020603050405020304" pitchFamily="18" charset="0"/>
                <a:cs typeface="Times New Roman" panose="02020603050405020304" pitchFamily="18" charset="0"/>
              </a:rPr>
              <a:t>des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relationnels est </a:t>
            </a:r>
            <a:r>
              <a:rPr lang="fr-FR" dirty="0" smtClean="0">
                <a:latin typeface="Times New Roman" panose="02020603050405020304" pitchFamily="18" charset="0"/>
                <a:cs typeface="Times New Roman" panose="02020603050405020304" pitchFamily="18" charset="0"/>
              </a:rPr>
              <a:t>du </a:t>
            </a:r>
            <a:r>
              <a:rPr lang="fr-FR" dirty="0">
                <a:latin typeface="Times New Roman" panose="02020603050405020304" pitchFamily="18" charset="0"/>
                <a:cs typeface="Times New Roman" panose="02020603050405020304" pitchFamily="18" charset="0"/>
              </a:rPr>
              <a:t>essentiellement aux 12 </a:t>
            </a:r>
            <a:r>
              <a:rPr lang="fr-FR" dirty="0" smtClean="0">
                <a:latin typeface="Times New Roman" panose="02020603050405020304" pitchFamily="18" charset="0"/>
                <a:cs typeface="Times New Roman" panose="02020603050405020304" pitchFamily="18" charset="0"/>
              </a:rPr>
              <a:t>règles </a:t>
            </a:r>
            <a:r>
              <a:rPr lang="fr-FR" dirty="0">
                <a:latin typeface="Times New Roman" panose="02020603050405020304" pitchFamily="18" charset="0"/>
                <a:cs typeface="Times New Roman" panose="02020603050405020304" pitchFamily="18" charset="0"/>
              </a:rPr>
              <a:t>de CODD et le </a:t>
            </a:r>
            <a:r>
              <a:rPr lang="fr-FR" dirty="0" smtClean="0">
                <a:latin typeface="Times New Roman" panose="02020603050405020304" pitchFamily="18" charset="0"/>
                <a:cs typeface="Times New Roman" panose="02020603050405020304" pitchFamily="18" charset="0"/>
              </a:rPr>
              <a:t>modèle </a:t>
            </a:r>
            <a:r>
              <a:rPr lang="fr-FR" dirty="0">
                <a:latin typeface="Times New Roman" panose="02020603050405020304" pitchFamily="18" charset="0"/>
                <a:cs typeface="Times New Roman" panose="02020603050405020304" pitchFamily="18" charset="0"/>
              </a:rPr>
              <a:t>relationnel qui a permis de </a:t>
            </a:r>
            <a:r>
              <a:rPr lang="fr-FR" dirty="0" smtClean="0">
                <a:latin typeface="Times New Roman" panose="02020603050405020304" pitchFamily="18" charset="0"/>
                <a:cs typeface="Times New Roman" panose="02020603050405020304" pitchFamily="18" charset="0"/>
              </a:rPr>
              <a:t>développer </a:t>
            </a:r>
            <a:r>
              <a:rPr lang="fr-FR" dirty="0">
                <a:latin typeface="Times New Roman" panose="02020603050405020304" pitchFamily="18" charset="0"/>
                <a:cs typeface="Times New Roman" panose="02020603050405020304" pitchFamily="18" charset="0"/>
              </a:rPr>
              <a:t>une vision de ce qu’est ou doit </a:t>
            </a:r>
            <a:r>
              <a:rPr lang="fr-FR" dirty="0" smtClean="0">
                <a:latin typeface="Times New Roman" panose="02020603050405020304" pitchFamily="18" charset="0"/>
                <a:cs typeface="Times New Roman" panose="02020603050405020304" pitchFamily="18" charset="0"/>
              </a:rPr>
              <a:t>être </a:t>
            </a:r>
            <a:r>
              <a:rPr lang="fr-FR" dirty="0">
                <a:latin typeface="Times New Roman" panose="02020603050405020304" pitchFamily="18" charset="0"/>
                <a:cs typeface="Times New Roman" panose="02020603050405020304" pitchFamily="18" charset="0"/>
              </a:rPr>
              <a:t>une base de </a:t>
            </a:r>
            <a:r>
              <a:rPr lang="fr-FR" dirty="0" smtClean="0">
                <a:latin typeface="Times New Roman" panose="02020603050405020304" pitchFamily="18" charset="0"/>
                <a:cs typeface="Times New Roman" panose="02020603050405020304" pitchFamily="18" charset="0"/>
              </a:rPr>
              <a:t>données.</a:t>
            </a:r>
          </a:p>
          <a:p>
            <a:pPr marL="0" indent="457200" algn="just">
              <a:spcBef>
                <a:spcPts val="0"/>
              </a:spcBef>
              <a:buNone/>
            </a:pPr>
            <a:r>
              <a:rPr lang="fr-FR" dirty="0" err="1">
                <a:latin typeface="Times New Roman" panose="02020603050405020304" pitchFamily="18" charset="0"/>
                <a:cs typeface="Times New Roman" panose="02020603050405020304" pitchFamily="18" charset="0"/>
              </a:rPr>
              <a:t>Parmis</a:t>
            </a:r>
            <a:r>
              <a:rPr lang="fr-FR" dirty="0">
                <a:latin typeface="Times New Roman" panose="02020603050405020304" pitchFamily="18" charset="0"/>
                <a:cs typeface="Times New Roman" panose="02020603050405020304" pitchFamily="18" charset="0"/>
              </a:rPr>
              <a:t> ces nombreux avantages nous citons </a:t>
            </a:r>
            <a:r>
              <a:rPr lang="fr-FR" dirty="0" smtClean="0">
                <a:latin typeface="Times New Roman" panose="02020603050405020304" pitchFamily="18" charset="0"/>
                <a:cs typeface="Times New Roman" panose="02020603050405020304" pitchFamily="18" charset="0"/>
              </a:rPr>
              <a:t>:</a:t>
            </a:r>
          </a:p>
          <a:p>
            <a:pPr algn="just">
              <a:spcBef>
                <a:spcPts val="0"/>
              </a:spcBef>
            </a:pPr>
            <a:r>
              <a:rPr lang="fr-FR" b="1" dirty="0">
                <a:latin typeface="Times New Roman" panose="02020603050405020304" pitchFamily="18" charset="0"/>
                <a:cs typeface="Times New Roman" panose="02020603050405020304" pitchFamily="18" charset="0"/>
              </a:rPr>
              <a:t>Cohérence transactionnelle forte </a:t>
            </a:r>
            <a:r>
              <a:rPr lang="fr-FR" dirty="0">
                <a:latin typeface="Times New Roman" panose="02020603050405020304" pitchFamily="18" charset="0"/>
                <a:cs typeface="Times New Roman" panose="02020603050405020304" pitchFamily="18" charset="0"/>
              </a:rPr>
              <a:t>: garantissant la gestion de la concurrence, l’isolation entre les utilisateurs, la reprise sur panne</a:t>
            </a:r>
            <a:r>
              <a:rPr lang="fr-FR" dirty="0" smtClean="0">
                <a:latin typeface="Times New Roman" panose="02020603050405020304" pitchFamily="18" charset="0"/>
                <a:cs typeface="Times New Roman" panose="02020603050405020304" pitchFamily="18" charset="0"/>
              </a:rPr>
              <a:t>.</a:t>
            </a:r>
          </a:p>
          <a:p>
            <a:r>
              <a:rPr lang="fr-FR" b="1" dirty="0">
                <a:latin typeface="Times New Roman" panose="02020603050405020304" pitchFamily="18" charset="0"/>
                <a:cs typeface="Times New Roman" panose="02020603050405020304" pitchFamily="18" charset="0"/>
              </a:rPr>
              <a:t>Séparation logique et physique </a:t>
            </a:r>
            <a:r>
              <a:rPr lang="fr-FR" dirty="0">
                <a:latin typeface="Times New Roman" panose="02020603050405020304" pitchFamily="18" charset="0"/>
                <a:cs typeface="Times New Roman" panose="02020603050405020304" pitchFamily="18" charset="0"/>
              </a:rPr>
              <a:t>: il y a une forte indépendance entre :</a:t>
            </a:r>
          </a:p>
          <a:p>
            <a:pPr lvl="3">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	Modèle de données et structures de stockage</a:t>
            </a:r>
          </a:p>
          <a:p>
            <a:pPr lvl="3">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          Requêtes déclaratives et exécution. </a:t>
            </a:r>
          </a:p>
          <a:p>
            <a:pPr marL="0" indent="457200" algn="just">
              <a:spcBef>
                <a:spcPts val="0"/>
              </a:spcBef>
              <a:buNone/>
            </a:pPr>
            <a:endParaRPr lang="fr-FR" dirty="0"/>
          </a:p>
          <a:p>
            <a:pPr marL="0" indent="457200" algn="just">
              <a:spcBef>
                <a:spcPts val="0"/>
              </a:spcBef>
              <a:buNone/>
            </a:pPr>
            <a:endParaRPr lang="fr-FR" dirty="0" smtClean="0"/>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1899488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260648"/>
            <a:ext cx="9036496" cy="6597352"/>
          </a:xfrm>
        </p:spPr>
        <p:txBody>
          <a:bodyPr>
            <a:normAutofit/>
          </a:bodyPr>
          <a:lstStyle/>
          <a:p>
            <a:pPr algn="just"/>
            <a:r>
              <a:rPr lang="fr-FR" b="1" dirty="0" smtClean="0">
                <a:latin typeface="Times New Roman" panose="02020603050405020304" pitchFamily="18" charset="0"/>
                <a:cs typeface="Times New Roman" panose="02020603050405020304" pitchFamily="18" charset="0"/>
              </a:rPr>
              <a:t>Structuration </a:t>
            </a:r>
            <a:r>
              <a:rPr lang="fr-FR" b="1" dirty="0">
                <a:latin typeface="Times New Roman" panose="02020603050405020304" pitchFamily="18" charset="0"/>
                <a:cs typeface="Times New Roman" panose="02020603050405020304" pitchFamily="18" charset="0"/>
              </a:rPr>
              <a:t>forte des </a:t>
            </a:r>
            <a:r>
              <a:rPr lang="fr-FR" b="1" dirty="0" smtClean="0">
                <a:latin typeface="Times New Roman" panose="02020603050405020304" pitchFamily="18" charset="0"/>
                <a:cs typeface="Times New Roman" panose="02020603050405020304" pitchFamily="18" charset="0"/>
              </a:rPr>
              <a:t>données : </a:t>
            </a:r>
            <a:r>
              <a:rPr lang="fr-FR" dirty="0" smtClean="0">
                <a:latin typeface="Times New Roman" panose="02020603050405020304" pitchFamily="18" charset="0"/>
                <a:cs typeface="Times New Roman" panose="02020603050405020304" pitchFamily="18" charset="0"/>
              </a:rPr>
              <a:t>  Simplicité </a:t>
            </a:r>
            <a:r>
              <a:rPr lang="fr-FR" dirty="0">
                <a:latin typeface="Times New Roman" panose="02020603050405020304" pitchFamily="18" charset="0"/>
                <a:cs typeface="Times New Roman" panose="02020603050405020304" pitchFamily="18" charset="0"/>
              </a:rPr>
              <a:t>de </a:t>
            </a:r>
            <a:r>
              <a:rPr lang="fr-FR" dirty="0" smtClean="0">
                <a:latin typeface="Times New Roman" panose="02020603050405020304" pitchFamily="18" charset="0"/>
                <a:cs typeface="Times New Roman" panose="02020603050405020304" pitchFamily="18" charset="0"/>
              </a:rPr>
              <a:t>présentation, </a:t>
            </a:r>
            <a:r>
              <a:rPr lang="fr-FR" dirty="0">
                <a:latin typeface="Times New Roman" panose="02020603050405020304" pitchFamily="18" charset="0"/>
                <a:cs typeface="Times New Roman" panose="02020603050405020304" pitchFamily="18" charset="0"/>
              </a:rPr>
              <a:t>les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sont </a:t>
            </a:r>
            <a:r>
              <a:rPr lang="fr-FR" dirty="0" smtClean="0">
                <a:latin typeface="Times New Roman" panose="02020603050405020304" pitchFamily="18" charset="0"/>
                <a:cs typeface="Times New Roman" panose="02020603050405020304" pitchFamily="18" charset="0"/>
              </a:rPr>
              <a:t>sauvegardées </a:t>
            </a:r>
            <a:r>
              <a:rPr lang="fr-FR" dirty="0">
                <a:latin typeface="Times New Roman" panose="02020603050405020304" pitchFamily="18" charset="0"/>
                <a:cs typeface="Times New Roman" panose="02020603050405020304" pitchFamily="18" charset="0"/>
              </a:rPr>
              <a:t>dans des tables</a:t>
            </a:r>
            <a:r>
              <a:rPr lang="fr-FR" dirty="0" smtClean="0">
                <a:latin typeface="Times New Roman" panose="02020603050405020304" pitchFamily="18" charset="0"/>
                <a:cs typeface="Times New Roman" panose="02020603050405020304" pitchFamily="18" charset="0"/>
              </a:rPr>
              <a:t>.</a:t>
            </a:r>
          </a:p>
          <a:p>
            <a:pPr algn="just"/>
            <a:r>
              <a:rPr lang="fr-FR" b="1" dirty="0" smtClean="0">
                <a:latin typeface="Times New Roman" panose="02020603050405020304" pitchFamily="18" charset="0"/>
                <a:cs typeface="Times New Roman" panose="02020603050405020304" pitchFamily="18" charset="0"/>
              </a:rPr>
              <a:t>Capacité a gérer </a:t>
            </a:r>
            <a:r>
              <a:rPr lang="fr-FR" b="1" dirty="0">
                <a:latin typeface="Times New Roman" panose="02020603050405020304" pitchFamily="18" charset="0"/>
                <a:cs typeface="Times New Roman" panose="02020603050405020304" pitchFamily="18" charset="0"/>
              </a:rPr>
              <a:t>des </a:t>
            </a:r>
            <a:r>
              <a:rPr lang="fr-FR" b="1" dirty="0" smtClean="0">
                <a:latin typeface="Times New Roman" panose="02020603050405020304" pitchFamily="18" charset="0"/>
                <a:cs typeface="Times New Roman" panose="02020603050405020304" pitchFamily="18" charset="0"/>
              </a:rPr>
              <a:t>requêtes très </a:t>
            </a:r>
            <a:r>
              <a:rPr lang="fr-FR" b="1" dirty="0">
                <a:latin typeface="Times New Roman" panose="02020603050405020304" pitchFamily="18" charset="0"/>
                <a:cs typeface="Times New Roman" panose="02020603050405020304" pitchFamily="18" charset="0"/>
              </a:rPr>
              <a:t>complexes</a:t>
            </a:r>
            <a:r>
              <a:rPr lang="fr-FR" b="1" dirty="0" smtClean="0">
                <a:latin typeface="Times New Roman" panose="02020603050405020304" pitchFamily="18" charset="0"/>
                <a:cs typeface="Times New Roman" panose="02020603050405020304" pitchFamily="18" charset="0"/>
              </a:rPr>
              <a:t>.</a:t>
            </a:r>
          </a:p>
          <a:p>
            <a:pPr algn="just"/>
            <a:r>
              <a:rPr lang="fr-FR" b="1" dirty="0">
                <a:latin typeface="Times New Roman" panose="02020603050405020304" pitchFamily="18" charset="0"/>
                <a:cs typeface="Times New Roman" panose="02020603050405020304" pitchFamily="18" charset="0"/>
              </a:rPr>
              <a:t>Optimisation très fine des requêtes, index permettant un accès rapide aux données.</a:t>
            </a:r>
          </a:p>
          <a:p>
            <a:pPr algn="just"/>
            <a:r>
              <a:rPr lang="fr-FR" b="1" dirty="0">
                <a:latin typeface="Times New Roman" panose="02020603050405020304" pitchFamily="18" charset="0"/>
                <a:cs typeface="Times New Roman" panose="02020603050405020304" pitchFamily="18" charset="0"/>
              </a:rPr>
              <a:t>Logiciels murs, stables, efficaces, riches en fonctionnalités et en interfaces.</a:t>
            </a:r>
          </a:p>
          <a:p>
            <a:pPr algn="just"/>
            <a:r>
              <a:rPr lang="fr-FR" b="1" dirty="0">
                <a:latin typeface="Times New Roman" panose="02020603050405020304" pitchFamily="18" charset="0"/>
                <a:cs typeface="Times New Roman" panose="02020603050405020304" pitchFamily="18" charset="0"/>
              </a:rPr>
              <a:t>Contraintes d’</a:t>
            </a:r>
            <a:r>
              <a:rPr lang="fr-FR" b="1" dirty="0" err="1">
                <a:latin typeface="Times New Roman" panose="02020603050405020304" pitchFamily="18" charset="0"/>
                <a:cs typeface="Times New Roman" panose="02020603050405020304" pitchFamily="18" charset="0"/>
              </a:rPr>
              <a:t>integrite</a:t>
            </a:r>
            <a:r>
              <a:rPr lang="fr-FR" b="1" dirty="0">
                <a:latin typeface="Times New Roman" panose="02020603050405020304" pitchFamily="18" charset="0"/>
                <a:cs typeface="Times New Roman" panose="02020603050405020304" pitchFamily="18" charset="0"/>
              </a:rPr>
              <a:t> permettant d’assurer des invariants sur les données. </a:t>
            </a:r>
          </a:p>
          <a:p>
            <a:pPr algn="just"/>
            <a:endParaRPr 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5776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82954" y="0"/>
            <a:ext cx="8229600" cy="792088"/>
          </a:xfrm>
        </p:spPr>
        <p:txBody>
          <a:bodyPr>
            <a:normAutofit/>
          </a:bodyPr>
          <a:lstStyle/>
          <a:p>
            <a:r>
              <a:rPr lang="fr-FR" sz="3200" b="1" dirty="0">
                <a:latin typeface="Times New Roman" panose="02020603050405020304" pitchFamily="18" charset="0"/>
                <a:ea typeface="+mn-ea"/>
                <a:cs typeface="Times New Roman" panose="02020603050405020304" pitchFamily="18" charset="0"/>
              </a:rPr>
              <a:t>0</a:t>
            </a:r>
            <a:r>
              <a:rPr lang="fr-FR" sz="3200" b="1" dirty="0" smtClean="0">
                <a:latin typeface="Times New Roman" panose="02020603050405020304" pitchFamily="18" charset="0"/>
                <a:ea typeface="+mn-ea"/>
                <a:cs typeface="Times New Roman" panose="02020603050405020304" pitchFamily="18" charset="0"/>
              </a:rPr>
              <a:t>.6.Les </a:t>
            </a:r>
            <a:r>
              <a:rPr lang="fr-FR" sz="3200" b="1" dirty="0">
                <a:latin typeface="Times New Roman" panose="02020603050405020304" pitchFamily="18" charset="0"/>
                <a:ea typeface="+mn-ea"/>
                <a:cs typeface="Times New Roman" panose="02020603050405020304" pitchFamily="18" charset="0"/>
              </a:rPr>
              <a:t>limites des </a:t>
            </a:r>
            <a:r>
              <a:rPr lang="fr-FR" sz="3200" b="1" dirty="0" err="1">
                <a:latin typeface="Times New Roman" panose="02020603050405020304" pitchFamily="18" charset="0"/>
                <a:ea typeface="+mn-ea"/>
                <a:cs typeface="Times New Roman" panose="02020603050405020304" pitchFamily="18" charset="0"/>
              </a:rPr>
              <a:t>SGBDs</a:t>
            </a:r>
            <a:r>
              <a:rPr lang="fr-FR" sz="3200" b="1" dirty="0">
                <a:latin typeface="Times New Roman" panose="02020603050405020304" pitchFamily="18" charset="0"/>
                <a:ea typeface="+mn-ea"/>
                <a:cs typeface="Times New Roman" panose="02020603050405020304" pitchFamily="18" charset="0"/>
              </a:rPr>
              <a:t> relationnels</a:t>
            </a:r>
          </a:p>
        </p:txBody>
      </p:sp>
      <p:sp>
        <p:nvSpPr>
          <p:cNvPr id="3" name="Espace réservé du contenu 2"/>
          <p:cNvSpPr>
            <a:spLocks noGrp="1"/>
          </p:cNvSpPr>
          <p:nvPr>
            <p:ph idx="1"/>
          </p:nvPr>
        </p:nvSpPr>
        <p:spPr>
          <a:xfrm>
            <a:off x="35496" y="764704"/>
            <a:ext cx="9036496" cy="6065912"/>
          </a:xfrm>
        </p:spPr>
        <p:txBody>
          <a:bodyPr>
            <a:normAutofit/>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Bien que les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relationnels ont fait </a:t>
            </a:r>
            <a:r>
              <a:rPr lang="fr-FR" dirty="0" smtClean="0">
                <a:latin typeface="Times New Roman" panose="02020603050405020304" pitchFamily="18" charset="0"/>
                <a:cs typeface="Times New Roman" panose="02020603050405020304" pitchFamily="18" charset="0"/>
              </a:rPr>
              <a:t>succès </a:t>
            </a:r>
            <a:r>
              <a:rPr lang="fr-FR" dirty="0">
                <a:latin typeface="Times New Roman" panose="02020603050405020304" pitchFamily="18" charset="0"/>
                <a:cs typeface="Times New Roman" panose="02020603050405020304" pitchFamily="18" charset="0"/>
              </a:rPr>
              <a:t>depuis plus de 20 ans. </a:t>
            </a:r>
            <a:r>
              <a:rPr lang="fr-FR" dirty="0" smtClean="0">
                <a:latin typeface="Times New Roman" panose="02020603050405020304" pitchFamily="18" charset="0"/>
                <a:cs typeface="Times New Roman" panose="02020603050405020304" pitchFamily="18" charset="0"/>
              </a:rPr>
              <a:t>Néanmoins, </a:t>
            </a:r>
            <a:r>
              <a:rPr lang="fr-FR" dirty="0">
                <a:latin typeface="Times New Roman" panose="02020603050405020304" pitchFamily="18" charset="0"/>
                <a:cs typeface="Times New Roman" panose="02020603050405020304" pitchFamily="18" charset="0"/>
              </a:rPr>
              <a:t>un certain nombre de limitations importantes sont apparues. Les premiers acteurs qui ont </a:t>
            </a:r>
            <a:r>
              <a:rPr lang="fr-FR" dirty="0" smtClean="0">
                <a:latin typeface="Times New Roman" panose="02020603050405020304" pitchFamily="18" charset="0"/>
                <a:cs typeface="Times New Roman" panose="02020603050405020304" pitchFamily="18" charset="0"/>
              </a:rPr>
              <a:t>rencontre </a:t>
            </a:r>
            <a:r>
              <a:rPr lang="fr-FR" dirty="0">
                <a:latin typeface="Times New Roman" panose="02020603050405020304" pitchFamily="18" charset="0"/>
                <a:cs typeface="Times New Roman" panose="02020603050405020304" pitchFamily="18" charset="0"/>
              </a:rPr>
              <a:t>ces limites furent les </a:t>
            </a:r>
            <a:r>
              <a:rPr lang="fr-FR" dirty="0" smtClean="0">
                <a:latin typeface="Times New Roman" panose="02020603050405020304" pitchFamily="18" charset="0"/>
                <a:cs typeface="Times New Roman" panose="02020603050405020304" pitchFamily="18" charset="0"/>
              </a:rPr>
              <a:t>géants </a:t>
            </a:r>
            <a:r>
              <a:rPr lang="fr-FR" dirty="0">
                <a:latin typeface="Times New Roman" panose="02020603050405020304" pitchFamily="18" charset="0"/>
                <a:cs typeface="Times New Roman" panose="02020603050405020304" pitchFamily="18" charset="0"/>
              </a:rPr>
              <a:t>du web. </a:t>
            </a:r>
            <a:endParaRPr lang="fr-FR" dirty="0" smtClean="0">
              <a:latin typeface="Times New Roman" panose="02020603050405020304" pitchFamily="18" charset="0"/>
              <a:cs typeface="Times New Roman" panose="02020603050405020304" pitchFamily="18" charset="0"/>
            </a:endParaRPr>
          </a:p>
          <a:p>
            <a:pPr marL="0" indent="457200" algn="just">
              <a:spcBef>
                <a:spcPts val="0"/>
              </a:spcBef>
              <a:buNone/>
            </a:pPr>
            <a:r>
              <a:rPr lang="fr-FR" dirty="0" smtClean="0">
                <a:latin typeface="Times New Roman" panose="02020603050405020304" pitchFamily="18" charset="0"/>
                <a:cs typeface="Times New Roman" panose="02020603050405020304" pitchFamily="18" charset="0"/>
              </a:rPr>
              <a:t>Le </a:t>
            </a:r>
            <a:r>
              <a:rPr lang="fr-FR" dirty="0">
                <a:latin typeface="Times New Roman" panose="02020603050405020304" pitchFamily="18" charset="0"/>
                <a:cs typeface="Times New Roman" panose="02020603050405020304" pitchFamily="18" charset="0"/>
              </a:rPr>
              <a:t>constat </a:t>
            </a:r>
            <a:r>
              <a:rPr lang="fr-FR" dirty="0" smtClean="0">
                <a:latin typeface="Times New Roman" panose="02020603050405020304" pitchFamily="18" charset="0"/>
                <a:cs typeface="Times New Roman" panose="02020603050405020304" pitchFamily="18" charset="0"/>
              </a:rPr>
              <a:t>était </a:t>
            </a:r>
            <a:r>
              <a:rPr lang="fr-FR" dirty="0">
                <a:latin typeface="Times New Roman" panose="02020603050405020304" pitchFamily="18" charset="0"/>
                <a:cs typeface="Times New Roman" panose="02020603050405020304" pitchFamily="18" charset="0"/>
              </a:rPr>
              <a:t>simple : les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relationnels </a:t>
            </a:r>
            <a:r>
              <a:rPr lang="fr-FR" dirty="0">
                <a:latin typeface="Times New Roman" panose="02020603050405020304" pitchFamily="18" charset="0"/>
                <a:cs typeface="Times New Roman" panose="02020603050405020304" pitchFamily="18" charset="0"/>
              </a:rPr>
              <a:t>ne sont plus une solution pour un </a:t>
            </a:r>
            <a:r>
              <a:rPr lang="fr-FR" b="1" dirty="0">
                <a:latin typeface="Times New Roman" panose="02020603050405020304" pitchFamily="18" charset="0"/>
                <a:cs typeface="Times New Roman" panose="02020603050405020304" pitchFamily="18" charset="0"/>
              </a:rPr>
              <a:t>environnement </a:t>
            </a:r>
            <a:r>
              <a:rPr lang="fr-FR" b="1" dirty="0" smtClean="0">
                <a:latin typeface="Times New Roman" panose="02020603050405020304" pitchFamily="18" charset="0"/>
                <a:cs typeface="Times New Roman" panose="02020603050405020304" pitchFamily="18" charset="0"/>
              </a:rPr>
              <a:t>distribue </a:t>
            </a:r>
            <a:r>
              <a:rPr lang="fr-FR" b="1" dirty="0">
                <a:latin typeface="Times New Roman" panose="02020603050405020304" pitchFamily="18" charset="0"/>
                <a:cs typeface="Times New Roman" panose="02020603050405020304" pitchFamily="18" charset="0"/>
              </a:rPr>
              <a:t>requis par les volumes gigantesques de </a:t>
            </a:r>
            <a:r>
              <a:rPr lang="fr-FR" b="1" dirty="0" smtClean="0">
                <a:latin typeface="Times New Roman" panose="02020603050405020304" pitchFamily="18" charset="0"/>
                <a:cs typeface="Times New Roman" panose="02020603050405020304" pitchFamily="18" charset="0"/>
              </a:rPr>
              <a:t>données,</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ce n’est pas tant le langage SQL en lui </a:t>
            </a:r>
            <a:r>
              <a:rPr lang="fr-FR" dirty="0" smtClean="0">
                <a:latin typeface="Times New Roman" panose="02020603050405020304" pitchFamily="18" charset="0"/>
                <a:cs typeface="Times New Roman" panose="02020603050405020304" pitchFamily="18" charset="0"/>
              </a:rPr>
              <a:t>même </a:t>
            </a:r>
            <a:r>
              <a:rPr lang="fr-FR" dirty="0">
                <a:latin typeface="Times New Roman" panose="02020603050405020304" pitchFamily="18" charset="0"/>
                <a:cs typeface="Times New Roman" panose="02020603050405020304" pitchFamily="18" charset="0"/>
              </a:rPr>
              <a:t>qui est </a:t>
            </a:r>
            <a:r>
              <a:rPr lang="fr-FR" dirty="0" smtClean="0">
                <a:latin typeface="Times New Roman" panose="02020603050405020304" pitchFamily="18" charset="0"/>
                <a:cs typeface="Times New Roman" panose="02020603050405020304" pitchFamily="18" charset="0"/>
              </a:rPr>
              <a:t>inadapté </a:t>
            </a:r>
            <a:r>
              <a:rPr lang="fr-FR" dirty="0">
                <a:latin typeface="Times New Roman" panose="02020603050405020304" pitchFamily="18" charset="0"/>
                <a:cs typeface="Times New Roman" panose="02020603050405020304" pitchFamily="18" charset="0"/>
              </a:rPr>
              <a:t>mais les grands principes sur lesquels il a </a:t>
            </a:r>
            <a:r>
              <a:rPr lang="fr-FR" dirty="0" smtClean="0">
                <a:latin typeface="Times New Roman" panose="02020603050405020304" pitchFamily="18" charset="0"/>
                <a:cs typeface="Times New Roman" panose="02020603050405020304" pitchFamily="18" charset="0"/>
              </a:rPr>
              <a:t>été </a:t>
            </a:r>
            <a:r>
              <a:rPr lang="fr-FR" dirty="0">
                <a:latin typeface="Times New Roman" panose="02020603050405020304" pitchFamily="18" charset="0"/>
                <a:cs typeface="Times New Roman" panose="02020603050405020304" pitchFamily="18" charset="0"/>
              </a:rPr>
              <a:t>construit (le </a:t>
            </a:r>
            <a:r>
              <a:rPr lang="fr-FR" dirty="0" smtClean="0">
                <a:latin typeface="Times New Roman" panose="02020603050405020304" pitchFamily="18" charset="0"/>
                <a:cs typeface="Times New Roman" panose="02020603050405020304" pitchFamily="18" charset="0"/>
              </a:rPr>
              <a:t>modèle </a:t>
            </a:r>
            <a:r>
              <a:rPr lang="fr-FR" dirty="0">
                <a:latin typeface="Times New Roman" panose="02020603050405020304" pitchFamily="18" charset="0"/>
                <a:cs typeface="Times New Roman" panose="02020603050405020304" pitchFamily="18" charset="0"/>
              </a:rPr>
              <a:t>relationnel et transactionnel que nous avons vu tout en haut). </a:t>
            </a:r>
          </a:p>
        </p:txBody>
      </p:sp>
    </p:spTree>
    <p:extLst>
      <p:ext uri="{BB962C8B-B14F-4D97-AF65-F5344CB8AC3E}">
        <p14:creationId xmlns:p14="http://schemas.microsoft.com/office/powerpoint/2010/main" val="42460947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16632"/>
            <a:ext cx="9036496" cy="6741368"/>
          </a:xfrm>
        </p:spPr>
        <p:txBody>
          <a:bodyPr>
            <a:normAutofit fontScale="92500"/>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En effet, En </a:t>
            </a:r>
            <a:r>
              <a:rPr lang="fr-FR" dirty="0" err="1">
                <a:latin typeface="Times New Roman" panose="02020603050405020304" pitchFamily="18" charset="0"/>
                <a:cs typeface="Times New Roman" panose="02020603050405020304" pitchFamily="18" charset="0"/>
              </a:rPr>
              <a:t>Big</a:t>
            </a:r>
            <a:r>
              <a:rPr lang="fr-FR" dirty="0">
                <a:latin typeface="Times New Roman" panose="02020603050405020304" pitchFamily="18" charset="0"/>
                <a:cs typeface="Times New Roman" panose="02020603050405020304" pitchFamily="18" charset="0"/>
              </a:rPr>
              <a:t> Data, non seulement on doit </a:t>
            </a:r>
            <a:r>
              <a:rPr lang="fr-FR" dirty="0" err="1" smtClean="0">
                <a:latin typeface="Times New Roman" panose="02020603050405020304" pitchFamily="18" charset="0"/>
                <a:cs typeface="Times New Roman" panose="02020603050405020304" pitchFamily="18" charset="0"/>
              </a:rPr>
              <a:t>gerer</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des </a:t>
            </a:r>
            <a:r>
              <a:rPr lang="fr-FR" dirty="0" smtClean="0">
                <a:latin typeface="Times New Roman" panose="02020603050405020304" pitchFamily="18" charset="0"/>
                <a:cs typeface="Times New Roman" panose="02020603050405020304" pitchFamily="18" charset="0"/>
              </a:rPr>
              <a:t>quantités </a:t>
            </a:r>
            <a:r>
              <a:rPr lang="fr-FR" dirty="0">
                <a:latin typeface="Times New Roman" panose="02020603050405020304" pitchFamily="18" charset="0"/>
                <a:cs typeface="Times New Roman" panose="02020603050405020304" pitchFamily="18" charset="0"/>
              </a:rPr>
              <a:t>de </a:t>
            </a:r>
            <a:r>
              <a:rPr lang="fr-FR" dirty="0" smtClean="0">
                <a:latin typeface="Times New Roman" panose="02020603050405020304" pitchFamily="18" charset="0"/>
                <a:cs typeface="Times New Roman" panose="02020603050405020304" pitchFamily="18" charset="0"/>
              </a:rPr>
              <a:t>données très importantes </a:t>
            </a:r>
            <a:r>
              <a:rPr lang="fr-FR" dirty="0">
                <a:latin typeface="Times New Roman" panose="02020603050405020304" pitchFamily="18" charset="0"/>
                <a:cs typeface="Times New Roman" panose="02020603050405020304" pitchFamily="18" charset="0"/>
              </a:rPr>
              <a:t>, mais aussi on veut un </a:t>
            </a:r>
            <a:r>
              <a:rPr lang="fr-FR" dirty="0" smtClean="0">
                <a:latin typeface="Times New Roman" panose="02020603050405020304" pitchFamily="18" charset="0"/>
                <a:cs typeface="Times New Roman" panose="02020603050405020304" pitchFamily="18" charset="0"/>
              </a:rPr>
              <a:t>résultat très </a:t>
            </a:r>
            <a:r>
              <a:rPr lang="fr-FR" dirty="0">
                <a:latin typeface="Times New Roman" panose="02020603050405020304" pitchFamily="18" charset="0"/>
                <a:cs typeface="Times New Roman" panose="02020603050405020304" pitchFamily="18" charset="0"/>
              </a:rPr>
              <a:t>rapidement. Or Les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relationnels traditionnels atteignent ici leurs limites `a </a:t>
            </a:r>
            <a:r>
              <a:rPr lang="fr-FR" dirty="0" smtClean="0">
                <a:latin typeface="Times New Roman" panose="02020603050405020304" pitchFamily="18" charset="0"/>
                <a:cs typeface="Times New Roman" panose="02020603050405020304" pitchFamily="18" charset="0"/>
              </a:rPr>
              <a:t>savoir:</a:t>
            </a:r>
          </a:p>
          <a:p>
            <a:pPr marL="0" indent="457200" algn="just">
              <a:spcBef>
                <a:spcPts val="0"/>
              </a:spcBef>
              <a:buNone/>
            </a:pPr>
            <a:r>
              <a:rPr lang="fr-FR" b="1" dirty="0">
                <a:latin typeface="Times New Roman" panose="02020603050405020304" pitchFamily="18" charset="0"/>
                <a:cs typeface="Times New Roman" panose="02020603050405020304" pitchFamily="18" charset="0"/>
              </a:rPr>
              <a:t>Les structures de </a:t>
            </a:r>
            <a:r>
              <a:rPr lang="fr-FR" b="1"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 sont devenues de plus en plus complexes avec en contrepartie des moteurs de stockage </a:t>
            </a:r>
            <a:r>
              <a:rPr lang="fr-FR" dirty="0" smtClean="0">
                <a:latin typeface="Times New Roman" panose="02020603050405020304" pitchFamily="18" charset="0"/>
                <a:cs typeface="Times New Roman" panose="02020603050405020304" pitchFamily="18" charset="0"/>
              </a:rPr>
              <a:t>évoluant </a:t>
            </a:r>
            <a:r>
              <a:rPr lang="fr-FR" dirty="0">
                <a:latin typeface="Times New Roman" panose="02020603050405020304" pitchFamily="18" charset="0"/>
                <a:cs typeface="Times New Roman" panose="02020603050405020304" pitchFamily="18" charset="0"/>
              </a:rPr>
              <a:t>peu. Le principal point faible des </a:t>
            </a:r>
            <a:r>
              <a:rPr lang="fr-FR" dirty="0" smtClean="0">
                <a:latin typeface="Times New Roman" panose="02020603050405020304" pitchFamily="18" charset="0"/>
                <a:cs typeface="Times New Roman" panose="02020603050405020304" pitchFamily="18" charset="0"/>
              </a:rPr>
              <a:t>modèles </a:t>
            </a:r>
            <a:r>
              <a:rPr lang="fr-FR" dirty="0">
                <a:latin typeface="Times New Roman" panose="02020603050405020304" pitchFamily="18" charset="0"/>
                <a:cs typeface="Times New Roman" panose="02020603050405020304" pitchFamily="18" charset="0"/>
              </a:rPr>
              <a:t>relationnels est l’absence de gestion d’objets </a:t>
            </a:r>
            <a:r>
              <a:rPr lang="fr-FR" dirty="0" smtClean="0">
                <a:latin typeface="Times New Roman" panose="02020603050405020304" pitchFamily="18" charset="0"/>
                <a:cs typeface="Times New Roman" panose="02020603050405020304" pitchFamily="18" charset="0"/>
              </a:rPr>
              <a:t>hétérogènes </a:t>
            </a:r>
            <a:r>
              <a:rPr lang="fr-FR" dirty="0">
                <a:latin typeface="Times New Roman" panose="02020603050405020304" pitchFamily="18" charset="0"/>
                <a:cs typeface="Times New Roman" panose="02020603050405020304" pitchFamily="18" charset="0"/>
              </a:rPr>
              <a:t>ainsi que le besoin de </a:t>
            </a:r>
            <a:r>
              <a:rPr lang="fr-FR" dirty="0" smtClean="0">
                <a:latin typeface="Times New Roman" panose="02020603050405020304" pitchFamily="18" charset="0"/>
                <a:cs typeface="Times New Roman" panose="02020603050405020304" pitchFamily="18" charset="0"/>
              </a:rPr>
              <a:t>déclarer </a:t>
            </a:r>
            <a:r>
              <a:rPr lang="fr-FR" dirty="0">
                <a:latin typeface="Times New Roman" panose="02020603050405020304" pitchFamily="18" charset="0"/>
                <a:cs typeface="Times New Roman" panose="02020603050405020304" pitchFamily="18" charset="0"/>
              </a:rPr>
              <a:t>au </a:t>
            </a:r>
            <a:r>
              <a:rPr lang="fr-FR" dirty="0" smtClean="0">
                <a:latin typeface="Times New Roman" panose="02020603050405020304" pitchFamily="18" charset="0"/>
                <a:cs typeface="Times New Roman" panose="02020603050405020304" pitchFamily="18" charset="0"/>
              </a:rPr>
              <a:t>préalable </a:t>
            </a:r>
            <a:r>
              <a:rPr lang="fr-FR" dirty="0">
                <a:latin typeface="Times New Roman" panose="02020603050405020304" pitchFamily="18" charset="0"/>
                <a:cs typeface="Times New Roman" panose="02020603050405020304" pitchFamily="18" charset="0"/>
              </a:rPr>
              <a:t>l’ensemble des champs représentant un objet.</a:t>
            </a:r>
          </a:p>
          <a:p>
            <a:pPr marL="0" indent="457200" algn="just">
              <a:spcBef>
                <a:spcPts val="0"/>
              </a:spcBef>
              <a:buNone/>
            </a:pPr>
            <a:r>
              <a:rPr lang="fr-FR" b="1" dirty="0">
                <a:latin typeface="Times New Roman" panose="02020603050405020304" pitchFamily="18" charset="0"/>
                <a:cs typeface="Times New Roman" panose="02020603050405020304" pitchFamily="18" charset="0"/>
              </a:rPr>
              <a:t>Un </a:t>
            </a:r>
            <a:r>
              <a:rPr lang="fr-FR" b="1" dirty="0" smtClean="0">
                <a:latin typeface="Times New Roman" panose="02020603050405020304" pitchFamily="18" charset="0"/>
                <a:cs typeface="Times New Roman" panose="02020603050405020304" pitchFamily="18" charset="0"/>
              </a:rPr>
              <a:t>système </a:t>
            </a:r>
            <a:r>
              <a:rPr lang="fr-FR" b="1" dirty="0">
                <a:latin typeface="Times New Roman" panose="02020603050405020304" pitchFamily="18" charset="0"/>
                <a:cs typeface="Times New Roman" panose="02020603050405020304" pitchFamily="18" charset="0"/>
              </a:rPr>
              <a:t>de jointure entre les tables : </a:t>
            </a:r>
            <a:r>
              <a:rPr lang="fr-FR" dirty="0" smtClean="0">
                <a:latin typeface="Times New Roman" panose="02020603050405020304" pitchFamily="18" charset="0"/>
                <a:cs typeface="Times New Roman" panose="02020603050405020304" pitchFamily="18" charset="0"/>
              </a:rPr>
              <a:t>Concrètement </a:t>
            </a:r>
            <a:r>
              <a:rPr lang="fr-FR" dirty="0">
                <a:latin typeface="Times New Roman" panose="02020603050405020304" pitchFamily="18" charset="0"/>
                <a:cs typeface="Times New Roman" panose="02020603050405020304" pitchFamily="18" charset="0"/>
              </a:rPr>
              <a:t>un abus des jointures risque d’entrainer un </a:t>
            </a:r>
            <a:r>
              <a:rPr lang="fr-FR" dirty="0" err="1">
                <a:latin typeface="Times New Roman" panose="02020603050405020304" pitchFamily="18" charset="0"/>
                <a:cs typeface="Times New Roman" panose="02020603050405020304" pitchFamily="18" charset="0"/>
              </a:rPr>
              <a:t>traffic</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réseau conséquent accompagne </a:t>
            </a:r>
            <a:r>
              <a:rPr lang="fr-FR" dirty="0">
                <a:latin typeface="Times New Roman" panose="02020603050405020304" pitchFamily="18" charset="0"/>
                <a:cs typeface="Times New Roman" panose="02020603050405020304" pitchFamily="18" charset="0"/>
              </a:rPr>
              <a:t>d’un pic de </a:t>
            </a:r>
            <a:r>
              <a:rPr lang="fr-FR" dirty="0" smtClean="0">
                <a:latin typeface="Times New Roman" panose="02020603050405020304" pitchFamily="18" charset="0"/>
                <a:cs typeface="Times New Roman" panose="02020603050405020304" pitchFamily="18" charset="0"/>
              </a:rPr>
              <a:t>consommation </a:t>
            </a:r>
            <a:r>
              <a:rPr lang="fr-FR" dirty="0">
                <a:latin typeface="Times New Roman" panose="02020603050405020304" pitchFamily="18" charset="0"/>
                <a:cs typeface="Times New Roman" panose="02020603050405020304" pitchFamily="18" charset="0"/>
              </a:rPr>
              <a:t>de la </a:t>
            </a:r>
            <a:r>
              <a:rPr lang="fr-FR" dirty="0" smtClean="0">
                <a:latin typeface="Times New Roman" panose="02020603050405020304" pitchFamily="18" charset="0"/>
                <a:cs typeface="Times New Roman" panose="02020603050405020304" pitchFamily="18" charset="0"/>
              </a:rPr>
              <a:t>mémoire.</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2239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fontScale="92500" lnSpcReduction="10000"/>
          </a:bodyPr>
          <a:lstStyle/>
          <a:p>
            <a:pPr algn="just"/>
            <a:r>
              <a:rPr lang="fr-FR" b="1" dirty="0">
                <a:latin typeface="Times New Roman" panose="02020603050405020304" pitchFamily="18" charset="0"/>
                <a:cs typeface="Times New Roman" panose="02020603050405020304" pitchFamily="18" charset="0"/>
              </a:rPr>
              <a:t>Contraintes </a:t>
            </a:r>
            <a:r>
              <a:rPr lang="fr-FR" b="1" dirty="0" smtClean="0">
                <a:latin typeface="Times New Roman" panose="02020603050405020304" pitchFamily="18" charset="0"/>
                <a:cs typeface="Times New Roman" panose="02020603050405020304" pitchFamily="18" charset="0"/>
              </a:rPr>
              <a:t>d’</a:t>
            </a:r>
            <a:r>
              <a:rPr lang="fr-FR" b="1" dirty="0" err="1" smtClean="0">
                <a:latin typeface="Times New Roman" panose="02020603050405020304" pitchFamily="18" charset="0"/>
                <a:cs typeface="Times New Roman" panose="02020603050405020304" pitchFamily="18" charset="0"/>
              </a:rPr>
              <a:t>integrite</a:t>
            </a:r>
            <a:r>
              <a:rPr lang="fr-FR"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les SGBD relationnels sont </a:t>
            </a:r>
            <a:r>
              <a:rPr lang="fr-FR" dirty="0" smtClean="0">
                <a:latin typeface="Times New Roman" panose="02020603050405020304" pitchFamily="18" charset="0"/>
                <a:cs typeface="Times New Roman" panose="02020603050405020304" pitchFamily="18" charset="0"/>
              </a:rPr>
              <a:t>limites </a:t>
            </a:r>
            <a:r>
              <a:rPr lang="fr-FR" dirty="0">
                <a:latin typeface="Times New Roman" panose="02020603050405020304" pitchFamily="18" charset="0"/>
                <a:cs typeface="Times New Roman" panose="02020603050405020304" pitchFamily="18" charset="0"/>
              </a:rPr>
              <a:t>`a des </a:t>
            </a:r>
            <a:r>
              <a:rPr lang="fr-FR" dirty="0" smtClean="0">
                <a:latin typeface="Times New Roman" panose="02020603050405020304" pitchFamily="18" charset="0"/>
                <a:cs typeface="Times New Roman" panose="02020603050405020304" pitchFamily="18" charset="0"/>
              </a:rPr>
              <a:t>contrôles </a:t>
            </a:r>
            <a:r>
              <a:rPr lang="fr-FR" dirty="0">
                <a:latin typeface="Times New Roman" panose="02020603050405020304" pitchFamily="18" charset="0"/>
                <a:cs typeface="Times New Roman" panose="02020603050405020304" pitchFamily="18" charset="0"/>
              </a:rPr>
              <a:t>de </a:t>
            </a:r>
            <a:r>
              <a:rPr lang="fr-FR" dirty="0" smtClean="0">
                <a:latin typeface="Times New Roman" panose="02020603050405020304" pitchFamily="18" charset="0"/>
                <a:cs typeface="Times New Roman" panose="02020603050405020304" pitchFamily="18" charset="0"/>
              </a:rPr>
              <a:t>cohérence </a:t>
            </a:r>
            <a:r>
              <a:rPr lang="fr-FR" dirty="0">
                <a:latin typeface="Times New Roman" panose="02020603050405020304" pitchFamily="18" charset="0"/>
                <a:cs typeface="Times New Roman" panose="02020603050405020304" pitchFamily="18" charset="0"/>
              </a:rPr>
              <a:t>simples. Il est donc difficile de </a:t>
            </a:r>
            <a:r>
              <a:rPr lang="fr-FR" dirty="0" smtClean="0">
                <a:latin typeface="Times New Roman" panose="02020603050405020304" pitchFamily="18" charset="0"/>
                <a:cs typeface="Times New Roman" panose="02020603050405020304" pitchFamily="18" charset="0"/>
              </a:rPr>
              <a:t>modéliser </a:t>
            </a:r>
            <a:r>
              <a:rPr lang="fr-FR" dirty="0">
                <a:latin typeface="Times New Roman" panose="02020603050405020304" pitchFamily="18" charset="0"/>
                <a:cs typeface="Times New Roman" panose="02020603050405020304" pitchFamily="18" charset="0"/>
              </a:rPr>
              <a:t>des contraintes </a:t>
            </a:r>
            <a:r>
              <a:rPr lang="fr-FR" dirty="0" smtClean="0">
                <a:latin typeface="Times New Roman" panose="02020603050405020304" pitchFamily="18" charset="0"/>
                <a:cs typeface="Times New Roman" panose="02020603050405020304" pitchFamily="18" charset="0"/>
              </a:rPr>
              <a:t>réelles correspondant </a:t>
            </a:r>
            <a:r>
              <a:rPr lang="fr-FR" dirty="0">
                <a:latin typeface="Times New Roman" panose="02020603050405020304" pitchFamily="18" charset="0"/>
                <a:cs typeface="Times New Roman" panose="02020603050405020304" pitchFamily="18" charset="0"/>
              </a:rPr>
              <a:t>aux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d’une entreprise</a:t>
            </a:r>
            <a:r>
              <a:rPr lang="fr-FR" dirty="0" smtClean="0">
                <a:latin typeface="Times New Roman" panose="02020603050405020304" pitchFamily="18" charset="0"/>
                <a:cs typeface="Times New Roman" panose="02020603050405020304" pitchFamily="18" charset="0"/>
              </a:rPr>
              <a:t>.</a:t>
            </a:r>
          </a:p>
          <a:p>
            <a:pPr algn="just"/>
            <a:r>
              <a:rPr lang="fr-FR" b="1" dirty="0">
                <a:latin typeface="Times New Roman" panose="02020603050405020304" pitchFamily="18" charset="0"/>
                <a:cs typeface="Times New Roman" panose="02020603050405020304" pitchFamily="18" charset="0"/>
              </a:rPr>
              <a:t>Surcharge </a:t>
            </a:r>
            <a:r>
              <a:rPr lang="fr-FR" b="1" dirty="0" smtClean="0">
                <a:latin typeface="Times New Roman" panose="02020603050405020304" pitchFamily="18" charset="0"/>
                <a:cs typeface="Times New Roman" panose="02020603050405020304" pitchFamily="18" charset="0"/>
              </a:rPr>
              <a:t>sémantique </a:t>
            </a:r>
            <a:r>
              <a:rPr lang="fr-FR" dirty="0">
                <a:latin typeface="Times New Roman" panose="02020603050405020304" pitchFamily="18" charset="0"/>
                <a:cs typeface="Times New Roman" panose="02020603050405020304" pitchFamily="18" charset="0"/>
              </a:rPr>
              <a:t>: le </a:t>
            </a:r>
            <a:r>
              <a:rPr lang="fr-FR" dirty="0" smtClean="0">
                <a:latin typeface="Times New Roman" panose="02020603050405020304" pitchFamily="18" charset="0"/>
                <a:cs typeface="Times New Roman" panose="02020603050405020304" pitchFamily="18" charset="0"/>
              </a:rPr>
              <a:t>modèle </a:t>
            </a:r>
            <a:r>
              <a:rPr lang="fr-FR" dirty="0">
                <a:latin typeface="Times New Roman" panose="02020603050405020304" pitchFamily="18" charset="0"/>
                <a:cs typeface="Times New Roman" panose="02020603050405020304" pitchFamily="18" charset="0"/>
              </a:rPr>
              <a:t>relationnel s’appuie sur un seul concept (la </a:t>
            </a:r>
            <a:r>
              <a:rPr lang="fr-FR" dirty="0" smtClean="0">
                <a:latin typeface="Times New Roman" panose="02020603050405020304" pitchFamily="18" charset="0"/>
                <a:cs typeface="Times New Roman" panose="02020603050405020304" pitchFamily="18" charset="0"/>
              </a:rPr>
              <a:t>relation</a:t>
            </a:r>
            <a:r>
              <a:rPr lang="fr-FR" dirty="0">
                <a:latin typeface="Times New Roman" panose="02020603050405020304" pitchFamily="18" charset="0"/>
                <a:cs typeface="Times New Roman" panose="02020603050405020304" pitchFamily="18" charset="0"/>
              </a:rPr>
              <a:t>) pour </a:t>
            </a:r>
            <a:r>
              <a:rPr lang="fr-FR" dirty="0" smtClean="0">
                <a:latin typeface="Times New Roman" panose="02020603050405020304" pitchFamily="18" charset="0"/>
                <a:cs typeface="Times New Roman" panose="02020603050405020304" pitchFamily="18" charset="0"/>
              </a:rPr>
              <a:t>modéliser </a:t>
            </a:r>
            <a:r>
              <a:rPr lang="fr-FR" dirty="0">
                <a:latin typeface="Times New Roman" panose="02020603050405020304" pitchFamily="18" charset="0"/>
                <a:cs typeface="Times New Roman" panose="02020603050405020304" pitchFamily="18" charset="0"/>
              </a:rPr>
              <a:t>`a la fois les </a:t>
            </a:r>
            <a:r>
              <a:rPr lang="fr-FR" dirty="0" smtClean="0">
                <a:latin typeface="Times New Roman" panose="02020603050405020304" pitchFamily="18" charset="0"/>
                <a:cs typeface="Times New Roman" panose="02020603050405020304" pitchFamily="18" charset="0"/>
              </a:rPr>
              <a:t>entités </a:t>
            </a:r>
            <a:r>
              <a:rPr lang="fr-FR" dirty="0">
                <a:latin typeface="Times New Roman" panose="02020603050405020304" pitchFamily="18" charset="0"/>
                <a:cs typeface="Times New Roman" panose="02020603050405020304" pitchFamily="18" charset="0"/>
              </a:rPr>
              <a:t>et les associations (ou relations) entre ces </a:t>
            </a:r>
            <a:r>
              <a:rPr lang="fr-FR" dirty="0" smtClean="0">
                <a:latin typeface="Times New Roman" panose="02020603050405020304" pitchFamily="18" charset="0"/>
                <a:cs typeface="Times New Roman" panose="02020603050405020304" pitchFamily="18" charset="0"/>
              </a:rPr>
              <a:t>entités. </a:t>
            </a:r>
            <a:r>
              <a:rPr lang="fr-FR" dirty="0">
                <a:latin typeface="Times New Roman" panose="02020603050405020304" pitchFamily="18" charset="0"/>
                <a:cs typeface="Times New Roman" panose="02020603050405020304" pitchFamily="18" charset="0"/>
              </a:rPr>
              <a:t>Il existe donc un </a:t>
            </a:r>
            <a:r>
              <a:rPr lang="fr-FR" dirty="0" smtClean="0">
                <a:latin typeface="Times New Roman" panose="02020603050405020304" pitchFamily="18" charset="0"/>
                <a:cs typeface="Times New Roman" panose="02020603050405020304" pitchFamily="18" charset="0"/>
              </a:rPr>
              <a:t>décalage </a:t>
            </a:r>
            <a:r>
              <a:rPr lang="fr-FR" dirty="0">
                <a:latin typeface="Times New Roman" panose="02020603050405020304" pitchFamily="18" charset="0"/>
                <a:cs typeface="Times New Roman" panose="02020603050405020304" pitchFamily="18" charset="0"/>
              </a:rPr>
              <a:t>entre la </a:t>
            </a:r>
            <a:r>
              <a:rPr lang="fr-FR" dirty="0" smtClean="0">
                <a:latin typeface="Times New Roman" panose="02020603050405020304" pitchFamily="18" charset="0"/>
                <a:cs typeface="Times New Roman" panose="02020603050405020304" pitchFamily="18" charset="0"/>
              </a:rPr>
              <a:t>réalité </a:t>
            </a:r>
            <a:r>
              <a:rPr lang="fr-FR" dirty="0">
                <a:latin typeface="Times New Roman" panose="02020603050405020304" pitchFamily="18" charset="0"/>
                <a:cs typeface="Times New Roman" panose="02020603050405020304" pitchFamily="18" charset="0"/>
              </a:rPr>
              <a:t>et sa </a:t>
            </a:r>
            <a:r>
              <a:rPr lang="fr-FR" dirty="0" smtClean="0">
                <a:latin typeface="Times New Roman" panose="02020603050405020304" pitchFamily="18" charset="0"/>
                <a:cs typeface="Times New Roman" panose="02020603050405020304" pitchFamily="18" charset="0"/>
              </a:rPr>
              <a:t>représentation abstraite.</a:t>
            </a:r>
          </a:p>
          <a:p>
            <a:pPr algn="just"/>
            <a:r>
              <a:rPr lang="fr-FR" b="1" dirty="0">
                <a:latin typeface="Times New Roman" panose="02020603050405020304" pitchFamily="18" charset="0"/>
                <a:cs typeface="Times New Roman" panose="02020603050405020304" pitchFamily="18" charset="0"/>
              </a:rPr>
              <a:t>Les contraintes ACID en milieu </a:t>
            </a:r>
            <a:r>
              <a:rPr lang="fr-FR" b="1" dirty="0" smtClean="0">
                <a:latin typeface="Times New Roman" panose="02020603050405020304" pitchFamily="18" charset="0"/>
                <a:cs typeface="Times New Roman" panose="02020603050405020304" pitchFamily="18" charset="0"/>
              </a:rPr>
              <a:t>distribue </a:t>
            </a:r>
            <a:r>
              <a:rPr lang="fr-FR" dirty="0">
                <a:latin typeface="Times New Roman" panose="02020603050405020304" pitchFamily="18" charset="0"/>
                <a:cs typeface="Times New Roman" panose="02020603050405020304" pitchFamily="18" charset="0"/>
              </a:rPr>
              <a:t>: dans le cas des </a:t>
            </a:r>
            <a:r>
              <a:rPr lang="fr-FR" dirty="0" smtClean="0">
                <a:latin typeface="Times New Roman" panose="02020603050405020304" pitchFamily="18" charset="0"/>
                <a:cs typeface="Times New Roman" panose="02020603050405020304" pitchFamily="18" charset="0"/>
              </a:rPr>
              <a:t>systèmes distribues</a:t>
            </a:r>
            <a:r>
              <a:rPr lang="fr-FR" dirty="0">
                <a:latin typeface="Times New Roman" panose="02020603050405020304" pitchFamily="18" charset="0"/>
                <a:cs typeface="Times New Roman" panose="02020603050405020304" pitchFamily="18" charset="0"/>
              </a:rPr>
              <a:t>, il est </a:t>
            </a:r>
            <a:r>
              <a:rPr lang="fr-FR" dirty="0" smtClean="0">
                <a:latin typeface="Times New Roman" panose="02020603050405020304" pitchFamily="18" charset="0"/>
                <a:cs typeface="Times New Roman" panose="02020603050405020304" pitchFamily="18" charset="0"/>
              </a:rPr>
              <a:t>nécessaire </a:t>
            </a:r>
            <a:r>
              <a:rPr lang="fr-FR" dirty="0">
                <a:latin typeface="Times New Roman" panose="02020603050405020304" pitchFamily="18" charset="0"/>
                <a:cs typeface="Times New Roman" panose="02020603050405020304" pitchFamily="18" charset="0"/>
              </a:rPr>
              <a:t>de distribuer les traitements de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entre </a:t>
            </a:r>
            <a:r>
              <a:rPr lang="fr-FR" dirty="0" smtClean="0">
                <a:latin typeface="Times New Roman" panose="02020603050405020304" pitchFamily="18" charset="0"/>
                <a:cs typeface="Times New Roman" panose="02020603050405020304" pitchFamily="18" charset="0"/>
              </a:rPr>
              <a:t>différents </a:t>
            </a:r>
            <a:r>
              <a:rPr lang="fr-FR" dirty="0">
                <a:latin typeface="Times New Roman" panose="02020603050405020304" pitchFamily="18" charset="0"/>
                <a:cs typeface="Times New Roman" panose="02020603050405020304" pitchFamily="18" charset="0"/>
              </a:rPr>
              <a:t>serveurs. Il devient alors difficile de maintenir les contraintes ACID `a </a:t>
            </a:r>
            <a:r>
              <a:rPr lang="fr-FR" dirty="0" smtClean="0">
                <a:latin typeface="Times New Roman" panose="02020603050405020304" pitchFamily="18" charset="0"/>
                <a:cs typeface="Times New Roman" panose="02020603050405020304" pitchFamily="18" charset="0"/>
              </a:rPr>
              <a:t>l’échelle </a:t>
            </a:r>
            <a:r>
              <a:rPr lang="fr-FR" dirty="0">
                <a:latin typeface="Times New Roman" panose="02020603050405020304" pitchFamily="18" charset="0"/>
                <a:cs typeface="Times New Roman" panose="02020603050405020304" pitchFamily="18" charset="0"/>
              </a:rPr>
              <a:t>du </a:t>
            </a:r>
            <a:r>
              <a:rPr lang="fr-FR" dirty="0" smtClean="0">
                <a:latin typeface="Times New Roman" panose="02020603050405020304" pitchFamily="18" charset="0"/>
                <a:cs typeface="Times New Roman" panose="02020603050405020304" pitchFamily="18" charset="0"/>
              </a:rPr>
              <a:t>système distribue </a:t>
            </a:r>
            <a:r>
              <a:rPr lang="fr-FR" dirty="0">
                <a:latin typeface="Times New Roman" panose="02020603050405020304" pitchFamily="18" charset="0"/>
                <a:cs typeface="Times New Roman" panose="02020603050405020304" pitchFamily="18" charset="0"/>
              </a:rPr>
              <a:t>entier tout en maintenant des performances correctes. </a:t>
            </a:r>
          </a:p>
        </p:txBody>
      </p:sp>
    </p:spTree>
    <p:extLst>
      <p:ext uri="{BB962C8B-B14F-4D97-AF65-F5344CB8AC3E}">
        <p14:creationId xmlns:p14="http://schemas.microsoft.com/office/powerpoint/2010/main" val="27766737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628800" y="-33585"/>
            <a:ext cx="5886400" cy="548680"/>
          </a:xfrm>
        </p:spPr>
        <p:txBody>
          <a:bodyPr>
            <a:normAutofit fontScale="90000"/>
          </a:bodyPr>
          <a:lstStyle/>
          <a:p>
            <a:pPr>
              <a:spcBef>
                <a:spcPct val="10000"/>
              </a:spcBef>
            </a:pP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a:latin typeface="Times New Roman" pitchFamily="18" charset="0"/>
                <a:cs typeface="Times New Roman" pitchFamily="18" charset="0"/>
              </a:rPr>
              <a:t/>
            </a:r>
            <a:br>
              <a:rPr lang="fr-FR" sz="3600" b="1" dirty="0">
                <a:latin typeface="Times New Roman" pitchFamily="18" charset="0"/>
                <a:cs typeface="Times New Roman" pitchFamily="18" charset="0"/>
              </a:rPr>
            </a:br>
            <a:r>
              <a:rPr lang="fr-FR" sz="3600" b="1" dirty="0" smtClean="0">
                <a:latin typeface="Times New Roman" pitchFamily="18" charset="0"/>
                <a:cs typeface="Times New Roman" pitchFamily="18" charset="0"/>
              </a:rPr>
              <a:t/>
            </a:r>
            <a:br>
              <a:rPr lang="fr-FR" sz="3600" b="1" dirty="0" smtClean="0">
                <a:latin typeface="Times New Roman" pitchFamily="18" charset="0"/>
                <a:cs typeface="Times New Roman" pitchFamily="18" charset="0"/>
              </a:rPr>
            </a:br>
            <a:r>
              <a:rPr lang="fr-FR" sz="3600" b="1" dirty="0" smtClean="0">
                <a:latin typeface="Times New Roman" pitchFamily="18" charset="0"/>
                <a:cs typeface="Times New Roman" pitchFamily="18" charset="0"/>
              </a:rPr>
              <a:t>Chap.1 Problématique du </a:t>
            </a:r>
            <a:r>
              <a:rPr lang="fr-FR" sz="3600" b="1" dirty="0" err="1" smtClean="0">
                <a:latin typeface="Times New Roman" pitchFamily="18" charset="0"/>
                <a:cs typeface="Times New Roman" pitchFamily="18" charset="0"/>
              </a:rPr>
              <a:t>Big</a:t>
            </a:r>
            <a:r>
              <a:rPr lang="fr-FR" sz="3600" b="1" dirty="0" smtClean="0">
                <a:latin typeface="Times New Roman" pitchFamily="18" charset="0"/>
                <a:cs typeface="Times New Roman" pitchFamily="18" charset="0"/>
              </a:rPr>
              <a:t> Data</a:t>
            </a:r>
            <a:br>
              <a:rPr lang="fr-FR" sz="3600" b="1" dirty="0" smtClean="0">
                <a:latin typeface="Times New Roman" pitchFamily="18" charset="0"/>
                <a:cs typeface="Times New Roman" pitchFamily="18" charset="0"/>
              </a:rPr>
            </a:br>
            <a:r>
              <a:rPr lang="fr-FR" b="1" dirty="0"/>
              <a:t/>
            </a:r>
            <a:br>
              <a:rPr lang="fr-FR" b="1" dirty="0"/>
            </a:br>
            <a:endParaRPr lang="fr-FR" b="1" dirty="0">
              <a:latin typeface="Times New Roman" pitchFamily="18" charset="0"/>
              <a:cs typeface="Times New Roman" pitchFamily="18" charset="0"/>
            </a:endParaRPr>
          </a:p>
        </p:txBody>
      </p:sp>
      <p:sp>
        <p:nvSpPr>
          <p:cNvPr id="3" name="Sous-titre 2"/>
          <p:cNvSpPr>
            <a:spLocks noGrp="1"/>
          </p:cNvSpPr>
          <p:nvPr>
            <p:ph type="subTitle" idx="1"/>
          </p:nvPr>
        </p:nvSpPr>
        <p:spPr>
          <a:xfrm>
            <a:off x="0" y="764704"/>
            <a:ext cx="9144000" cy="6480720"/>
          </a:xfrm>
        </p:spPr>
        <p:txBody>
          <a:bodyPr>
            <a:normAutofit fontScale="55000" lnSpcReduction="20000"/>
          </a:bodyPr>
          <a:lstStyle/>
          <a:p>
            <a:pPr algn="just"/>
            <a:r>
              <a:rPr lang="fr-FR" sz="4700" b="1" dirty="0" smtClean="0">
                <a:solidFill>
                  <a:schemeClr val="tx1"/>
                </a:solidFill>
                <a:latin typeface="Times New Roman" pitchFamily="18" charset="0"/>
                <a:cs typeface="Times New Roman" pitchFamily="18" charset="0"/>
              </a:rPr>
              <a:t>Contexte:</a:t>
            </a:r>
          </a:p>
          <a:p>
            <a:pPr algn="just"/>
            <a:r>
              <a:rPr lang="fr-FR" sz="4700" dirty="0" smtClean="0">
                <a:solidFill>
                  <a:schemeClr val="tx1"/>
                </a:solidFill>
                <a:latin typeface="Times New Roman" pitchFamily="18" charset="0"/>
                <a:cs typeface="Times New Roman" pitchFamily="18" charset="0"/>
              </a:rPr>
              <a:t>-Une </a:t>
            </a:r>
            <a:r>
              <a:rPr lang="fr-FR" sz="4700" dirty="0">
                <a:solidFill>
                  <a:schemeClr val="tx1"/>
                </a:solidFill>
                <a:latin typeface="Times New Roman" pitchFamily="18" charset="0"/>
                <a:cs typeface="Times New Roman" pitchFamily="18" charset="0"/>
              </a:rPr>
              <a:t>grande partie de la population mondiale est connectée;- Internet des objets(</a:t>
            </a:r>
            <a:r>
              <a:rPr lang="fr-FR" sz="4700" dirty="0" err="1">
                <a:solidFill>
                  <a:schemeClr val="tx1"/>
                </a:solidFill>
                <a:latin typeface="Times New Roman" pitchFamily="18" charset="0"/>
                <a:cs typeface="Times New Roman" pitchFamily="18" charset="0"/>
              </a:rPr>
              <a:t>smarts</a:t>
            </a:r>
            <a:r>
              <a:rPr lang="fr-FR" sz="4700" dirty="0">
                <a:solidFill>
                  <a:schemeClr val="tx1"/>
                </a:solidFill>
                <a:latin typeface="Times New Roman" pitchFamily="18" charset="0"/>
                <a:cs typeface="Times New Roman" pitchFamily="18" charset="0"/>
              </a:rPr>
              <a:t> </a:t>
            </a:r>
            <a:r>
              <a:rPr lang="fr-FR" sz="4700" dirty="0" err="1">
                <a:solidFill>
                  <a:schemeClr val="tx1"/>
                </a:solidFill>
                <a:latin typeface="Times New Roman" pitchFamily="18" charset="0"/>
                <a:cs typeface="Times New Roman" pitchFamily="18" charset="0"/>
              </a:rPr>
              <a:t>refrigellators</a:t>
            </a:r>
            <a:r>
              <a:rPr lang="fr-FR" sz="4700" dirty="0">
                <a:solidFill>
                  <a:schemeClr val="tx1"/>
                </a:solidFill>
                <a:latin typeface="Times New Roman" pitchFamily="18" charset="0"/>
                <a:cs typeface="Times New Roman" pitchFamily="18" charset="0"/>
              </a:rPr>
              <a:t>, </a:t>
            </a:r>
            <a:r>
              <a:rPr lang="fr-FR" sz="4700" dirty="0" err="1">
                <a:solidFill>
                  <a:schemeClr val="tx1"/>
                </a:solidFill>
                <a:latin typeface="Times New Roman" pitchFamily="18" charset="0"/>
                <a:cs typeface="Times New Roman" pitchFamily="18" charset="0"/>
              </a:rPr>
              <a:t>smarts</a:t>
            </a:r>
            <a:r>
              <a:rPr lang="fr-FR" sz="4700" dirty="0">
                <a:solidFill>
                  <a:schemeClr val="tx1"/>
                </a:solidFill>
                <a:latin typeface="Times New Roman" pitchFamily="18" charset="0"/>
                <a:cs typeface="Times New Roman" pitchFamily="18" charset="0"/>
              </a:rPr>
              <a:t> </a:t>
            </a:r>
            <a:r>
              <a:rPr lang="fr-FR" sz="4700" dirty="0" err="1" smtClean="0">
                <a:solidFill>
                  <a:schemeClr val="tx1"/>
                </a:solidFill>
                <a:latin typeface="Times New Roman" pitchFamily="18" charset="0"/>
                <a:cs typeface="Times New Roman" pitchFamily="18" charset="0"/>
              </a:rPr>
              <a:t>watch,Smart</a:t>
            </a:r>
            <a:r>
              <a:rPr lang="fr-FR" sz="4700" dirty="0" smtClean="0">
                <a:solidFill>
                  <a:schemeClr val="tx1"/>
                </a:solidFill>
                <a:latin typeface="Times New Roman" pitchFamily="18" charset="0"/>
                <a:cs typeface="Times New Roman" pitchFamily="18" charset="0"/>
              </a:rPr>
              <a:t> TV…), </a:t>
            </a:r>
          </a:p>
          <a:p>
            <a:pPr algn="just"/>
            <a:r>
              <a:rPr lang="fr-FR" sz="4700" dirty="0">
                <a:solidFill>
                  <a:schemeClr val="tx1"/>
                </a:solidFill>
                <a:latin typeface="Times New Roman" pitchFamily="18" charset="0"/>
                <a:cs typeface="Times New Roman" pitchFamily="18" charset="0"/>
              </a:rPr>
              <a:t>-</a:t>
            </a:r>
            <a:r>
              <a:rPr lang="fr-FR" sz="4700" dirty="0" smtClean="0">
                <a:solidFill>
                  <a:schemeClr val="tx1"/>
                </a:solidFill>
                <a:latin typeface="Times New Roman" pitchFamily="18" charset="0"/>
                <a:cs typeface="Times New Roman" pitchFamily="18" charset="0"/>
              </a:rPr>
              <a:t>Selon, </a:t>
            </a:r>
            <a:r>
              <a:rPr lang="fr-FR" sz="4700" dirty="0" smtClean="0">
                <a:solidFill>
                  <a:schemeClr val="tx1"/>
                </a:solidFill>
                <a:latin typeface="Times New Roman" pitchFamily="18" charset="0"/>
                <a:cs typeface="Times New Roman" pitchFamily="18" charset="0"/>
                <a:hlinkClick r:id="rId2"/>
              </a:rPr>
              <a:t>https://fr.statista.com/</a:t>
            </a:r>
            <a:r>
              <a:rPr lang="fr-FR" sz="4700" dirty="0" smtClean="0">
                <a:solidFill>
                  <a:schemeClr val="tx1"/>
                </a:solidFill>
                <a:latin typeface="Times New Roman" pitchFamily="18" charset="0"/>
                <a:cs typeface="Times New Roman" pitchFamily="18" charset="0"/>
              </a:rPr>
              <a:t> de 30 juillet 2020, Le volume annuel des données créées et échangées se multiplierons  par trois ou quatre tous les cinq ans.</a:t>
            </a:r>
          </a:p>
          <a:p>
            <a:pPr algn="just"/>
            <a:r>
              <a:rPr lang="fr-FR" sz="4700" dirty="0" smtClean="0">
                <a:solidFill>
                  <a:schemeClr val="tx1"/>
                </a:solidFill>
                <a:latin typeface="Times New Roman" pitchFamily="18" charset="0"/>
                <a:cs typeface="Times New Roman" pitchFamily="18" charset="0"/>
              </a:rPr>
              <a:t>-Selon </a:t>
            </a:r>
            <a:r>
              <a:rPr lang="fr-FR" sz="4700" dirty="0">
                <a:solidFill>
                  <a:schemeClr val="tx1"/>
                </a:solidFill>
                <a:latin typeface="Times New Roman" pitchFamily="18" charset="0"/>
                <a:cs typeface="Times New Roman" pitchFamily="18" charset="0"/>
              </a:rPr>
              <a:t>les estimation, 47 </a:t>
            </a:r>
            <a:r>
              <a:rPr lang="fr-FR" sz="4700" dirty="0" smtClean="0">
                <a:solidFill>
                  <a:schemeClr val="tx1"/>
                </a:solidFill>
                <a:latin typeface="Times New Roman" pitchFamily="18" charset="0"/>
                <a:cs typeface="Times New Roman" pitchFamily="18" charset="0"/>
              </a:rPr>
              <a:t>zettaoctets (mille milliard de Go) </a:t>
            </a:r>
            <a:r>
              <a:rPr lang="fr-FR" sz="4700" dirty="0">
                <a:solidFill>
                  <a:schemeClr val="tx1"/>
                </a:solidFill>
                <a:latin typeface="Times New Roman" pitchFamily="18" charset="0"/>
                <a:cs typeface="Times New Roman" pitchFamily="18" charset="0"/>
              </a:rPr>
              <a:t>de données </a:t>
            </a:r>
            <a:r>
              <a:rPr lang="fr-FR" sz="4700" dirty="0" smtClean="0">
                <a:solidFill>
                  <a:schemeClr val="tx1"/>
                </a:solidFill>
                <a:latin typeface="Times New Roman" pitchFamily="18" charset="0"/>
                <a:cs typeface="Times New Roman" pitchFamily="18" charset="0"/>
              </a:rPr>
              <a:t>sont créées et échangées chaque année. Il  </a:t>
            </a:r>
            <a:r>
              <a:rPr lang="fr-FR" sz="4700" dirty="0">
                <a:solidFill>
                  <a:schemeClr val="tx1"/>
                </a:solidFill>
                <a:latin typeface="Times New Roman" pitchFamily="18" charset="0"/>
                <a:cs typeface="Times New Roman" pitchFamily="18" charset="0"/>
              </a:rPr>
              <a:t>faudrait se </a:t>
            </a:r>
            <a:r>
              <a:rPr lang="fr-FR" sz="4700" dirty="0" smtClean="0">
                <a:solidFill>
                  <a:schemeClr val="tx1"/>
                </a:solidFill>
                <a:latin typeface="Times New Roman" pitchFamily="18" charset="0"/>
                <a:cs typeface="Times New Roman" pitchFamily="18" charset="0"/>
              </a:rPr>
              <a:t>procurer 470 millions de </a:t>
            </a:r>
            <a:r>
              <a:rPr lang="fr-FR" sz="4700" dirty="0">
                <a:solidFill>
                  <a:schemeClr val="tx1"/>
                </a:solidFill>
                <a:latin typeface="Times New Roman" pitchFamily="18" charset="0"/>
                <a:cs typeface="Times New Roman" pitchFamily="18" charset="0"/>
              </a:rPr>
              <a:t> </a:t>
            </a:r>
            <a:r>
              <a:rPr lang="fr-FR" sz="4700" dirty="0" smtClean="0">
                <a:solidFill>
                  <a:schemeClr val="tx1"/>
                </a:solidFill>
                <a:latin typeface="Times New Roman" pitchFamily="18" charset="0"/>
                <a:cs typeface="Times New Roman" pitchFamily="18" charset="0"/>
              </a:rPr>
              <a:t>disque durs (100 To), </a:t>
            </a:r>
            <a:r>
              <a:rPr lang="fr-FR" sz="4700" dirty="0">
                <a:solidFill>
                  <a:schemeClr val="tx1"/>
                </a:solidFill>
                <a:latin typeface="Times New Roman" pitchFamily="18" charset="0"/>
                <a:cs typeface="Times New Roman" pitchFamily="18" charset="0"/>
              </a:rPr>
              <a:t>pour être en mesure de sauvegarder les 47 zettaoctets de données potentiellement créées </a:t>
            </a:r>
            <a:r>
              <a:rPr lang="fr-FR" sz="4700" dirty="0" smtClean="0">
                <a:solidFill>
                  <a:schemeClr val="tx1"/>
                </a:solidFill>
                <a:latin typeface="Times New Roman" pitchFamily="18" charset="0"/>
                <a:cs typeface="Times New Roman" pitchFamily="18" charset="0"/>
              </a:rPr>
              <a:t>chaque </a:t>
            </a:r>
            <a:r>
              <a:rPr lang="fr-FR" sz="4700" dirty="0">
                <a:solidFill>
                  <a:schemeClr val="tx1"/>
                </a:solidFill>
                <a:latin typeface="Times New Roman" pitchFamily="18" charset="0"/>
                <a:cs typeface="Times New Roman" pitchFamily="18" charset="0"/>
              </a:rPr>
              <a:t>année</a:t>
            </a:r>
            <a:r>
              <a:rPr lang="fr-FR" sz="4700" dirty="0" smtClean="0">
                <a:solidFill>
                  <a:schemeClr val="tx1"/>
                </a:solidFill>
                <a:latin typeface="Times New Roman" pitchFamily="18" charset="0"/>
                <a:cs typeface="Times New Roman" pitchFamily="18" charset="0"/>
              </a:rPr>
              <a:t>.</a:t>
            </a:r>
          </a:p>
          <a:p>
            <a:pPr algn="just"/>
            <a:r>
              <a:rPr lang="fr-FR" sz="4700" b="1" dirty="0" smtClean="0">
                <a:solidFill>
                  <a:schemeClr val="tx1"/>
                </a:solidFill>
                <a:latin typeface="Times New Roman" pitchFamily="18" charset="0"/>
                <a:cs typeface="Times New Roman" pitchFamily="18" charset="0"/>
              </a:rPr>
              <a:t>Définition</a:t>
            </a:r>
          </a:p>
          <a:p>
            <a:pPr algn="just"/>
            <a:r>
              <a:rPr lang="fr-FR" sz="4700" b="1" dirty="0" smtClean="0">
                <a:solidFill>
                  <a:schemeClr val="tx1"/>
                </a:solidFill>
                <a:latin typeface="Times New Roman" pitchFamily="18" charset="0"/>
                <a:cs typeface="Times New Roman" pitchFamily="18" charset="0"/>
              </a:rPr>
              <a:t>Données </a:t>
            </a:r>
            <a:r>
              <a:rPr lang="fr-FR" sz="4700" b="1" dirty="0">
                <a:solidFill>
                  <a:schemeClr val="tx1"/>
                </a:solidFill>
                <a:latin typeface="Times New Roman" pitchFamily="18" charset="0"/>
                <a:cs typeface="Times New Roman" pitchFamily="18" charset="0"/>
              </a:rPr>
              <a:t>massive(</a:t>
            </a:r>
            <a:r>
              <a:rPr lang="fr-FR" sz="4700" b="1" dirty="0" err="1">
                <a:solidFill>
                  <a:schemeClr val="tx1"/>
                </a:solidFill>
                <a:latin typeface="Times New Roman" pitchFamily="18" charset="0"/>
                <a:cs typeface="Times New Roman" pitchFamily="18" charset="0"/>
              </a:rPr>
              <a:t>Megadonnées</a:t>
            </a:r>
            <a:r>
              <a:rPr lang="fr-FR" sz="4700" b="1" dirty="0">
                <a:solidFill>
                  <a:schemeClr val="tx1"/>
                </a:solidFill>
                <a:latin typeface="Times New Roman" pitchFamily="18" charset="0"/>
                <a:cs typeface="Times New Roman" pitchFamily="18" charset="0"/>
              </a:rPr>
              <a:t>) </a:t>
            </a:r>
            <a:r>
              <a:rPr lang="fr-FR" sz="4700" dirty="0">
                <a:solidFill>
                  <a:schemeClr val="tx1"/>
                </a:solidFill>
                <a:latin typeface="Times New Roman" pitchFamily="18" charset="0"/>
                <a:cs typeface="Times New Roman" pitchFamily="18" charset="0"/>
              </a:rPr>
              <a:t>repr</a:t>
            </a:r>
            <a:r>
              <a:rPr lang="fr-FR" sz="4700" dirty="0" smtClean="0">
                <a:solidFill>
                  <a:schemeClr val="tx1"/>
                </a:solidFill>
                <a:latin typeface="Times New Roman" pitchFamily="18" charset="0"/>
                <a:cs typeface="Times New Roman" pitchFamily="18" charset="0"/>
              </a:rPr>
              <a:t>ésente les collections de données caractérisées par un volume, une vélocité et une variété si grands que leur transformation en valeur  utilisable requiert l’utilisation de technologie et  de méthodes analytiques spécifiques.</a:t>
            </a:r>
          </a:p>
          <a:p>
            <a:pPr algn="just">
              <a:spcBef>
                <a:spcPct val="10000"/>
              </a:spcBef>
            </a:pPr>
            <a:endParaRPr lang="fr-FR" dirty="0" smtClean="0">
              <a:solidFill>
                <a:schemeClr val="tx1"/>
              </a:solidFill>
              <a:latin typeface="Times New Roman" pitchFamily="18" charset="0"/>
              <a:cs typeface="Times New Roman" pitchFamily="18" charset="0"/>
            </a:endParaRPr>
          </a:p>
          <a:p>
            <a:pPr algn="just">
              <a:spcBef>
                <a:spcPct val="10000"/>
              </a:spcBef>
            </a:pPr>
            <a:r>
              <a:rPr lang="fr-FR" dirty="0" smtClean="0">
                <a:solidFill>
                  <a:schemeClr val="tx1"/>
                </a:solidFill>
                <a:latin typeface="Times New Roman" pitchFamily="18" charset="0"/>
                <a:cs typeface="Times New Roman" pitchFamily="18" charset="0"/>
              </a:rPr>
              <a:t> </a:t>
            </a:r>
          </a:p>
          <a:p>
            <a:pPr marL="457200" indent="-457200" algn="just">
              <a:spcBef>
                <a:spcPct val="10000"/>
              </a:spcBef>
              <a:buFontTx/>
              <a:buChar char="-"/>
            </a:pPr>
            <a:endParaRPr lang="fr-FR" dirty="0">
              <a:solidFill>
                <a:schemeClr val="tx1"/>
              </a:solidFill>
              <a:latin typeface="Times New Roman" pitchFamily="18" charset="0"/>
              <a:cs typeface="Times New Roman" pitchFamily="18" charset="0"/>
            </a:endParaRPr>
          </a:p>
          <a:p>
            <a:pPr algn="just">
              <a:spcBef>
                <a:spcPct val="10000"/>
              </a:spcBef>
            </a:pPr>
            <a:endParaRPr lang="fr-FR" dirty="0">
              <a:solidFill>
                <a:schemeClr val="tx1"/>
              </a:solidFill>
              <a:latin typeface="Times New Roman" pitchFamily="18" charset="0"/>
              <a:cs typeface="Times New Roman" pitchFamily="18" charset="0"/>
            </a:endParaRPr>
          </a:p>
          <a:p>
            <a:pPr algn="just"/>
            <a:endParaRPr lang="fr-FR" dirty="0" smtClean="0">
              <a:solidFill>
                <a:schemeClr val="tx1"/>
              </a:solidFill>
            </a:endParaRPr>
          </a:p>
        </p:txBody>
      </p:sp>
      <p:sp>
        <p:nvSpPr>
          <p:cNvPr id="4" name="Espace réservé du numéro de diapositive 3"/>
          <p:cNvSpPr>
            <a:spLocks noGrp="1"/>
          </p:cNvSpPr>
          <p:nvPr>
            <p:ph type="sldNum" sz="quarter" idx="12"/>
          </p:nvPr>
        </p:nvSpPr>
        <p:spPr/>
        <p:txBody>
          <a:bodyPr/>
          <a:lstStyle/>
          <a:p>
            <a:pPr>
              <a:defRPr/>
            </a:pPr>
            <a:fld id="{DA2138F4-991A-44A3-BF51-6DCEA1BE11EC}" type="slidenum">
              <a:rPr lang="ru-RU" smtClean="0"/>
              <a:pPr>
                <a:defRPr/>
              </a:pPr>
              <a:t>25</a:t>
            </a:fld>
            <a:endParaRPr lang="ru-RU" dirty="0"/>
          </a:p>
        </p:txBody>
      </p:sp>
    </p:spTree>
    <p:extLst>
      <p:ext uri="{BB962C8B-B14F-4D97-AF65-F5344CB8AC3E}">
        <p14:creationId xmlns:p14="http://schemas.microsoft.com/office/powerpoint/2010/main" val="36891359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68" y="0"/>
            <a:ext cx="9252520" cy="850106"/>
          </a:xfrm>
        </p:spPr>
        <p:txBody>
          <a:bodyPr/>
          <a:lstStyle/>
          <a:p>
            <a:r>
              <a:rPr lang="fr-FR" sz="3600" b="1" dirty="0">
                <a:latin typeface="Times New Roman" pitchFamily="18" charset="0"/>
                <a:cs typeface="Times New Roman" pitchFamily="18" charset="0"/>
              </a:rPr>
              <a:t>Volumes des données crées et échangées  </a:t>
            </a:r>
          </a:p>
        </p:txBody>
      </p:sp>
      <p:sp>
        <p:nvSpPr>
          <p:cNvPr id="4" name="Espace réservé du numéro de diapositive 3"/>
          <p:cNvSpPr>
            <a:spLocks noGrp="1"/>
          </p:cNvSpPr>
          <p:nvPr>
            <p:ph type="sldNum" sz="quarter" idx="12"/>
          </p:nvPr>
        </p:nvSpPr>
        <p:spPr/>
        <p:txBody>
          <a:bodyPr/>
          <a:lstStyle/>
          <a:p>
            <a:pPr>
              <a:defRPr/>
            </a:pPr>
            <a:fld id="{A3536127-CA30-4EDA-8609-C22BFA205E90}" type="slidenum">
              <a:rPr lang="ru-RU" smtClean="0"/>
              <a:pPr>
                <a:defRPr/>
              </a:pPr>
              <a:t>26</a:t>
            </a:fld>
            <a:endParaRPr lang="ru-RU"/>
          </a:p>
        </p:txBody>
      </p:sp>
      <p:pic>
        <p:nvPicPr>
          <p:cNvPr id="1026" name="Picture 2" descr="Infographie: Le big bang du big data | Statist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850106"/>
            <a:ext cx="8712968" cy="550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3886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1158" y="116632"/>
            <a:ext cx="8717958" cy="6009531"/>
          </a:xfrm>
        </p:spPr>
        <p:txBody>
          <a:bodyPr/>
          <a:lstStyle/>
          <a:p>
            <a:pPr marL="0" indent="0" algn="ctr">
              <a:buNone/>
            </a:pPr>
            <a:r>
              <a:rPr lang="fr-FR" dirty="0" smtClean="0"/>
              <a:t> </a:t>
            </a:r>
            <a:r>
              <a:rPr lang="fr-FR" b="1" dirty="0" smtClean="0"/>
              <a:t>De 3 V a 5V</a:t>
            </a:r>
          </a:p>
          <a:p>
            <a:pPr marL="0" indent="0">
              <a:buNone/>
            </a:pPr>
            <a:endParaRPr lang="fr-F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 y="692696"/>
            <a:ext cx="9144000"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5152" y="2358951"/>
            <a:ext cx="9144000" cy="5078313"/>
          </a:xfrm>
          <a:prstGeom prst="rect">
            <a:avLst/>
          </a:prstGeom>
        </p:spPr>
        <p:txBody>
          <a:bodyPr wrap="square">
            <a:spAutoFit/>
          </a:bodyPr>
          <a:lstStyle/>
          <a:p>
            <a:pPr algn="just">
              <a:lnSpc>
                <a:spcPct val="150000"/>
              </a:lnSpc>
            </a:pPr>
            <a:r>
              <a:rPr lang="fr-FR" sz="2400" b="1" dirty="0" smtClean="0">
                <a:latin typeface="Arial Narrow" pitchFamily="34" charset="0"/>
              </a:rPr>
              <a:t>Volume </a:t>
            </a:r>
            <a:r>
              <a:rPr lang="fr-FR" sz="2400" dirty="0" smtClean="0">
                <a:latin typeface="Arial Narrow" pitchFamily="34" charset="0"/>
              </a:rPr>
              <a:t>:volume </a:t>
            </a:r>
            <a:r>
              <a:rPr lang="fr-FR" sz="2400" dirty="0">
                <a:latin typeface="Arial Narrow" pitchFamily="34" charset="0"/>
              </a:rPr>
              <a:t>massive</a:t>
            </a:r>
          </a:p>
          <a:p>
            <a:pPr algn="just">
              <a:lnSpc>
                <a:spcPct val="150000"/>
              </a:lnSpc>
            </a:pPr>
            <a:r>
              <a:rPr lang="fr-FR" sz="2400" b="1" dirty="0" smtClean="0">
                <a:latin typeface="Arial Narrow" pitchFamily="34" charset="0"/>
              </a:rPr>
              <a:t>Variété: </a:t>
            </a:r>
            <a:r>
              <a:rPr lang="fr-FR" sz="2400" dirty="0" smtClean="0">
                <a:latin typeface="Arial Narrow" pitchFamily="34" charset="0"/>
              </a:rPr>
              <a:t>hétérogénéité, différentes ressources  des données</a:t>
            </a:r>
            <a:endParaRPr lang="fr-FR" sz="2400" dirty="0">
              <a:latin typeface="Arial Narrow" pitchFamily="34" charset="0"/>
            </a:endParaRPr>
          </a:p>
          <a:p>
            <a:pPr algn="just">
              <a:lnSpc>
                <a:spcPct val="150000"/>
              </a:lnSpc>
            </a:pPr>
            <a:r>
              <a:rPr lang="fr-FR" sz="2400" b="1" dirty="0" smtClean="0">
                <a:latin typeface="Arial Narrow" pitchFamily="34" charset="0"/>
              </a:rPr>
              <a:t>Vélocité</a:t>
            </a:r>
            <a:r>
              <a:rPr lang="fr-FR" sz="2400" dirty="0" smtClean="0">
                <a:latin typeface="Arial Narrow" pitchFamily="34" charset="0"/>
              </a:rPr>
              <a:t> </a:t>
            </a:r>
            <a:r>
              <a:rPr lang="fr-FR" sz="2400" dirty="0">
                <a:latin typeface="Arial Narrow" pitchFamily="34" charset="0"/>
              </a:rPr>
              <a:t>: vélocité: aspect dynamique ou temporel  des données et  fait </a:t>
            </a:r>
            <a:r>
              <a:rPr lang="fr-FR" sz="2400" dirty="0" smtClean="0">
                <a:latin typeface="Arial Narrow" pitchFamily="34" charset="0"/>
              </a:rPr>
              <a:t>référence </a:t>
            </a:r>
            <a:r>
              <a:rPr lang="fr-FR" sz="2400" dirty="0">
                <a:latin typeface="Arial Narrow" pitchFamily="34" charset="0"/>
              </a:rPr>
              <a:t>a leur </a:t>
            </a:r>
            <a:r>
              <a:rPr lang="fr-FR" sz="2400" dirty="0" smtClean="0">
                <a:latin typeface="Arial Narrow" pitchFamily="34" charset="0"/>
              </a:rPr>
              <a:t>délai </a:t>
            </a:r>
            <a:r>
              <a:rPr lang="fr-FR" sz="2400" dirty="0">
                <a:latin typeface="Arial Narrow" pitchFamily="34" charset="0"/>
              </a:rPr>
              <a:t>d’actualisation et de </a:t>
            </a:r>
            <a:r>
              <a:rPr lang="fr-FR" sz="2400" dirty="0" smtClean="0">
                <a:latin typeface="Arial Narrow" pitchFamily="34" charset="0"/>
              </a:rPr>
              <a:t>traitement. Ce </a:t>
            </a:r>
            <a:r>
              <a:rPr lang="fr-FR" sz="2400" dirty="0">
                <a:latin typeface="Arial Narrow" pitchFamily="34" charset="0"/>
              </a:rPr>
              <a:t>sont des </a:t>
            </a:r>
            <a:r>
              <a:rPr lang="fr-FR" sz="2400" dirty="0" smtClean="0">
                <a:latin typeface="Arial Narrow" pitchFamily="34" charset="0"/>
              </a:rPr>
              <a:t>données collectées </a:t>
            </a:r>
            <a:r>
              <a:rPr lang="fr-FR" sz="2400" dirty="0">
                <a:latin typeface="Arial Narrow" pitchFamily="34" charset="0"/>
              </a:rPr>
              <a:t>en </a:t>
            </a:r>
            <a:r>
              <a:rPr lang="fr-FR" sz="2400" dirty="0" smtClean="0">
                <a:latin typeface="Arial Narrow" pitchFamily="34" charset="0"/>
              </a:rPr>
              <a:t>temps réel </a:t>
            </a:r>
            <a:r>
              <a:rPr lang="fr-FR" sz="2400" dirty="0">
                <a:latin typeface="Arial Narrow" pitchFamily="34" charset="0"/>
              </a:rPr>
              <a:t>pour servir en temps </a:t>
            </a:r>
            <a:r>
              <a:rPr lang="fr-FR" sz="2400" dirty="0" smtClean="0">
                <a:latin typeface="Arial Narrow" pitchFamily="34" charset="0"/>
              </a:rPr>
              <a:t>réel </a:t>
            </a:r>
            <a:r>
              <a:rPr lang="fr-FR" sz="2400" dirty="0">
                <a:latin typeface="Arial Narrow" pitchFamily="34" charset="0"/>
              </a:rPr>
              <a:t>aussi. Il faut les </a:t>
            </a:r>
            <a:r>
              <a:rPr lang="fr-FR" sz="2400" dirty="0" smtClean="0">
                <a:latin typeface="Arial Narrow" pitchFamily="34" charset="0"/>
              </a:rPr>
              <a:t>analyser </a:t>
            </a:r>
            <a:r>
              <a:rPr lang="fr-FR" sz="2400" dirty="0">
                <a:latin typeface="Arial Narrow" pitchFamily="34" charset="0"/>
              </a:rPr>
              <a:t>en flux(streaming</a:t>
            </a:r>
            <a:r>
              <a:rPr lang="fr-FR" sz="2400" dirty="0" smtClean="0">
                <a:latin typeface="Arial Narrow" pitchFamily="34" charset="0"/>
              </a:rPr>
              <a:t>).</a:t>
            </a:r>
          </a:p>
          <a:p>
            <a:pPr algn="just">
              <a:lnSpc>
                <a:spcPct val="150000"/>
              </a:lnSpc>
            </a:pPr>
            <a:r>
              <a:rPr lang="fr-FR" sz="2400" b="1" dirty="0" smtClean="0">
                <a:latin typeface="Arial Narrow" pitchFamily="34" charset="0"/>
              </a:rPr>
              <a:t>Valeur: </a:t>
            </a:r>
            <a:r>
              <a:rPr lang="fr-FR" sz="2400" dirty="0" smtClean="0">
                <a:latin typeface="Arial Narrow" pitchFamily="34" charset="0"/>
              </a:rPr>
              <a:t>On fait référence a la potentialité des données, en particulier en terme économique, l’analyse demande une certaine expertise statistique et science des données.</a:t>
            </a:r>
            <a:endParaRPr lang="fr-FR" sz="2400" dirty="0">
              <a:latin typeface="Arial Narrow" pitchFamily="34" charset="0"/>
            </a:endParaRPr>
          </a:p>
        </p:txBody>
      </p:sp>
    </p:spTree>
    <p:extLst>
      <p:ext uri="{BB962C8B-B14F-4D97-AF65-F5344CB8AC3E}">
        <p14:creationId xmlns:p14="http://schemas.microsoft.com/office/powerpoint/2010/main" val="27283438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36496" cy="6858000"/>
          </a:xfrm>
        </p:spPr>
        <p:txBody>
          <a:bodyPr/>
          <a:lstStyle/>
          <a:p>
            <a:pPr marL="0" indent="0">
              <a:buNone/>
            </a:pPr>
            <a:r>
              <a:rPr lang="fr-FR" b="1" dirty="0" smtClean="0"/>
              <a:t>Véracité ou Validité</a:t>
            </a:r>
            <a:endParaRPr lang="fr-FR"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8" y="465576"/>
            <a:ext cx="9157648" cy="2963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3816424"/>
            <a:ext cx="6276975" cy="3140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re 1"/>
          <p:cNvSpPr>
            <a:spLocks noGrp="1"/>
          </p:cNvSpPr>
          <p:nvPr>
            <p:ph type="title"/>
          </p:nvPr>
        </p:nvSpPr>
        <p:spPr>
          <a:xfrm>
            <a:off x="914400" y="3366120"/>
            <a:ext cx="7618040" cy="566936"/>
          </a:xfrm>
        </p:spPr>
        <p:txBody>
          <a:bodyPr>
            <a:normAutofit fontScale="90000"/>
          </a:bodyPr>
          <a:lstStyle/>
          <a:p>
            <a:r>
              <a:rPr lang="fr-FR" b="1" dirty="0" smtClean="0"/>
              <a:t>Base de données Vs </a:t>
            </a:r>
            <a:r>
              <a:rPr lang="fr-FR" b="1" dirty="0" err="1" smtClean="0"/>
              <a:t>Big</a:t>
            </a:r>
            <a:r>
              <a:rPr lang="fr-FR" b="1" dirty="0" smtClean="0"/>
              <a:t> Data</a:t>
            </a:r>
            <a:endParaRPr lang="fr-FR" b="1" dirty="0"/>
          </a:p>
        </p:txBody>
      </p:sp>
    </p:spTree>
    <p:extLst>
      <p:ext uri="{BB962C8B-B14F-4D97-AF65-F5344CB8AC3E}">
        <p14:creationId xmlns:p14="http://schemas.microsoft.com/office/powerpoint/2010/main" val="38436755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A3536127-CA30-4EDA-8609-C22BFA205E90}" type="slidenum">
              <a:rPr lang="ru-RU" smtClean="0"/>
              <a:pPr>
                <a:defRPr/>
              </a:pPr>
              <a:t>29</a:t>
            </a:fld>
            <a:endParaRPr lang="ru-RU"/>
          </a:p>
        </p:txBody>
      </p:sp>
      <p:sp>
        <p:nvSpPr>
          <p:cNvPr id="5" name="Rectangle 4"/>
          <p:cNvSpPr/>
          <p:nvPr/>
        </p:nvSpPr>
        <p:spPr>
          <a:xfrm>
            <a:off x="0" y="15949"/>
            <a:ext cx="9252520" cy="7017306"/>
          </a:xfrm>
          <a:prstGeom prst="rect">
            <a:avLst/>
          </a:prstGeom>
        </p:spPr>
        <p:txBody>
          <a:bodyPr wrap="square">
            <a:spAutoFit/>
          </a:bodyPr>
          <a:lstStyle/>
          <a:p>
            <a:pPr algn="ctr"/>
            <a:r>
              <a:rPr lang="fr-FR" sz="3200" b="1" dirty="0">
                <a:latin typeface="Times New Roman" pitchFamily="18" charset="0"/>
                <a:cs typeface="Times New Roman" pitchFamily="18" charset="0"/>
              </a:rPr>
              <a:t>Problématique de traitement et valorisation</a:t>
            </a:r>
          </a:p>
          <a:p>
            <a:pPr algn="just">
              <a:spcBef>
                <a:spcPts val="0"/>
              </a:spcBef>
            </a:pPr>
            <a:endParaRPr lang="fr-FR" sz="3200" b="1" dirty="0" smtClean="0">
              <a:latin typeface="Times New Roman" pitchFamily="18" charset="0"/>
              <a:cs typeface="Times New Roman" pitchFamily="18" charset="0"/>
            </a:endParaRPr>
          </a:p>
          <a:p>
            <a:pPr algn="just">
              <a:spcBef>
                <a:spcPts val="0"/>
              </a:spcBef>
            </a:pPr>
            <a:r>
              <a:rPr lang="fr-FR" sz="3200" dirty="0" smtClean="0">
                <a:latin typeface="Times New Roman" pitchFamily="18" charset="0"/>
                <a:cs typeface="Times New Roman" pitchFamily="18" charset="0"/>
              </a:rPr>
              <a:t>-Les données créées </a:t>
            </a:r>
            <a:r>
              <a:rPr lang="fr-FR" sz="3200" dirty="0">
                <a:latin typeface="Times New Roman" pitchFamily="18" charset="0"/>
                <a:cs typeface="Times New Roman" pitchFamily="18" charset="0"/>
              </a:rPr>
              <a:t>et </a:t>
            </a:r>
            <a:r>
              <a:rPr lang="fr-FR" sz="3200" dirty="0" smtClean="0">
                <a:latin typeface="Times New Roman" pitchFamily="18" charset="0"/>
                <a:cs typeface="Times New Roman" pitchFamily="18" charset="0"/>
              </a:rPr>
              <a:t>échangées </a:t>
            </a:r>
            <a:r>
              <a:rPr lang="fr-FR" sz="3200" dirty="0">
                <a:latin typeface="Times New Roman" pitchFamily="18" charset="0"/>
                <a:cs typeface="Times New Roman" pitchFamily="18" charset="0"/>
              </a:rPr>
              <a:t>sont massives, données non relationnelles;</a:t>
            </a:r>
          </a:p>
          <a:p>
            <a:pPr algn="just">
              <a:spcBef>
                <a:spcPts val="0"/>
              </a:spcBef>
            </a:pPr>
            <a:r>
              <a:rPr lang="fr-FR" sz="3200" dirty="0" smtClean="0">
                <a:latin typeface="Times New Roman" pitchFamily="18" charset="0"/>
                <a:cs typeface="Times New Roman" pitchFamily="18" charset="0"/>
              </a:rPr>
              <a:t>-Beaucoup de </a:t>
            </a:r>
            <a:r>
              <a:rPr lang="fr-FR" sz="3200" dirty="0">
                <a:latin typeface="Times New Roman" pitchFamily="18" charset="0"/>
                <a:cs typeface="Times New Roman" pitchFamily="18" charset="0"/>
              </a:rPr>
              <a:t>données sont dormantes, selon le journal, </a:t>
            </a:r>
            <a:r>
              <a:rPr lang="fr-FR" sz="3200" dirty="0">
                <a:latin typeface="Times New Roman" pitchFamily="18" charset="0"/>
                <a:cs typeface="Times New Roman" pitchFamily="18" charset="0"/>
                <a:hlinkClick r:id="rId2"/>
              </a:rPr>
              <a:t>comarketing-news.fr/,</a:t>
            </a:r>
            <a:r>
              <a:rPr lang="fr-FR" sz="3200" dirty="0">
                <a:latin typeface="Times New Roman" pitchFamily="18" charset="0"/>
                <a:cs typeface="Times New Roman" pitchFamily="18" charset="0"/>
              </a:rPr>
              <a:t> 88% d’entre elles ne sont </a:t>
            </a:r>
            <a:r>
              <a:rPr lang="fr-FR" sz="3200" dirty="0" smtClean="0">
                <a:latin typeface="Times New Roman" pitchFamily="18" charset="0"/>
                <a:cs typeface="Times New Roman" pitchFamily="18" charset="0"/>
              </a:rPr>
              <a:t>pas analysée et non exploitées;</a:t>
            </a:r>
            <a:endParaRPr lang="fr-FR" sz="3200" dirty="0">
              <a:latin typeface="Times New Roman" pitchFamily="18" charset="0"/>
              <a:cs typeface="Times New Roman" pitchFamily="18" charset="0"/>
            </a:endParaRPr>
          </a:p>
          <a:p>
            <a:pPr algn="just">
              <a:spcBef>
                <a:spcPts val="0"/>
              </a:spcBef>
            </a:pPr>
            <a:r>
              <a:rPr lang="fr-FR" sz="3200" dirty="0" smtClean="0">
                <a:latin typeface="Times New Roman" pitchFamily="18" charset="0"/>
                <a:cs typeface="Times New Roman" pitchFamily="18" charset="0"/>
              </a:rPr>
              <a:t>-</a:t>
            </a:r>
            <a:r>
              <a:rPr lang="fr-FR" sz="3200" dirty="0">
                <a:latin typeface="Times New Roman" pitchFamily="18" charset="0"/>
                <a:cs typeface="Times New Roman" pitchFamily="18" charset="0"/>
              </a:rPr>
              <a:t>Trop de données, tue les données</a:t>
            </a:r>
            <a:r>
              <a:rPr lang="fr-FR" sz="3200" dirty="0" smtClean="0">
                <a:latin typeface="Times New Roman" pitchFamily="18" charset="0"/>
                <a:cs typeface="Times New Roman" pitchFamily="18" charset="0"/>
              </a:rPr>
              <a:t>;</a:t>
            </a:r>
          </a:p>
          <a:p>
            <a:pPr marL="0" indent="0" algn="just">
              <a:spcBef>
                <a:spcPts val="0"/>
              </a:spcBef>
              <a:buNone/>
            </a:pPr>
            <a:r>
              <a:rPr lang="fr-FR" sz="3200" dirty="0" smtClean="0">
                <a:latin typeface="Times New Roman" pitchFamily="18" charset="0"/>
                <a:cs typeface="Times New Roman" pitchFamily="18" charset="0"/>
              </a:rPr>
              <a:t> </a:t>
            </a:r>
            <a:r>
              <a:rPr lang="fr-FR" sz="3200" dirty="0">
                <a:latin typeface="Times New Roman" pitchFamily="18" charset="0"/>
                <a:cs typeface="Times New Roman" pitchFamily="18" charset="0"/>
              </a:rPr>
              <a:t>-Données de diffèrent format et volumineuses (exemple : Amazon, </a:t>
            </a:r>
            <a:r>
              <a:rPr lang="fr-FR" sz="3200" dirty="0" err="1">
                <a:latin typeface="Times New Roman" pitchFamily="18" charset="0"/>
                <a:cs typeface="Times New Roman" pitchFamily="18" charset="0"/>
              </a:rPr>
              <a:t>ebay</a:t>
            </a:r>
            <a:r>
              <a:rPr lang="fr-FR" sz="3200" dirty="0">
                <a:latin typeface="Times New Roman" pitchFamily="18" charset="0"/>
                <a:cs typeface="Times New Roman" pitchFamily="18" charset="0"/>
              </a:rPr>
              <a:t>, </a:t>
            </a:r>
            <a:r>
              <a:rPr lang="fr-FR" sz="3200" dirty="0" err="1">
                <a:latin typeface="Times New Roman" pitchFamily="18" charset="0"/>
                <a:cs typeface="Times New Roman" pitchFamily="18" charset="0"/>
              </a:rPr>
              <a:t>Lumitel</a:t>
            </a:r>
            <a:r>
              <a:rPr lang="fr-FR" sz="3200" dirty="0">
                <a:latin typeface="Times New Roman" pitchFamily="18" charset="0"/>
                <a:cs typeface="Times New Roman" pitchFamily="18" charset="0"/>
              </a:rPr>
              <a:t>, </a:t>
            </a:r>
            <a:r>
              <a:rPr lang="fr-FR" sz="3200" dirty="0" err="1">
                <a:latin typeface="Times New Roman" pitchFamily="18" charset="0"/>
                <a:cs typeface="Times New Roman" pitchFamily="18" charset="0"/>
              </a:rPr>
              <a:t>Econet</a:t>
            </a:r>
            <a:r>
              <a:rPr lang="fr-FR" sz="3200" dirty="0">
                <a:latin typeface="Times New Roman" pitchFamily="18" charset="0"/>
                <a:cs typeface="Times New Roman" pitchFamily="18" charset="0"/>
              </a:rPr>
              <a:t> Leo, banques…), les services des moteurs de recherche comme Google,…et autres</a:t>
            </a:r>
            <a:r>
              <a:rPr lang="fr-FR" sz="3200" dirty="0" smtClean="0">
                <a:latin typeface="Times New Roman" pitchFamily="18" charset="0"/>
                <a:cs typeface="Times New Roman" pitchFamily="18" charset="0"/>
              </a:rPr>
              <a:t>;</a:t>
            </a:r>
            <a:endParaRPr lang="fr-FR" sz="3200" dirty="0">
              <a:latin typeface="Times New Roman" pitchFamily="18" charset="0"/>
              <a:cs typeface="Times New Roman" pitchFamily="18" charset="0"/>
            </a:endParaRPr>
          </a:p>
          <a:p>
            <a:pPr algn="just">
              <a:spcBef>
                <a:spcPct val="10000"/>
              </a:spcBef>
            </a:pPr>
            <a:endParaRPr lang="fr-FR" sz="3200" dirty="0">
              <a:latin typeface="Times New Roman" pitchFamily="18" charset="0"/>
              <a:cs typeface="Times New Roman" pitchFamily="18" charset="0"/>
            </a:endParaRPr>
          </a:p>
          <a:p>
            <a:pPr algn="just">
              <a:spcBef>
                <a:spcPct val="10000"/>
              </a:spcBef>
            </a:pPr>
            <a:endParaRPr lang="fr-FR" sz="2800" dirty="0">
              <a:latin typeface="Times New Roman" pitchFamily="18" charset="0"/>
              <a:cs typeface="Times New Roman" pitchFamily="18" charset="0"/>
            </a:endParaRPr>
          </a:p>
        </p:txBody>
      </p:sp>
    </p:spTree>
    <p:extLst>
      <p:ext uri="{BB962C8B-B14F-4D97-AF65-F5344CB8AC3E}">
        <p14:creationId xmlns:p14="http://schemas.microsoft.com/office/powerpoint/2010/main" val="36131984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07019"/>
            <a:ext cx="9144000" cy="634082"/>
          </a:xfrm>
        </p:spPr>
        <p:txBody>
          <a:bodyPr>
            <a:noAutofit/>
          </a:bodyPr>
          <a:lstStyle/>
          <a:p>
            <a:r>
              <a:rPr lang="fr-FR" sz="3800" b="1" dirty="0" smtClean="0">
                <a:latin typeface="Times New Roman" panose="02020603050405020304" pitchFamily="18" charset="0"/>
                <a:cs typeface="Times New Roman" panose="02020603050405020304" pitchFamily="18" charset="0"/>
              </a:rPr>
              <a:t>Données hétérogènes issues de différentes sources</a:t>
            </a:r>
            <a:endParaRPr lang="fr-FR" sz="38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p:txBody>
          <a:bodyPr/>
          <a:lstStyle/>
          <a:p>
            <a:pPr marL="0" indent="0">
              <a:buNone/>
            </a:pPr>
            <a:endParaRPr lang="fr-FR" dirty="0"/>
          </a:p>
        </p:txBody>
      </p:sp>
      <p:pic>
        <p:nvPicPr>
          <p:cNvPr id="4" name="Image 3"/>
          <p:cNvPicPr>
            <a:picLocks noChangeAspect="1"/>
          </p:cNvPicPr>
          <p:nvPr/>
        </p:nvPicPr>
        <p:blipFill>
          <a:blip r:embed="rId2"/>
          <a:stretch>
            <a:fillRect/>
          </a:stretch>
        </p:blipFill>
        <p:spPr>
          <a:xfrm>
            <a:off x="-18327" y="1027467"/>
            <a:ext cx="9144000" cy="5671428"/>
          </a:xfrm>
          <a:prstGeom prst="rect">
            <a:avLst/>
          </a:prstGeom>
        </p:spPr>
      </p:pic>
    </p:spTree>
    <p:extLst>
      <p:ext uri="{BB962C8B-B14F-4D97-AF65-F5344CB8AC3E}">
        <p14:creationId xmlns:p14="http://schemas.microsoft.com/office/powerpoint/2010/main" val="32789380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0528" y="-99392"/>
            <a:ext cx="9468544" cy="1143000"/>
          </a:xfrm>
        </p:spPr>
        <p:txBody>
          <a:bodyPr>
            <a:normAutofit fontScale="90000"/>
          </a:bodyPr>
          <a:lstStyle/>
          <a:p>
            <a:r>
              <a:rPr lang="fr-FR" sz="3600" dirty="0" smtClean="0">
                <a:latin typeface="Times New Roman" panose="02020603050405020304" pitchFamily="18" charset="0"/>
                <a:cs typeface="Times New Roman" panose="02020603050405020304" pitchFamily="18" charset="0"/>
              </a:rPr>
              <a:t>Principe de fonctionnement </a:t>
            </a:r>
            <a:r>
              <a:rPr lang="fr-FR" sz="3600" dirty="0">
                <a:latin typeface="Times New Roman" panose="02020603050405020304" pitchFamily="18" charset="0"/>
                <a:cs typeface="Times New Roman" panose="02020603050405020304" pitchFamily="18" charset="0"/>
              </a:rPr>
              <a:t>du système </a:t>
            </a:r>
            <a:r>
              <a:rPr lang="fr-FR" sz="3600" dirty="0" smtClean="0">
                <a:latin typeface="Times New Roman" panose="02020603050405020304" pitchFamily="18" charset="0"/>
                <a:cs typeface="Times New Roman" panose="02020603050405020304" pitchFamily="18" charset="0"/>
              </a:rPr>
              <a:t>d extraction des connaissances a  partir </a:t>
            </a:r>
            <a:r>
              <a:rPr lang="fr-FR" sz="3600" smtClean="0">
                <a:latin typeface="Times New Roman" panose="02020603050405020304" pitchFamily="18" charset="0"/>
                <a:cs typeface="Times New Roman" panose="02020603050405020304" pitchFamily="18" charset="0"/>
              </a:rPr>
              <a:t>des données</a:t>
            </a:r>
            <a:endParaRPr lang="fr-FR" sz="3600" dirty="0"/>
          </a:p>
        </p:txBody>
      </p:sp>
      <p:sp>
        <p:nvSpPr>
          <p:cNvPr id="3" name="Espace réservé du contenu 2"/>
          <p:cNvSpPr>
            <a:spLocks noGrp="1"/>
          </p:cNvSpPr>
          <p:nvPr>
            <p:ph idx="1"/>
          </p:nvPr>
        </p:nvSpPr>
        <p:spPr>
          <a:xfrm>
            <a:off x="0" y="1600200"/>
            <a:ext cx="8686800" cy="5257800"/>
          </a:xfrm>
        </p:spPr>
        <p:txBody>
          <a:bodyPr>
            <a:normAutofit lnSpcReduction="10000"/>
          </a:bodyPr>
          <a:lstStyle/>
          <a:p>
            <a:pPr marL="0" indent="0">
              <a:buNone/>
            </a:pPr>
            <a:endParaRPr lang="fr-FR" dirty="0"/>
          </a:p>
          <a:p>
            <a:pPr marL="0" indent="0">
              <a:buNone/>
            </a:pPr>
            <a:endParaRPr lang="fr-FR" dirty="0" smtClean="0"/>
          </a:p>
          <a:p>
            <a:pPr marL="0" indent="0">
              <a:buNone/>
            </a:pPr>
            <a:endParaRPr lang="fr-FR" dirty="0"/>
          </a:p>
          <a:p>
            <a:pPr marL="0" indent="0">
              <a:buNone/>
            </a:pPr>
            <a:endParaRPr lang="fr-FR" dirty="0" smtClean="0"/>
          </a:p>
          <a:p>
            <a:pPr marL="0" indent="0">
              <a:buNone/>
            </a:pPr>
            <a:endParaRPr lang="fr-FR" dirty="0"/>
          </a:p>
          <a:p>
            <a:pPr marL="0" indent="0">
              <a:buNone/>
            </a:pPr>
            <a:endParaRPr lang="fr-FR" dirty="0" smtClean="0"/>
          </a:p>
          <a:p>
            <a:pPr marL="0" indent="0">
              <a:spcBef>
                <a:spcPts val="0"/>
              </a:spcBef>
              <a:buNone/>
            </a:pPr>
            <a:endParaRPr lang="fr-FR" sz="2400" dirty="0" smtClean="0">
              <a:latin typeface="Times New Roman" panose="02020603050405020304" pitchFamily="18" charset="0"/>
              <a:cs typeface="Times New Roman" panose="02020603050405020304" pitchFamily="18" charset="0"/>
            </a:endParaRPr>
          </a:p>
          <a:p>
            <a:pPr marL="0" indent="0">
              <a:spcBef>
                <a:spcPts val="0"/>
              </a:spcBef>
              <a:buNone/>
            </a:pPr>
            <a:r>
              <a:rPr lang="fr-FR" sz="2400" dirty="0">
                <a:latin typeface="Times New Roman" panose="02020603050405020304" pitchFamily="18" charset="0"/>
                <a:cs typeface="Times New Roman" panose="02020603050405020304" pitchFamily="18" charset="0"/>
              </a:rPr>
              <a:t> </a:t>
            </a:r>
            <a:endParaRPr lang="fr-FR" sz="2400" dirty="0" smtClean="0">
              <a:latin typeface="Times New Roman" panose="02020603050405020304" pitchFamily="18" charset="0"/>
              <a:cs typeface="Times New Roman" panose="02020603050405020304" pitchFamily="18" charset="0"/>
            </a:endParaRPr>
          </a:p>
          <a:p>
            <a:pPr marL="0" indent="0">
              <a:spcBef>
                <a:spcPts val="0"/>
              </a:spcBef>
              <a:buNone/>
            </a:pPr>
            <a:r>
              <a:rPr lang="fr-FR" sz="2400" dirty="0" err="1" smtClean="0">
                <a:latin typeface="Times New Roman" panose="02020603050405020304" pitchFamily="18" charset="0"/>
                <a:cs typeface="Times New Roman" panose="02020603050405020304" pitchFamily="18" charset="0"/>
              </a:rPr>
              <a:t>E.T.L:Extract</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Transform</a:t>
            </a: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Load</a:t>
            </a:r>
            <a:endParaRPr lang="fr-FR" sz="2400" dirty="0" smtClean="0">
              <a:latin typeface="Times New Roman" panose="02020603050405020304" pitchFamily="18" charset="0"/>
              <a:cs typeface="Times New Roman" panose="02020603050405020304" pitchFamily="18" charset="0"/>
            </a:endParaRPr>
          </a:p>
          <a:p>
            <a:pPr marL="0" indent="0">
              <a:spcBef>
                <a:spcPts val="0"/>
              </a:spcBef>
              <a:buNone/>
            </a:pPr>
            <a:r>
              <a:rPr lang="fr-FR" sz="2400" dirty="0" smtClean="0">
                <a:latin typeface="Times New Roman" panose="02020603050405020304" pitchFamily="18" charset="0"/>
                <a:cs typeface="Times New Roman" panose="02020603050405020304" pitchFamily="18" charset="0"/>
              </a:rPr>
              <a:t>DWH: Data </a:t>
            </a:r>
            <a:r>
              <a:rPr lang="fr-FR" sz="2400" dirty="0" err="1" smtClean="0">
                <a:latin typeface="Times New Roman" panose="02020603050405020304" pitchFamily="18" charset="0"/>
                <a:cs typeface="Times New Roman" panose="02020603050405020304" pitchFamily="18" charset="0"/>
              </a:rPr>
              <a:t>Ware</a:t>
            </a:r>
            <a:r>
              <a:rPr lang="fr-FR" sz="2400" dirty="0" smtClean="0">
                <a:latin typeface="Times New Roman" panose="02020603050405020304" pitchFamily="18" charset="0"/>
                <a:cs typeface="Times New Roman" panose="02020603050405020304" pitchFamily="18" charset="0"/>
              </a:rPr>
              <a:t> House</a:t>
            </a:r>
          </a:p>
          <a:p>
            <a:pPr marL="0" indent="0">
              <a:spcBef>
                <a:spcPts val="0"/>
              </a:spcBef>
              <a:buNone/>
            </a:pPr>
            <a:r>
              <a:rPr lang="fr-FR" sz="2400" dirty="0" smtClean="0">
                <a:latin typeface="Times New Roman" panose="02020603050405020304" pitchFamily="18" charset="0"/>
                <a:cs typeface="Times New Roman" panose="02020603050405020304" pitchFamily="18" charset="0"/>
              </a:rPr>
              <a:t>DM: Datamining</a:t>
            </a:r>
          </a:p>
          <a:p>
            <a:pPr marL="0" indent="0">
              <a:spcBef>
                <a:spcPts val="0"/>
              </a:spcBef>
              <a:buNone/>
            </a:pPr>
            <a:r>
              <a:rPr lang="fr-FR" sz="2400" dirty="0" smtClean="0">
                <a:latin typeface="Times New Roman" panose="02020603050405020304" pitchFamily="18" charset="0"/>
                <a:cs typeface="Times New Roman" panose="02020603050405020304" pitchFamily="18" charset="0"/>
              </a:rPr>
              <a:t>OLAP: </a:t>
            </a:r>
            <a:r>
              <a:rPr lang="fr-FR" sz="2400" dirty="0">
                <a:latin typeface="Times New Roman" panose="02020603050405020304" pitchFamily="18" charset="0"/>
                <a:cs typeface="Times New Roman" panose="02020603050405020304" pitchFamily="18" charset="0"/>
              </a:rPr>
              <a:t>Online </a:t>
            </a:r>
            <a:r>
              <a:rPr lang="fr-FR" sz="2400" dirty="0" err="1">
                <a:latin typeface="Times New Roman" panose="02020603050405020304" pitchFamily="18" charset="0"/>
                <a:cs typeface="Times New Roman" panose="02020603050405020304" pitchFamily="18" charset="0"/>
              </a:rPr>
              <a:t>Analytical</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Processing</a:t>
            </a:r>
            <a:endParaRPr lang="fr-FR" sz="2400" dirty="0">
              <a:latin typeface="Times New Roman" panose="02020603050405020304" pitchFamily="18" charset="0"/>
              <a:cs typeface="Times New Roman" panose="02020603050405020304" pitchFamily="18" charset="0"/>
            </a:endParaRPr>
          </a:p>
          <a:p>
            <a:pPr marL="0" indent="0">
              <a:buNone/>
            </a:pPr>
            <a:endParaRPr lang="fr-FR" dirty="0" smtClean="0"/>
          </a:p>
          <a:p>
            <a:pPr marL="0" indent="0">
              <a:buNone/>
            </a:pPr>
            <a:endParaRPr lang="fr-FR" dirty="0" smtClean="0"/>
          </a:p>
          <a:p>
            <a:pPr marL="0" indent="0">
              <a:buNone/>
            </a:pPr>
            <a:endParaRPr lang="fr-FR" dirty="0"/>
          </a:p>
        </p:txBody>
      </p:sp>
      <p:sp>
        <p:nvSpPr>
          <p:cNvPr id="4" name="Espace réservé du numéro de diapositive 3"/>
          <p:cNvSpPr>
            <a:spLocks noGrp="1"/>
          </p:cNvSpPr>
          <p:nvPr>
            <p:ph type="sldNum" sz="quarter" idx="12"/>
          </p:nvPr>
        </p:nvSpPr>
        <p:spPr/>
        <p:txBody>
          <a:bodyPr/>
          <a:lstStyle/>
          <a:p>
            <a:pPr>
              <a:defRPr/>
            </a:pPr>
            <a:fld id="{A3536127-CA30-4EDA-8609-C22BFA205E90}" type="slidenum">
              <a:rPr lang="ru-RU" smtClean="0"/>
              <a:pPr>
                <a:defRPr/>
              </a:pPr>
              <a:t>31</a:t>
            </a:fld>
            <a:endParaRPr lang="ru-RU"/>
          </a:p>
        </p:txBody>
      </p:sp>
      <p:pic>
        <p:nvPicPr>
          <p:cNvPr id="5" name="Image 4"/>
          <p:cNvPicPr>
            <a:picLocks noChangeAspect="1"/>
          </p:cNvPicPr>
          <p:nvPr/>
        </p:nvPicPr>
        <p:blipFill>
          <a:blip r:embed="rId2"/>
          <a:stretch>
            <a:fillRect/>
          </a:stretch>
        </p:blipFill>
        <p:spPr>
          <a:xfrm>
            <a:off x="457200" y="908720"/>
            <a:ext cx="8352928" cy="4464496"/>
          </a:xfrm>
          <a:prstGeom prst="rect">
            <a:avLst/>
          </a:prstGeom>
        </p:spPr>
      </p:pic>
    </p:spTree>
    <p:extLst>
      <p:ext uri="{BB962C8B-B14F-4D97-AF65-F5344CB8AC3E}">
        <p14:creationId xmlns:p14="http://schemas.microsoft.com/office/powerpoint/2010/main" val="2651275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Autofit/>
          </a:bodyPr>
          <a:lstStyle/>
          <a:p>
            <a:pPr marL="0" indent="0">
              <a:buNone/>
            </a:pPr>
            <a:r>
              <a:rPr lang="fr-FR" dirty="0">
                <a:latin typeface="Times New Roman" panose="02020603050405020304" pitchFamily="18" charset="0"/>
                <a:cs typeface="Times New Roman" panose="02020603050405020304" pitchFamily="18" charset="0"/>
              </a:rPr>
              <a:t>On rappelle que Data Mining est au cœur de KDD (</a:t>
            </a:r>
            <a:r>
              <a:rPr lang="fr-FR" dirty="0" err="1">
                <a:latin typeface="Times New Roman" panose="02020603050405020304" pitchFamily="18" charset="0"/>
                <a:cs typeface="Times New Roman" panose="02020603050405020304" pitchFamily="18" charset="0"/>
              </a:rPr>
              <a:t>Knowledge</a:t>
            </a:r>
            <a:r>
              <a:rPr lang="fr-FR" dirty="0">
                <a:latin typeface="Times New Roman" panose="02020603050405020304" pitchFamily="18" charset="0"/>
                <a:cs typeface="Times New Roman" panose="02020603050405020304" pitchFamily="18" charset="0"/>
              </a:rPr>
              <a:t> Data </a:t>
            </a:r>
            <a:r>
              <a:rPr lang="fr-FR" dirty="0" err="1">
                <a:latin typeface="Times New Roman" panose="02020603050405020304" pitchFamily="18" charset="0"/>
                <a:cs typeface="Times New Roman" panose="02020603050405020304" pitchFamily="18" charset="0"/>
              </a:rPr>
              <a:t>Discovery</a:t>
            </a:r>
            <a:r>
              <a:rPr lang="fr-FR" dirty="0" smtClean="0">
                <a:latin typeface="Times New Roman" panose="02020603050405020304" pitchFamily="18" charset="0"/>
                <a:cs typeface="Times New Roman" panose="02020603050405020304" pitchFamily="18" charset="0"/>
              </a:rPr>
              <a:t>)</a:t>
            </a:r>
            <a:endParaRPr lang="fr-FR" b="1" dirty="0">
              <a:latin typeface="Times New Roman" panose="02020603050405020304" pitchFamily="18" charset="0"/>
              <a:cs typeface="Times New Roman" panose="02020603050405020304" pitchFamily="18" charset="0"/>
            </a:endParaRPr>
          </a:p>
          <a:p>
            <a:pPr marL="0" indent="0">
              <a:buNone/>
            </a:pPr>
            <a:r>
              <a:rPr lang="fr-FR" b="1" dirty="0" smtClean="0">
                <a:latin typeface="Times New Roman" panose="02020603050405020304" pitchFamily="18" charset="0"/>
                <a:cs typeface="Times New Roman" panose="02020603050405020304" pitchFamily="18" charset="0"/>
              </a:rPr>
              <a:t>Solution proposée:</a:t>
            </a:r>
          </a:p>
          <a:p>
            <a:r>
              <a:rPr lang="fr-FR" dirty="0" smtClean="0">
                <a:latin typeface="Times New Roman" panose="02020603050405020304" pitchFamily="18" charset="0"/>
                <a:cs typeface="Times New Roman" panose="02020603050405020304" pitchFamily="18" charset="0"/>
              </a:rPr>
              <a:t>Traitement parallèle(</a:t>
            </a:r>
            <a:r>
              <a:rPr lang="fr-FR" dirty="0" err="1" smtClean="0">
                <a:latin typeface="Times New Roman" panose="02020603050405020304" pitchFamily="18" charset="0"/>
                <a:cs typeface="Times New Roman" panose="02020603050405020304" pitchFamily="18" charset="0"/>
              </a:rPr>
              <a:t>HALoop,BigSQL</a:t>
            </a:r>
            <a:r>
              <a:rPr lang="fr-FR" dirty="0" smtClean="0">
                <a:latin typeface="Times New Roman" panose="02020603050405020304" pitchFamily="18" charset="0"/>
                <a:cs typeface="Times New Roman" panose="02020603050405020304" pitchFamily="18" charset="0"/>
              </a:rPr>
              <a:t>)</a:t>
            </a:r>
          </a:p>
          <a:p>
            <a:r>
              <a:rPr lang="fr-FR" dirty="0" smtClean="0">
                <a:latin typeface="Times New Roman" panose="02020603050405020304" pitchFamily="18" charset="0"/>
                <a:cs typeface="Times New Roman" panose="02020603050405020304" pitchFamily="18" charset="0"/>
              </a:rPr>
              <a:t>Stockage parallèle(Multiserveurs:)</a:t>
            </a:r>
            <a:endParaRPr lang="fr-FR" dirty="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Leur traitement est distribue(</a:t>
            </a:r>
            <a:r>
              <a:rPr lang="fr-FR" dirty="0" err="1" smtClean="0">
                <a:latin typeface="Times New Roman" panose="02020603050405020304" pitchFamily="18" charset="0"/>
                <a:cs typeface="Times New Roman" panose="02020603050405020304" pitchFamily="18" charset="0"/>
              </a:rPr>
              <a:t>sharding</a:t>
            </a:r>
            <a:r>
              <a:rPr lang="fr-FR" dirty="0" smtClean="0">
                <a:latin typeface="Times New Roman" panose="02020603050405020304" pitchFamily="18" charset="0"/>
                <a:cs typeface="Times New Roman" panose="02020603050405020304" pitchFamily="18" charset="0"/>
              </a:rPr>
              <a:t>) sur différents serveur et utilise les algorithme de de </a:t>
            </a:r>
            <a:r>
              <a:rPr lang="fr-FR" dirty="0" err="1" smtClean="0">
                <a:latin typeface="Times New Roman" panose="02020603050405020304" pitchFamily="18" charset="0"/>
                <a:cs typeface="Times New Roman" panose="02020603050405020304" pitchFamily="18" charset="0"/>
              </a:rPr>
              <a:t>Mapreduce</a:t>
            </a:r>
            <a:r>
              <a:rPr lang="fr-FR" dirty="0" smtClean="0">
                <a:latin typeface="Times New Roman" panose="02020603050405020304" pitchFamily="18" charset="0"/>
                <a:cs typeface="Times New Roman" panose="02020603050405020304" pitchFamily="18" charset="0"/>
              </a:rPr>
              <a:t> pour le traitement distribue des </a:t>
            </a:r>
            <a:r>
              <a:rPr lang="fr-FR" dirty="0" err="1" smtClean="0">
                <a:latin typeface="Times New Roman" panose="02020603050405020304" pitchFamily="18" charset="0"/>
                <a:cs typeface="Times New Roman" panose="02020603050405020304" pitchFamily="18" charset="0"/>
              </a:rPr>
              <a:t>megadonnees</a:t>
            </a:r>
            <a:r>
              <a:rPr lang="fr-FR" dirty="0" smtClean="0">
                <a:latin typeface="Times New Roman" panose="02020603050405020304" pitchFamily="18" charset="0"/>
                <a:cs typeface="Times New Roman" panose="02020603050405020304" pitchFamily="18" charset="0"/>
              </a:rPr>
              <a:t> sur  les différents serveurs.</a:t>
            </a:r>
          </a:p>
          <a:p>
            <a:pPr marL="0" indent="0">
              <a:buNone/>
            </a:pPr>
            <a:r>
              <a:rPr lang="fr-FR" dirty="0" err="1" smtClean="0">
                <a:latin typeface="Times New Roman" panose="02020603050405020304" pitchFamily="18" charset="0"/>
                <a:cs typeface="Times New Roman" panose="02020603050405020304" pitchFamily="18" charset="0"/>
              </a:rPr>
              <a:t>Mapreduce</a:t>
            </a:r>
            <a:r>
              <a:rPr lang="fr-FR" dirty="0" smtClean="0">
                <a:latin typeface="Times New Roman" panose="02020603050405020304" pitchFamily="18" charset="0"/>
                <a:cs typeface="Times New Roman" panose="02020603050405020304" pitchFamily="18" charset="0"/>
              </a:rPr>
              <a:t> est souvent intègre de le </a:t>
            </a:r>
            <a:r>
              <a:rPr lang="fr-FR" dirty="0" err="1" smtClean="0">
                <a:latin typeface="Times New Roman" panose="02020603050405020304" pitchFamily="18" charset="0"/>
                <a:cs typeface="Times New Roman" panose="02020603050405020304" pitchFamily="18" charset="0"/>
              </a:rPr>
              <a:t>framework</a:t>
            </a:r>
            <a:r>
              <a:rPr lang="fr-FR" dirty="0" smtClean="0">
                <a:latin typeface="Times New Roman" panose="02020603050405020304" pitchFamily="18" charset="0"/>
                <a:cs typeface="Times New Roman" panose="02020603050405020304" pitchFamily="18" charset="0"/>
              </a:rPr>
              <a:t> </a:t>
            </a:r>
            <a:r>
              <a:rPr lang="fr-FR" dirty="0" err="1" smtClean="0">
                <a:latin typeface="Times New Roman" panose="02020603050405020304" pitchFamily="18" charset="0"/>
                <a:cs typeface="Times New Roman" panose="02020603050405020304" pitchFamily="18" charset="0"/>
              </a:rPr>
              <a:t>hadoop</a:t>
            </a:r>
            <a:r>
              <a:rPr lang="fr-FR" dirty="0" smtClean="0">
                <a:latin typeface="Times New Roman" panose="02020603050405020304" pitchFamily="18" charset="0"/>
                <a:cs typeface="Times New Roman" panose="02020603050405020304" pitchFamily="18" charset="0"/>
              </a:rPr>
              <a:t> (Logiciel </a:t>
            </a:r>
            <a:r>
              <a:rPr lang="fr-FR" dirty="0" err="1" smtClean="0">
                <a:latin typeface="Times New Roman" panose="02020603050405020304" pitchFamily="18" charset="0"/>
                <a:cs typeface="Times New Roman" panose="02020603050405020304" pitchFamily="18" charset="0"/>
              </a:rPr>
              <a:t>Opensource</a:t>
            </a:r>
            <a:r>
              <a:rPr lang="fr-FR" dirty="0" smtClean="0">
                <a:latin typeface="Times New Roman" panose="02020603050405020304" pitchFamily="18" charset="0"/>
                <a:cs typeface="Times New Roman" panose="02020603050405020304" pitchFamily="18" charset="0"/>
              </a:rPr>
              <a:t> de la fondation Apache),</a:t>
            </a:r>
            <a:r>
              <a:rPr lang="fr-FR" dirty="0" err="1" smtClean="0">
                <a:latin typeface="Times New Roman" panose="02020603050405020304" pitchFamily="18" charset="0"/>
                <a:cs typeface="Times New Roman" panose="02020603050405020304" pitchFamily="18" charset="0"/>
              </a:rPr>
              <a:t>dedies</a:t>
            </a:r>
            <a:r>
              <a:rPr lang="fr-FR" dirty="0" smtClean="0">
                <a:latin typeface="Times New Roman" panose="02020603050405020304" pitchFamily="18" charset="0"/>
                <a:cs typeface="Times New Roman" panose="02020603050405020304" pitchFamily="18" charset="0"/>
              </a:rPr>
              <a:t> au </a:t>
            </a:r>
            <a:r>
              <a:rPr lang="fr-FR" dirty="0" err="1" smtClean="0">
                <a:latin typeface="Times New Roman" panose="02020603050405020304" pitchFamily="18" charset="0"/>
                <a:cs typeface="Times New Roman" panose="02020603050405020304" pitchFamily="18" charset="0"/>
              </a:rPr>
              <a:t>stackage</a:t>
            </a:r>
            <a:r>
              <a:rPr lang="fr-FR" dirty="0" smtClean="0">
                <a:latin typeface="Times New Roman" panose="02020603050405020304" pitchFamily="18" charset="0"/>
                <a:cs typeface="Times New Roman" panose="02020603050405020304" pitchFamily="18" charset="0"/>
              </a:rPr>
              <a:t> des </a:t>
            </a:r>
            <a:r>
              <a:rPr lang="fr-FR" dirty="0" err="1" smtClean="0">
                <a:latin typeface="Times New Roman" panose="02020603050405020304" pitchFamily="18" charset="0"/>
                <a:cs typeface="Times New Roman" panose="02020603050405020304" pitchFamily="18" charset="0"/>
              </a:rPr>
              <a:t>donnees</a:t>
            </a:r>
            <a:r>
              <a:rPr lang="fr-FR" dirty="0" smtClean="0">
                <a:latin typeface="Times New Roman" panose="02020603050405020304" pitchFamily="18" charset="0"/>
                <a:cs typeface="Times New Roman" panose="02020603050405020304" pitchFamily="18" charset="0"/>
              </a:rPr>
              <a:t> massives et ayant deux composant:</a:t>
            </a:r>
          </a:p>
          <a:p>
            <a:pPr marL="0" indent="0">
              <a:buNone/>
            </a:pPr>
            <a:r>
              <a:rPr lang="fr-FR" dirty="0" smtClean="0"/>
              <a:t>-Parallélisassions des données(HDFS)</a:t>
            </a:r>
          </a:p>
          <a:p>
            <a:pPr marL="0" indent="0">
              <a:buNone/>
            </a:pPr>
            <a:r>
              <a:rPr lang="fr-FR" dirty="0" smtClean="0"/>
              <a:t>-Analyse des données(</a:t>
            </a:r>
            <a:r>
              <a:rPr lang="fr-FR" dirty="0" err="1" smtClean="0"/>
              <a:t>Hadoop</a:t>
            </a:r>
            <a:r>
              <a:rPr lang="fr-FR" dirty="0" smtClean="0"/>
              <a:t>)</a:t>
            </a:r>
          </a:p>
        </p:txBody>
      </p:sp>
    </p:spTree>
    <p:extLst>
      <p:ext uri="{BB962C8B-B14F-4D97-AF65-F5344CB8AC3E}">
        <p14:creationId xmlns:p14="http://schemas.microsoft.com/office/powerpoint/2010/main" val="35200552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63769" y="404664"/>
            <a:ext cx="8746588" cy="6336703"/>
          </a:xfrm>
        </p:spPr>
        <p:txBody>
          <a:bodyPr>
            <a:normAutofit fontScale="70000" lnSpcReduction="20000"/>
          </a:bodyPr>
          <a:lstStyle/>
          <a:p>
            <a:pPr marL="0" indent="0" algn="just">
              <a:buNone/>
            </a:pPr>
            <a:r>
              <a:rPr lang="fr-FR" b="1" dirty="0" err="1">
                <a:latin typeface="Times New Roman" panose="02020603050405020304" pitchFamily="18" charset="0"/>
                <a:cs typeface="Times New Roman" panose="02020603050405020304" pitchFamily="18" charset="0"/>
              </a:rPr>
              <a:t>MapReduce</a:t>
            </a:r>
            <a:r>
              <a:rPr lang="fr-FR" dirty="0">
                <a:latin typeface="Times New Roman" panose="02020603050405020304" pitchFamily="18" charset="0"/>
                <a:cs typeface="Times New Roman" panose="02020603050405020304" pitchFamily="18" charset="0"/>
              </a:rPr>
              <a:t> est un environnement de programmation pour plateformes parallèles. Il suppose un système d’exploitation distribué gérant des données encodées sous forme de paires (c, v). Le premier élément de cette paire est appelé </a:t>
            </a:r>
            <a:r>
              <a:rPr lang="fr-FR" b="1" dirty="0">
                <a:latin typeface="Times New Roman" panose="02020603050405020304" pitchFamily="18" charset="0"/>
                <a:cs typeface="Times New Roman" panose="02020603050405020304" pitchFamily="18" charset="0"/>
              </a:rPr>
              <a:t>clé</a:t>
            </a:r>
            <a:r>
              <a:rPr lang="fr-FR" dirty="0">
                <a:latin typeface="Times New Roman" panose="02020603050405020304" pitchFamily="18" charset="0"/>
                <a:cs typeface="Times New Roman" panose="02020603050405020304" pitchFamily="18" charset="0"/>
              </a:rPr>
              <a:t>, et le second </a:t>
            </a:r>
            <a:r>
              <a:rPr lang="fr-FR" b="1" dirty="0">
                <a:latin typeface="Times New Roman" panose="02020603050405020304" pitchFamily="18" charset="0"/>
                <a:cs typeface="Times New Roman" panose="02020603050405020304" pitchFamily="18" charset="0"/>
              </a:rPr>
              <a:t>valeur</a:t>
            </a:r>
            <a:r>
              <a:rPr lang="fr-FR" dirty="0">
                <a:latin typeface="Times New Roman" panose="02020603050405020304" pitchFamily="18" charset="0"/>
                <a:cs typeface="Times New Roman" panose="02020603050405020304" pitchFamily="18" charset="0"/>
              </a:rPr>
              <a:t>.</a:t>
            </a:r>
          </a:p>
          <a:p>
            <a:pPr marL="0" indent="0" algn="just">
              <a:buNone/>
            </a:pPr>
            <a:r>
              <a:rPr lang="fr-FR" b="1" dirty="0" smtClean="0">
                <a:latin typeface="Times New Roman" panose="02020603050405020304" pitchFamily="18" charset="0"/>
                <a:cs typeface="Times New Roman" panose="02020603050405020304" pitchFamily="18" charset="0"/>
              </a:rPr>
              <a:t>1. </a:t>
            </a:r>
            <a:r>
              <a:rPr lang="fr-FR" b="1" dirty="0" err="1" smtClean="0">
                <a:latin typeface="Times New Roman" panose="02020603050405020304" pitchFamily="18" charset="0"/>
                <a:cs typeface="Times New Roman" panose="02020603050405020304" pitchFamily="18" charset="0"/>
              </a:rPr>
              <a:t>Hadoop</a:t>
            </a:r>
            <a:endParaRPr lang="fr-FR" b="1" dirty="0">
              <a:latin typeface="Times New Roman" panose="02020603050405020304" pitchFamily="18" charset="0"/>
              <a:cs typeface="Times New Roman" panose="02020603050405020304" pitchFamily="18" charset="0"/>
            </a:endParaRPr>
          </a:p>
          <a:p>
            <a:pPr marL="0" indent="0" algn="just">
              <a:buNone/>
            </a:pPr>
            <a:r>
              <a:rPr lang="fr-FR" dirty="0" err="1" smtClean="0">
                <a:latin typeface="Times New Roman" panose="02020603050405020304" pitchFamily="18" charset="0"/>
                <a:cs typeface="Times New Roman" panose="02020603050405020304" pitchFamily="18" charset="0"/>
              </a:rPr>
              <a:t>Hadoop</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est un logiciel “open source” de la fondation Apache. C’est un environnement logiciel dédié au stockage et au traitement de larges volumes de données. </a:t>
            </a:r>
            <a:r>
              <a:rPr lang="fr-FR" dirty="0" smtClean="0">
                <a:latin typeface="Times New Roman" panose="02020603050405020304" pitchFamily="18" charset="0"/>
                <a:cs typeface="Times New Roman" panose="02020603050405020304" pitchFamily="18" charset="0"/>
              </a:rPr>
              <a:t>Il est mis au </a:t>
            </a:r>
            <a:r>
              <a:rPr lang="fr-FR" dirty="0">
                <a:latin typeface="Times New Roman" panose="02020603050405020304" pitchFamily="18" charset="0"/>
                <a:cs typeface="Times New Roman" panose="02020603050405020304" pitchFamily="18" charset="0"/>
              </a:rPr>
              <a:t>point par </a:t>
            </a:r>
            <a:r>
              <a:rPr lang="fr-FR" dirty="0" smtClean="0">
                <a:latin typeface="Times New Roman" panose="02020603050405020304" pitchFamily="18" charset="0"/>
                <a:cs typeface="Times New Roman" panose="02020603050405020304" pitchFamily="18" charset="0"/>
              </a:rPr>
              <a:t>Google, il permet </a:t>
            </a:r>
            <a:r>
              <a:rPr lang="fr-FR" dirty="0">
                <a:latin typeface="Times New Roman" panose="02020603050405020304" pitchFamily="18" charset="0"/>
                <a:cs typeface="Times New Roman" panose="02020603050405020304" pitchFamily="18" charset="0"/>
              </a:rPr>
              <a:t>de traiter de façon parallèle de gros volumes de </a:t>
            </a:r>
            <a:r>
              <a:rPr lang="fr-FR" dirty="0" smtClean="0">
                <a:latin typeface="Times New Roman" panose="02020603050405020304" pitchFamily="18" charset="0"/>
                <a:cs typeface="Times New Roman" panose="02020603050405020304" pitchFamily="18" charset="0"/>
              </a:rPr>
              <a:t>données. </a:t>
            </a:r>
            <a:r>
              <a:rPr lang="fr-FR" dirty="0" err="1" smtClean="0">
                <a:latin typeface="Times New Roman" panose="02020603050405020304" pitchFamily="18" charset="0"/>
                <a:cs typeface="Times New Roman" panose="02020603050405020304" pitchFamily="18" charset="0"/>
              </a:rPr>
              <a:t>Hadoop</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repose sur deux composantes essentielles </a:t>
            </a:r>
            <a:r>
              <a:rPr lang="fr-FR" dirty="0" smtClean="0">
                <a:latin typeface="Times New Roman" panose="02020603050405020304" pitchFamily="18" charset="0"/>
                <a:cs typeface="Times New Roman" panose="02020603050405020304" pitchFamily="18" charset="0"/>
              </a:rPr>
              <a:t>:</a:t>
            </a:r>
          </a:p>
          <a:p>
            <a:pPr algn="just"/>
            <a:r>
              <a:rPr lang="fr-FR" dirty="0">
                <a:latin typeface="Times New Roman" panose="02020603050405020304" pitchFamily="18" charset="0"/>
                <a:cs typeface="Times New Roman" panose="02020603050405020304" pitchFamily="18" charset="0"/>
              </a:rPr>
              <a:t>Un système de fichiers distribué (HDFS : </a:t>
            </a:r>
            <a:r>
              <a:rPr lang="fr-FR" dirty="0" err="1">
                <a:latin typeface="Times New Roman" panose="02020603050405020304" pitchFamily="18" charset="0"/>
                <a:cs typeface="Times New Roman" panose="02020603050405020304" pitchFamily="18" charset="0"/>
              </a:rPr>
              <a:t>Hadoop</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Distributed</a:t>
            </a:r>
            <a:r>
              <a:rPr lang="fr-FR" dirty="0">
                <a:latin typeface="Times New Roman" panose="02020603050405020304" pitchFamily="18" charset="0"/>
                <a:cs typeface="Times New Roman" panose="02020603050405020304" pitchFamily="18" charset="0"/>
              </a:rPr>
              <a:t> File System) : permet de manipuler les données comme si elles étaient dans un seul fichier. </a:t>
            </a:r>
          </a:p>
          <a:p>
            <a:pPr marL="0" indent="0" algn="just">
              <a:buNone/>
            </a:pPr>
            <a:r>
              <a:rPr lang="fr-FR" dirty="0" smtClean="0">
                <a:latin typeface="Times New Roman" panose="02020603050405020304" pitchFamily="18" charset="0"/>
                <a:cs typeface="Times New Roman" panose="02020603050405020304" pitchFamily="18" charset="0"/>
              </a:rPr>
              <a:t>=&gt;Les </a:t>
            </a:r>
            <a:r>
              <a:rPr lang="fr-FR" dirty="0">
                <a:latin typeface="Times New Roman" panose="02020603050405020304" pitchFamily="18" charset="0"/>
                <a:cs typeface="Times New Roman" panose="02020603050405020304" pitchFamily="18" charset="0"/>
              </a:rPr>
              <a:t>données ne sont pas structurées et sont stockées sous forme de paires (</a:t>
            </a:r>
            <a:r>
              <a:rPr lang="fr-FR" dirty="0" err="1">
                <a:latin typeface="Times New Roman" panose="02020603050405020304" pitchFamily="18" charset="0"/>
                <a:cs typeface="Times New Roman" panose="02020603050405020304" pitchFamily="18" charset="0"/>
              </a:rPr>
              <a:t>clé,valeur</a:t>
            </a:r>
            <a:r>
              <a:rPr lang="fr-FR" dirty="0">
                <a:latin typeface="Times New Roman" panose="02020603050405020304" pitchFamily="18" charset="0"/>
                <a:cs typeface="Times New Roman" panose="02020603050405020304" pitchFamily="18" charset="0"/>
              </a:rPr>
              <a:t>) : un morceau de données correspond à une valeur et à chaque valeur est associé une clé.</a:t>
            </a:r>
          </a:p>
          <a:p>
            <a:pPr algn="just"/>
            <a:r>
              <a:rPr lang="fr-FR" dirty="0" smtClean="0">
                <a:latin typeface="Times New Roman" panose="02020603050405020304" pitchFamily="18" charset="0"/>
                <a:cs typeface="Times New Roman" panose="02020603050405020304" pitchFamily="18" charset="0"/>
              </a:rPr>
              <a:t>Une </a:t>
            </a:r>
            <a:r>
              <a:rPr lang="fr-FR" dirty="0">
                <a:latin typeface="Times New Roman" panose="02020603050405020304" pitchFamily="18" charset="0"/>
                <a:cs typeface="Times New Roman" panose="02020603050405020304" pitchFamily="18" charset="0"/>
              </a:rPr>
              <a:t>implémentation efficace de l’algorithme </a:t>
            </a:r>
            <a:r>
              <a:rPr lang="fr-FR" dirty="0" err="1">
                <a:latin typeface="Times New Roman" panose="02020603050405020304" pitchFamily="18" charset="0"/>
                <a:cs typeface="Times New Roman" panose="02020603050405020304" pitchFamily="18" charset="0"/>
              </a:rPr>
              <a:t>Mapreduce</a:t>
            </a:r>
            <a:r>
              <a:rPr lang="fr-FR" dirty="0">
                <a:latin typeface="Times New Roman" panose="02020603050405020304" pitchFamily="18" charset="0"/>
                <a:cs typeface="Times New Roman" panose="02020603050405020304" pitchFamily="18" charset="0"/>
              </a:rPr>
              <a:t> : permet de traiter les données en parallélisant les calculs</a:t>
            </a:r>
            <a:r>
              <a:rPr lang="fr-FR" dirty="0" smtClean="0">
                <a:latin typeface="Times New Roman" panose="02020603050405020304" pitchFamily="18" charset="0"/>
                <a:cs typeface="Times New Roman" panose="02020603050405020304" pitchFamily="18" charset="0"/>
              </a:rPr>
              <a:t>.</a:t>
            </a:r>
          </a:p>
          <a:p>
            <a:pPr marL="0" indent="0" algn="just">
              <a:buNone/>
            </a:pPr>
            <a:r>
              <a:rPr lang="fr-FR" dirty="0" smtClean="0">
                <a:latin typeface="Times New Roman" panose="02020603050405020304" pitchFamily="18" charset="0"/>
                <a:cs typeface="Times New Roman" panose="02020603050405020304" pitchFamily="18" charset="0"/>
              </a:rPr>
              <a:t>=&gt; Le </a:t>
            </a:r>
            <a:r>
              <a:rPr lang="fr-FR" dirty="0">
                <a:latin typeface="Times New Roman" panose="02020603050405020304" pitchFamily="18" charset="0"/>
                <a:cs typeface="Times New Roman" panose="02020603050405020304" pitchFamily="18" charset="0"/>
              </a:rPr>
              <a:t>paradigme </a:t>
            </a:r>
            <a:r>
              <a:rPr lang="fr-FR" dirty="0" err="1">
                <a:latin typeface="Times New Roman" panose="02020603050405020304" pitchFamily="18" charset="0"/>
                <a:cs typeface="Times New Roman" panose="02020603050405020304" pitchFamily="18" charset="0"/>
              </a:rPr>
              <a:t>MapReduce</a:t>
            </a:r>
            <a:r>
              <a:rPr lang="fr-FR" dirty="0">
                <a:latin typeface="Times New Roman" panose="02020603050405020304" pitchFamily="18" charset="0"/>
                <a:cs typeface="Times New Roman" panose="02020603050405020304" pitchFamily="18" charset="0"/>
              </a:rPr>
              <a:t> est un modèle de programmation permettant de programmer simplement des calculs distribués dans une architecture </a:t>
            </a:r>
            <a:r>
              <a:rPr lang="fr-FR" dirty="0" err="1">
                <a:latin typeface="Times New Roman" panose="02020603050405020304" pitchFamily="18" charset="0"/>
                <a:cs typeface="Times New Roman" panose="02020603050405020304" pitchFamily="18" charset="0"/>
              </a:rPr>
              <a:t>Hadoop</a:t>
            </a:r>
            <a:r>
              <a:rPr lang="fr-FR" dirty="0">
                <a:latin typeface="Times New Roman" panose="02020603050405020304" pitchFamily="18" charset="0"/>
                <a:cs typeface="Times New Roman" panose="02020603050405020304" pitchFamily="18" charset="0"/>
              </a:rPr>
              <a:t>.</a:t>
            </a:r>
            <a:endParaRPr lang="fr-FR" dirty="0" smtClean="0">
              <a:latin typeface="Times New Roman" panose="02020603050405020304" pitchFamily="18" charset="0"/>
              <a:cs typeface="Times New Roman" panose="02020603050405020304" pitchFamily="18" charset="0"/>
            </a:endParaRPr>
          </a:p>
          <a:p>
            <a:pPr marL="0" indent="0" algn="just">
              <a:buNone/>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8193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9828"/>
            <a:ext cx="9144000" cy="5003442"/>
          </a:xfrm>
        </p:spPr>
        <p:txBody>
          <a:bodyPr>
            <a:normAutofit/>
          </a:bodyPr>
          <a:lstStyle/>
          <a:p>
            <a:pPr marL="0" indent="342900" algn="just">
              <a:spcBef>
                <a:spcPts val="0"/>
              </a:spcBef>
              <a:buNone/>
            </a:pPr>
            <a:r>
              <a:rPr lang="fr-FR" sz="2800" dirty="0" err="1">
                <a:latin typeface="Times New Roman" panose="02020603050405020304" pitchFamily="18" charset="0"/>
                <a:cs typeface="Times New Roman" panose="02020603050405020304" pitchFamily="18" charset="0"/>
              </a:rPr>
              <a:t>MapReduce</a:t>
            </a:r>
            <a:r>
              <a:rPr lang="fr-FR" sz="2800" dirty="0">
                <a:latin typeface="Times New Roman" panose="02020603050405020304" pitchFamily="18" charset="0"/>
                <a:cs typeface="Times New Roman" panose="02020603050405020304" pitchFamily="18" charset="0"/>
              </a:rPr>
              <a:t> propose essentiellement deux fonctions permettant à l’utilisateur de manipuler des paires clé-valeur : la fonction </a:t>
            </a:r>
            <a:r>
              <a:rPr lang="fr-FR" sz="2800" b="1"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et la fonction </a:t>
            </a:r>
            <a:r>
              <a:rPr lang="fr-FR" sz="2800" b="1" dirty="0" err="1">
                <a:latin typeface="Times New Roman" panose="02020603050405020304" pitchFamily="18" charset="0"/>
                <a:cs typeface="Times New Roman" panose="02020603050405020304" pitchFamily="18" charset="0"/>
              </a:rPr>
              <a:t>reduce</a:t>
            </a:r>
            <a:r>
              <a:rPr lang="fr-FR" sz="2800" dirty="0" smtClean="0">
                <a:latin typeface="Times New Roman" panose="02020603050405020304" pitchFamily="18" charset="0"/>
                <a:cs typeface="Times New Roman" panose="02020603050405020304" pitchFamily="18" charset="0"/>
              </a:rPr>
              <a:t>.</a:t>
            </a:r>
          </a:p>
          <a:p>
            <a:pPr marL="0" indent="342900" algn="just">
              <a:spcBef>
                <a:spcPts val="0"/>
              </a:spcBef>
              <a:buNone/>
            </a:pPr>
            <a:r>
              <a:rPr lang="fr-FR" sz="2800" dirty="0">
                <a:latin typeface="Times New Roman" panose="02020603050405020304" pitchFamily="18" charset="0"/>
                <a:cs typeface="Times New Roman" panose="02020603050405020304" pitchFamily="18" charset="0"/>
              </a:rPr>
              <a:t>La fonction </a:t>
            </a:r>
            <a:r>
              <a:rPr lang="fr-FR" sz="2800"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permet de créer un </a:t>
            </a:r>
            <a:r>
              <a:rPr lang="fr-FR" sz="2800" b="1" dirty="0">
                <a:latin typeface="Times New Roman" panose="02020603050405020304" pitchFamily="18" charset="0"/>
                <a:cs typeface="Times New Roman" panose="02020603050405020304" pitchFamily="18" charset="0"/>
              </a:rPr>
              <a:t>ensemble de paires </a:t>
            </a:r>
            <a:r>
              <a:rPr lang="fr-FR" sz="2800" dirty="0">
                <a:latin typeface="Times New Roman" panose="02020603050405020304" pitchFamily="18" charset="0"/>
                <a:cs typeface="Times New Roman" panose="02020603050405020304" pitchFamily="18" charset="0"/>
              </a:rPr>
              <a:t>clé-valeur à partir de toute paire clé-valeur. La fonction </a:t>
            </a:r>
            <a:r>
              <a:rPr lang="fr-FR" sz="2800" dirty="0" err="1">
                <a:latin typeface="Times New Roman" panose="02020603050405020304" pitchFamily="18" charset="0"/>
                <a:cs typeface="Times New Roman" panose="02020603050405020304" pitchFamily="18" charset="0"/>
              </a:rPr>
              <a:t>reduce</a:t>
            </a:r>
            <a:r>
              <a:rPr lang="fr-FR" sz="2800" dirty="0">
                <a:latin typeface="Times New Roman" panose="02020603050405020304" pitchFamily="18" charset="0"/>
                <a:cs typeface="Times New Roman" panose="02020603050405020304" pitchFamily="18" charset="0"/>
              </a:rPr>
              <a:t> permet de créer </a:t>
            </a:r>
            <a:r>
              <a:rPr lang="fr-FR" sz="2800" b="1" dirty="0">
                <a:latin typeface="Times New Roman" panose="02020603050405020304" pitchFamily="18" charset="0"/>
                <a:cs typeface="Times New Roman" panose="02020603050405020304" pitchFamily="18" charset="0"/>
              </a:rPr>
              <a:t>une paire </a:t>
            </a:r>
            <a:r>
              <a:rPr lang="fr-FR" sz="2800" dirty="0">
                <a:latin typeface="Times New Roman" panose="02020603050405020304" pitchFamily="18" charset="0"/>
                <a:cs typeface="Times New Roman" panose="02020603050405020304" pitchFamily="18" charset="0"/>
              </a:rPr>
              <a:t>clé-valeur à partir de toute paire clé-valeur dont la valeur regroupe l’ensemble des valeurs de </a:t>
            </a:r>
            <a:r>
              <a:rPr lang="fr-FR" sz="2800" b="1" dirty="0">
                <a:latin typeface="Times New Roman" panose="02020603050405020304" pitchFamily="18" charset="0"/>
                <a:cs typeface="Times New Roman" panose="02020603050405020304" pitchFamily="18" charset="0"/>
              </a:rPr>
              <a:t>même clé </a:t>
            </a:r>
            <a:r>
              <a:rPr lang="fr-FR" sz="2800" dirty="0">
                <a:latin typeface="Times New Roman" panose="02020603050405020304" pitchFamily="18" charset="0"/>
                <a:cs typeface="Times New Roman" panose="02020603050405020304" pitchFamily="18" charset="0"/>
              </a:rPr>
              <a:t>produite par </a:t>
            </a:r>
            <a:r>
              <a:rPr lang="fr-FR" sz="2800" dirty="0" err="1" smtClean="0">
                <a:latin typeface="Times New Roman" panose="02020603050405020304" pitchFamily="18" charset="0"/>
                <a:cs typeface="Times New Roman" panose="02020603050405020304" pitchFamily="18" charset="0"/>
              </a:rPr>
              <a:t>map</a:t>
            </a:r>
            <a:r>
              <a:rPr lang="fr-FR" sz="2800" dirty="0" smtClean="0">
                <a:latin typeface="Times New Roman" panose="02020603050405020304" pitchFamily="18" charset="0"/>
                <a:cs typeface="Times New Roman" panose="02020603050405020304" pitchFamily="18" charset="0"/>
              </a:rPr>
              <a:t>.</a:t>
            </a:r>
          </a:p>
          <a:p>
            <a:pPr marL="0" indent="342900" algn="just">
              <a:spcBef>
                <a:spcPts val="0"/>
              </a:spcBef>
              <a:buNone/>
            </a:pPr>
            <a:endParaRPr lang="fr-FR" sz="2800"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611560" y="3429000"/>
            <a:ext cx="8064896" cy="3312368"/>
          </a:xfrm>
          <a:prstGeom prst="rect">
            <a:avLst/>
          </a:prstGeom>
        </p:spPr>
      </p:pic>
    </p:spTree>
    <p:extLst>
      <p:ext uri="{BB962C8B-B14F-4D97-AF65-F5344CB8AC3E}">
        <p14:creationId xmlns:p14="http://schemas.microsoft.com/office/powerpoint/2010/main" val="9395963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9963" y="116632"/>
            <a:ext cx="8954037" cy="6192688"/>
          </a:xfrm>
        </p:spPr>
        <p:txBody>
          <a:bodyPr>
            <a:noAutofit/>
          </a:bodyPr>
          <a:lstStyle/>
          <a:p>
            <a:pPr marL="0" indent="342900" algn="just">
              <a:spcBef>
                <a:spcPts val="0"/>
              </a:spcBef>
              <a:buNone/>
            </a:pPr>
            <a:r>
              <a:rPr lang="fr-FR" sz="2800" dirty="0">
                <a:latin typeface="Times New Roman" panose="02020603050405020304" pitchFamily="18" charset="0"/>
                <a:cs typeface="Times New Roman" panose="02020603050405020304" pitchFamily="18" charset="0"/>
              </a:rPr>
              <a:t>L’utilisateur programme la </a:t>
            </a:r>
            <a:r>
              <a:rPr lang="fr-FR" sz="2800" b="1" dirty="0">
                <a:latin typeface="Times New Roman" panose="02020603050405020304" pitchFamily="18" charset="0"/>
                <a:cs typeface="Times New Roman" panose="02020603050405020304" pitchFamily="18" charset="0"/>
              </a:rPr>
              <a:t>fonction </a:t>
            </a:r>
            <a:r>
              <a:rPr lang="fr-FR" sz="2800" b="1"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sous la contrainte de format imposée par </a:t>
            </a:r>
            <a:r>
              <a:rPr lang="fr-FR" sz="2800" b="1" dirty="0" err="1">
                <a:latin typeface="Times New Roman" panose="02020603050405020304" pitchFamily="18" charset="0"/>
                <a:cs typeface="Times New Roman" panose="02020603050405020304" pitchFamily="18" charset="0"/>
              </a:rPr>
              <a:t>MapRedude</a:t>
            </a:r>
            <a:r>
              <a:rPr lang="fr-FR" sz="2800" dirty="0">
                <a:latin typeface="Times New Roman" panose="02020603050405020304" pitchFamily="18" charset="0"/>
                <a:cs typeface="Times New Roman" panose="02020603050405020304" pitchFamily="18" charset="0"/>
              </a:rPr>
              <a:t>, c’est-à-dire la fonction </a:t>
            </a:r>
            <a:r>
              <a:rPr lang="fr-FR" sz="2800"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doit, pour chaque paire clé-valeur </a:t>
            </a:r>
            <a:r>
              <a:rPr lang="fr-FR" sz="2800" b="1" dirty="0">
                <a:latin typeface="Times New Roman" panose="02020603050405020304" pitchFamily="18" charset="0"/>
                <a:cs typeface="Times New Roman" panose="02020603050405020304" pitchFamily="18" charset="0"/>
              </a:rPr>
              <a:t>(c, v), </a:t>
            </a:r>
            <a:r>
              <a:rPr lang="fr-FR" sz="2800" dirty="0">
                <a:latin typeface="Times New Roman" panose="02020603050405020304" pitchFamily="18" charset="0"/>
                <a:cs typeface="Times New Roman" panose="02020603050405020304" pitchFamily="18" charset="0"/>
              </a:rPr>
              <a:t>créer un ensemble </a:t>
            </a:r>
            <a:r>
              <a:rPr lang="fr-FR" sz="2800" b="1" dirty="0">
                <a:latin typeface="Times New Roman" panose="02020603050405020304" pitchFamily="18" charset="0"/>
                <a:cs typeface="Times New Roman" panose="02020603050405020304" pitchFamily="18" charset="0"/>
              </a:rPr>
              <a:t>{(c1, v1), . . . ,(</a:t>
            </a:r>
            <a:r>
              <a:rPr lang="fr-FR" sz="2800" b="1" dirty="0" err="1">
                <a:latin typeface="Times New Roman" panose="02020603050405020304" pitchFamily="18" charset="0"/>
                <a:cs typeface="Times New Roman" panose="02020603050405020304" pitchFamily="18" charset="0"/>
              </a:rPr>
              <a:t>ck</a:t>
            </a:r>
            <a:r>
              <a:rPr lang="fr-FR" sz="2800" b="1" dirty="0">
                <a:latin typeface="Times New Roman" panose="02020603050405020304" pitchFamily="18" charset="0"/>
                <a:cs typeface="Times New Roman" panose="02020603050405020304" pitchFamily="18" charset="0"/>
              </a:rPr>
              <a:t>, </a:t>
            </a:r>
            <a:r>
              <a:rPr lang="fr-FR" sz="2800" b="1" dirty="0" err="1">
                <a:latin typeface="Times New Roman" panose="02020603050405020304" pitchFamily="18" charset="0"/>
                <a:cs typeface="Times New Roman" panose="02020603050405020304" pitchFamily="18" charset="0"/>
              </a:rPr>
              <a:t>vk</a:t>
            </a:r>
            <a:r>
              <a:rPr lang="fr-FR" sz="2800" b="1" dirty="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de paires clé-valeur. A la suite de l’exécution de la fonction </a:t>
            </a:r>
            <a:r>
              <a:rPr lang="fr-FR" sz="2800"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sur chacun des processeurs, le système r</a:t>
            </a:r>
            <a:r>
              <a:rPr lang="fr-FR" sz="2800" b="1" dirty="0">
                <a:latin typeface="Times New Roman" panose="02020603050405020304" pitchFamily="18" charset="0"/>
                <a:cs typeface="Times New Roman" panose="02020603050405020304" pitchFamily="18" charset="0"/>
              </a:rPr>
              <a:t>egroupe</a:t>
            </a:r>
            <a:r>
              <a:rPr lang="fr-FR" sz="2800" dirty="0">
                <a:latin typeface="Times New Roman" panose="02020603050405020304" pitchFamily="18" charset="0"/>
                <a:cs typeface="Times New Roman" panose="02020603050405020304" pitchFamily="18" charset="0"/>
              </a:rPr>
              <a:t> toutes les valeurs produites par </a:t>
            </a:r>
            <a:r>
              <a:rPr lang="fr-FR" sz="2800" dirty="0" err="1">
                <a:latin typeface="Times New Roman" panose="02020603050405020304" pitchFamily="18" charset="0"/>
                <a:cs typeface="Times New Roman" panose="02020603050405020304" pitchFamily="18" charset="0"/>
              </a:rPr>
              <a:t>map</a:t>
            </a:r>
            <a:r>
              <a:rPr lang="fr-FR" sz="2800" dirty="0">
                <a:latin typeface="Times New Roman" panose="02020603050405020304" pitchFamily="18" charset="0"/>
                <a:cs typeface="Times New Roman" panose="02020603050405020304" pitchFamily="18" charset="0"/>
              </a:rPr>
              <a:t> partageant la même clé, créant ainsi un ensemble de paires </a:t>
            </a:r>
            <a:r>
              <a:rPr lang="fr-FR" sz="2800" b="1" dirty="0">
                <a:latin typeface="Times New Roman" panose="02020603050405020304" pitchFamily="18" charset="0"/>
                <a:cs typeface="Times New Roman" panose="02020603050405020304" pitchFamily="18" charset="0"/>
              </a:rPr>
              <a:t>(c, {v1, . . . , </a:t>
            </a:r>
            <a:r>
              <a:rPr lang="fr-FR" sz="2800" b="1" dirty="0" err="1">
                <a:latin typeface="Times New Roman" panose="02020603050405020304" pitchFamily="18" charset="0"/>
                <a:cs typeface="Times New Roman" panose="02020603050405020304" pitchFamily="18" charset="0"/>
              </a:rPr>
              <a:t>vk</a:t>
            </a:r>
            <a:r>
              <a:rPr lang="fr-FR" sz="2800" b="1" dirty="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La fonction </a:t>
            </a:r>
            <a:r>
              <a:rPr lang="fr-FR" sz="2800" dirty="0" err="1">
                <a:latin typeface="Times New Roman" panose="02020603050405020304" pitchFamily="18" charset="0"/>
                <a:cs typeface="Times New Roman" panose="02020603050405020304" pitchFamily="18" charset="0"/>
              </a:rPr>
              <a:t>reduce</a:t>
            </a:r>
            <a:r>
              <a:rPr lang="fr-FR" sz="2800" dirty="0">
                <a:latin typeface="Times New Roman" panose="02020603050405020304" pitchFamily="18" charset="0"/>
                <a:cs typeface="Times New Roman" panose="02020603050405020304" pitchFamily="18" charset="0"/>
              </a:rPr>
              <a:t>, programmée par l’utilisateur, peut alors être appliquée sur les paires </a:t>
            </a:r>
            <a:r>
              <a:rPr lang="fr-FR" sz="2800" b="1" dirty="0">
                <a:latin typeface="Times New Roman" panose="02020603050405020304" pitchFamily="18" charset="0"/>
                <a:cs typeface="Times New Roman" panose="02020603050405020304" pitchFamily="18" charset="0"/>
              </a:rPr>
              <a:t>(c, {v1, . . . , </a:t>
            </a:r>
            <a:r>
              <a:rPr lang="fr-FR" sz="2800" b="1" dirty="0" err="1">
                <a:latin typeface="Times New Roman" panose="02020603050405020304" pitchFamily="18" charset="0"/>
                <a:cs typeface="Times New Roman" panose="02020603050405020304" pitchFamily="18" charset="0"/>
              </a:rPr>
              <a:t>vk</a:t>
            </a:r>
            <a:r>
              <a:rPr lang="fr-FR" sz="2800" b="1" dirty="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afin de retourner des paires clé-valeurs.</a:t>
            </a:r>
          </a:p>
          <a:p>
            <a:pPr marL="0" indent="342900" algn="just">
              <a:spcBef>
                <a:spcPts val="0"/>
              </a:spcBef>
              <a:buNone/>
            </a:pPr>
            <a:r>
              <a:rPr lang="fr-FR" sz="2800" dirty="0">
                <a:latin typeface="Times New Roman" panose="02020603050405020304" pitchFamily="18" charset="0"/>
                <a:cs typeface="Times New Roman" panose="02020603050405020304" pitchFamily="18" charset="0"/>
              </a:rPr>
              <a:t>Le facteur d’accélération et l’efficacité d’un programme </a:t>
            </a:r>
            <a:r>
              <a:rPr lang="fr-FR" sz="2800" dirty="0" err="1">
                <a:latin typeface="Times New Roman" panose="02020603050405020304" pitchFamily="18" charset="0"/>
                <a:cs typeface="Times New Roman" panose="02020603050405020304" pitchFamily="18" charset="0"/>
              </a:rPr>
              <a:t>MapReduce</a:t>
            </a:r>
            <a:r>
              <a:rPr lang="fr-FR" sz="2800" dirty="0">
                <a:latin typeface="Times New Roman" panose="02020603050405020304" pitchFamily="18" charset="0"/>
                <a:cs typeface="Times New Roman" panose="02020603050405020304" pitchFamily="18" charset="0"/>
              </a:rPr>
              <a:t> dépend beaucoup du nombre de clés que le système doit traiter lors de la phase de groupage et de répartition.</a:t>
            </a:r>
          </a:p>
        </p:txBody>
      </p:sp>
    </p:spTree>
    <p:extLst>
      <p:ext uri="{BB962C8B-B14F-4D97-AF65-F5344CB8AC3E}">
        <p14:creationId xmlns:p14="http://schemas.microsoft.com/office/powerpoint/2010/main" val="11687704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88640"/>
            <a:ext cx="9144000" cy="5720349"/>
          </a:xfrm>
        </p:spPr>
        <p:txBody>
          <a:bodyPr/>
          <a:lstStyle/>
          <a:p>
            <a:pPr marL="0" indent="0">
              <a:buNone/>
            </a:pPr>
            <a:r>
              <a:rPr lang="fr-FR" dirty="0">
                <a:latin typeface="Times New Roman" panose="02020603050405020304" pitchFamily="18" charset="0"/>
                <a:cs typeface="Times New Roman" panose="02020603050405020304" pitchFamily="18" charset="0"/>
              </a:rPr>
              <a:t>Une version (très simplifiée) d’un programme de type </a:t>
            </a:r>
            <a:r>
              <a:rPr lang="fr-FR" dirty="0" err="1">
                <a:latin typeface="Times New Roman" panose="02020603050405020304" pitchFamily="18" charset="0"/>
                <a:cs typeface="Times New Roman" panose="02020603050405020304" pitchFamily="18" charset="0"/>
              </a:rPr>
              <a:t>mapreduce</a:t>
            </a:r>
            <a:r>
              <a:rPr lang="fr-FR" dirty="0">
                <a:latin typeface="Times New Roman" panose="02020603050405020304" pitchFamily="18" charset="0"/>
                <a:cs typeface="Times New Roman" panose="02020603050405020304" pitchFamily="18" charset="0"/>
              </a:rPr>
              <a:t> est la suivante : </a:t>
            </a:r>
            <a:r>
              <a:rPr lang="fr-FR" dirty="0" err="1">
                <a:latin typeface="Times New Roman" panose="02020603050405020304" pitchFamily="18" charset="0"/>
                <a:cs typeface="Times New Roman" panose="02020603050405020304" pitchFamily="18" charset="0"/>
              </a:rPr>
              <a:t>mapreduce</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input,map,reduce</a:t>
            </a:r>
            <a:r>
              <a:rPr lang="fr-FR" dirty="0" smtClean="0">
                <a:latin typeface="Times New Roman" panose="02020603050405020304" pitchFamily="18" charset="0"/>
                <a:cs typeface="Times New Roman" panose="02020603050405020304" pitchFamily="18" charset="0"/>
              </a:rPr>
              <a:t>).</a:t>
            </a:r>
          </a:p>
          <a:p>
            <a:pPr marL="0" indent="0">
              <a:buNone/>
            </a:pPr>
            <a:r>
              <a:rPr lang="fr-FR" sz="1800" dirty="0">
                <a:latin typeface="Times New Roman" panose="02020603050405020304" pitchFamily="18" charset="0"/>
                <a:cs typeface="Times New Roman" panose="02020603050405020304" pitchFamily="18" charset="0"/>
              </a:rPr>
              <a:t>Les données (input) sont au format HDFS, elles sont donc découpées en blocs, dispatchées sur plusieurs machines. </a:t>
            </a:r>
          </a:p>
          <a:p>
            <a:pPr marL="0" indent="0">
              <a:buNone/>
            </a:pPr>
            <a:r>
              <a:rPr lang="fr-FR" sz="1800" dirty="0">
                <a:latin typeface="Times New Roman" panose="02020603050405020304" pitchFamily="18" charset="0"/>
                <a:cs typeface="Times New Roman" panose="02020603050405020304" pitchFamily="18" charset="0"/>
              </a:rPr>
              <a:t>• Sur chaque bloc est appliquée la fonction </a:t>
            </a:r>
            <a:r>
              <a:rPr lang="fr-FR" sz="1800" dirty="0" err="1">
                <a:latin typeface="Times New Roman" panose="02020603050405020304" pitchFamily="18" charset="0"/>
                <a:cs typeface="Times New Roman" panose="02020603050405020304" pitchFamily="18" charset="0"/>
              </a:rPr>
              <a:t>map</a:t>
            </a:r>
            <a:r>
              <a:rPr lang="fr-FR" sz="1800" dirty="0">
                <a:latin typeface="Times New Roman" panose="02020603050405020304" pitchFamily="18" charset="0"/>
                <a:cs typeface="Times New Roman" panose="02020603050405020304" pitchFamily="18" charset="0"/>
              </a:rPr>
              <a:t> qui prend en entrée des paires (</a:t>
            </a:r>
            <a:r>
              <a:rPr lang="fr-FR" sz="1800" dirty="0" err="1">
                <a:latin typeface="Times New Roman" panose="02020603050405020304" pitchFamily="18" charset="0"/>
                <a:cs typeface="Times New Roman" panose="02020603050405020304" pitchFamily="18" charset="0"/>
              </a:rPr>
              <a:t>clé,valeur</a:t>
            </a:r>
            <a:r>
              <a:rPr lang="fr-FR" sz="1800" dirty="0">
                <a:latin typeface="Times New Roman" panose="02020603050405020304" pitchFamily="18" charset="0"/>
                <a:cs typeface="Times New Roman" panose="02020603050405020304" pitchFamily="18" charset="0"/>
              </a:rPr>
              <a:t>) et renvoie des paires (</a:t>
            </a:r>
            <a:r>
              <a:rPr lang="fr-FR" sz="1800" dirty="0" err="1">
                <a:latin typeface="Times New Roman" panose="02020603050405020304" pitchFamily="18" charset="0"/>
                <a:cs typeface="Times New Roman" panose="02020603050405020304" pitchFamily="18" charset="0"/>
              </a:rPr>
              <a:t>clé,valeur</a:t>
            </a:r>
            <a:r>
              <a:rPr lang="fr-FR" sz="1800" dirty="0">
                <a:latin typeface="Times New Roman" panose="02020603050405020304" pitchFamily="18" charset="0"/>
                <a:cs typeface="Times New Roman" panose="02020603050405020304" pitchFamily="18" charset="0"/>
              </a:rPr>
              <a:t>). </a:t>
            </a:r>
          </a:p>
          <a:p>
            <a:pPr marL="0" indent="0">
              <a:buNone/>
            </a:pPr>
            <a:r>
              <a:rPr lang="fr-FR" sz="1800" dirty="0">
                <a:latin typeface="Times New Roman" panose="02020603050405020304" pitchFamily="18" charset="0"/>
                <a:cs typeface="Times New Roman" panose="02020603050405020304" pitchFamily="18" charset="0"/>
              </a:rPr>
              <a:t>• Les résultats sont remontés au niveau du </a:t>
            </a:r>
            <a:r>
              <a:rPr lang="fr-FR" sz="1800" dirty="0" err="1">
                <a:latin typeface="Times New Roman" panose="02020603050405020304" pitchFamily="18" charset="0"/>
                <a:cs typeface="Times New Roman" panose="02020603050405020304" pitchFamily="18" charset="0"/>
              </a:rPr>
              <a:t>noeud</a:t>
            </a:r>
            <a:r>
              <a:rPr lang="fr-FR" sz="1800" dirty="0">
                <a:latin typeface="Times New Roman" panose="02020603050405020304" pitchFamily="18" charset="0"/>
                <a:cs typeface="Times New Roman" panose="02020603050405020304" pitchFamily="18" charset="0"/>
              </a:rPr>
              <a:t> principal et regroupés par clés (</a:t>
            </a:r>
            <a:r>
              <a:rPr lang="fr-FR" sz="1800" dirty="0" err="1">
                <a:latin typeface="Times New Roman" panose="02020603050405020304" pitchFamily="18" charset="0"/>
                <a:cs typeface="Times New Roman" panose="02020603050405020304" pitchFamily="18" charset="0"/>
              </a:rPr>
              <a:t>shuffle</a:t>
            </a:r>
            <a:r>
              <a:rPr lang="fr-FR" sz="1800" dirty="0">
                <a:latin typeface="Times New Roman" panose="02020603050405020304" pitchFamily="18" charset="0"/>
                <a:cs typeface="Times New Roman" panose="02020603050405020304" pitchFamily="18" charset="0"/>
              </a:rPr>
              <a:t>).</a:t>
            </a:r>
          </a:p>
          <a:p>
            <a:pPr marL="0" indent="0">
              <a:buNone/>
            </a:pPr>
            <a:r>
              <a:rPr lang="fr-FR" sz="1800" dirty="0">
                <a:latin typeface="Times New Roman" panose="02020603050405020304" pitchFamily="18" charset="0"/>
                <a:cs typeface="Times New Roman" panose="02020603050405020304" pitchFamily="18" charset="0"/>
              </a:rPr>
              <a:t> • Pour chaque groupe de données possédant la même clé est appelé la fonction </a:t>
            </a:r>
            <a:r>
              <a:rPr lang="fr-FR" sz="1800" dirty="0" err="1">
                <a:latin typeface="Times New Roman" panose="02020603050405020304" pitchFamily="18" charset="0"/>
                <a:cs typeface="Times New Roman" panose="02020603050405020304" pitchFamily="18" charset="0"/>
              </a:rPr>
              <a:t>reduce</a:t>
            </a:r>
            <a:r>
              <a:rPr lang="fr-FR" sz="1800" dirty="0">
                <a:latin typeface="Times New Roman" panose="02020603050405020304" pitchFamily="18" charset="0"/>
                <a:cs typeface="Times New Roman" panose="02020603050405020304" pitchFamily="18" charset="0"/>
              </a:rPr>
              <a:t>() qui prend en entrée des paires (</a:t>
            </a:r>
            <a:r>
              <a:rPr lang="fr-FR" sz="1800" dirty="0" err="1">
                <a:latin typeface="Times New Roman" panose="02020603050405020304" pitchFamily="18" charset="0"/>
                <a:cs typeface="Times New Roman" panose="02020603050405020304" pitchFamily="18" charset="0"/>
              </a:rPr>
              <a:t>clé,valeur</a:t>
            </a:r>
            <a:r>
              <a:rPr lang="fr-FR" sz="1800" dirty="0">
                <a:latin typeface="Times New Roman" panose="02020603050405020304" pitchFamily="18" charset="0"/>
                <a:cs typeface="Times New Roman" panose="02020603050405020304" pitchFamily="18" charset="0"/>
              </a:rPr>
              <a:t>) et renvoie des paires (</a:t>
            </a:r>
            <a:r>
              <a:rPr lang="fr-FR" sz="1800" dirty="0" err="1">
                <a:latin typeface="Times New Roman" panose="02020603050405020304" pitchFamily="18" charset="0"/>
                <a:cs typeface="Times New Roman" panose="02020603050405020304" pitchFamily="18" charset="0"/>
              </a:rPr>
              <a:t>clé,valeur</a:t>
            </a:r>
            <a:r>
              <a:rPr lang="fr-FR" sz="1800" dirty="0">
                <a:latin typeface="Times New Roman" panose="02020603050405020304" pitchFamily="18" charset="0"/>
                <a:cs typeface="Times New Roman" panose="02020603050405020304" pitchFamily="18" charset="0"/>
              </a:rPr>
              <a:t>). </a:t>
            </a:r>
          </a:p>
          <a:p>
            <a:pPr marL="0" indent="0">
              <a:buNone/>
            </a:pPr>
            <a:endParaRPr lang="fr-FR" sz="1800"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1428750" y="4149080"/>
            <a:ext cx="6286500" cy="2588320"/>
          </a:xfrm>
          <a:prstGeom prst="rect">
            <a:avLst/>
          </a:prstGeom>
        </p:spPr>
      </p:pic>
    </p:spTree>
    <p:extLst>
      <p:ext uri="{BB962C8B-B14F-4D97-AF65-F5344CB8AC3E}">
        <p14:creationId xmlns:p14="http://schemas.microsoft.com/office/powerpoint/2010/main" val="36294705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 name="Espace réservé du contenu 3"/>
          <p:cNvPicPr>
            <a:picLocks noGrp="1" noChangeAspect="1"/>
          </p:cNvPicPr>
          <p:nvPr>
            <p:ph idx="1"/>
          </p:nvPr>
        </p:nvPicPr>
        <p:blipFill>
          <a:blip r:embed="rId2"/>
          <a:stretch>
            <a:fillRect/>
          </a:stretch>
        </p:blipFill>
        <p:spPr>
          <a:xfrm>
            <a:off x="457200" y="404664"/>
            <a:ext cx="8229600" cy="6453335"/>
          </a:xfrm>
          <a:prstGeom prst="rect">
            <a:avLst/>
          </a:prstGeom>
        </p:spPr>
      </p:pic>
    </p:spTree>
    <p:extLst>
      <p:ext uri="{BB962C8B-B14F-4D97-AF65-F5344CB8AC3E}">
        <p14:creationId xmlns:p14="http://schemas.microsoft.com/office/powerpoint/2010/main" val="34950857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88640"/>
            <a:ext cx="9036496" cy="1143000"/>
          </a:xfrm>
        </p:spPr>
        <p:txBody>
          <a:bodyPr>
            <a:normAutofit fontScale="90000"/>
          </a:bodyPr>
          <a:lstStyle/>
          <a:p>
            <a:r>
              <a:rPr lang="fr-FR" b="1" dirty="0"/>
              <a:t> </a:t>
            </a:r>
            <a:r>
              <a:rPr lang="fr-FR" dirty="0"/>
              <a:t/>
            </a:r>
            <a:br>
              <a:rPr lang="fr-FR" dirty="0"/>
            </a:br>
            <a:r>
              <a:rPr lang="fr-FR" b="1" dirty="0" smtClean="0">
                <a:latin typeface="Times New Roman" panose="02020603050405020304" pitchFamily="18" charset="0"/>
                <a:cs typeface="Times New Roman" panose="02020603050405020304" pitchFamily="18" charset="0"/>
              </a:rPr>
              <a:t>Chap.2. Les </a:t>
            </a:r>
            <a:r>
              <a:rPr lang="fr-FR" b="1" dirty="0">
                <a:latin typeface="Times New Roman" panose="02020603050405020304" pitchFamily="18" charset="0"/>
                <a:cs typeface="Times New Roman" panose="02020603050405020304" pitchFamily="18" charset="0"/>
              </a:rPr>
              <a:t>base des données non relationnelles</a:t>
            </a:r>
            <a:r>
              <a:rPr lang="fr-FR" dirty="0">
                <a:latin typeface="Times New Roman" panose="02020603050405020304" pitchFamily="18" charset="0"/>
                <a:cs typeface="Times New Roman" panose="02020603050405020304" pitchFamily="18" charset="0"/>
              </a:rPr>
              <a:t/>
            </a:r>
            <a:br>
              <a:rPr lang="fr-FR" dirty="0">
                <a:latin typeface="Times New Roman" panose="02020603050405020304" pitchFamily="18" charset="0"/>
                <a:cs typeface="Times New Roman" panose="02020603050405020304" pitchFamily="18" charset="0"/>
              </a:rPr>
            </a:br>
            <a:endParaRPr lang="fr-FR"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1331640"/>
            <a:ext cx="9144000" cy="5526360"/>
          </a:xfrm>
        </p:spPr>
        <p:txBody>
          <a:bodyPr>
            <a:normAutofit fontScale="92500" lnSpcReduction="10000"/>
          </a:bodyPr>
          <a:lstStyle/>
          <a:p>
            <a:pPr marL="0" indent="0" algn="just">
              <a:buNone/>
            </a:pPr>
            <a:r>
              <a:rPr lang="fr-FR" dirty="0" smtClean="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2.1. Introduction</a:t>
            </a:r>
          </a:p>
          <a:p>
            <a:pPr marL="0" indent="0" algn="just">
              <a:buNone/>
            </a:pPr>
            <a:r>
              <a:rPr lang="fr-FR" dirty="0" smtClean="0">
                <a:latin typeface="Times New Roman" panose="02020603050405020304" pitchFamily="18" charset="0"/>
                <a:cs typeface="Times New Roman" panose="02020603050405020304" pitchFamily="18" charset="0"/>
              </a:rPr>
              <a:t>Définition</a:t>
            </a:r>
            <a:r>
              <a:rPr lang="fr-FR" dirty="0">
                <a:latin typeface="Times New Roman" panose="02020603050405020304" pitchFamily="18" charset="0"/>
                <a:cs typeface="Times New Roman" panose="02020603050405020304" pitchFamily="18" charset="0"/>
              </a:rPr>
              <a:t>: Le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regroupe de nombreuses bases de données, récentes pour la plupart, qui se caractérisent par une logique de représentation de données non relationnelle et qui n'offrent donc pas une interface de requêtes en SQL. </a:t>
            </a:r>
          </a:p>
          <a:p>
            <a:pPr marL="0" indent="0" algn="just">
              <a:buNone/>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signifie Not </a:t>
            </a:r>
            <a:r>
              <a:rPr lang="fr-FR" dirty="0" err="1">
                <a:latin typeface="Times New Roman" panose="02020603050405020304" pitchFamily="18" charset="0"/>
                <a:cs typeface="Times New Roman" panose="02020603050405020304" pitchFamily="18" charset="0"/>
              </a:rPr>
              <a:t>Only</a:t>
            </a:r>
            <a:r>
              <a:rPr lang="fr-FR" dirty="0">
                <a:latin typeface="Times New Roman" panose="02020603050405020304" pitchFamily="18" charset="0"/>
                <a:cs typeface="Times New Roman" panose="02020603050405020304" pitchFamily="18" charset="0"/>
              </a:rPr>
              <a:t> SQL et non pas No SQL, il s'agit de compléments aux SGBDR pour des besoins spécifiques et non de solutions de remplacement</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pPr marL="0" indent="0" algn="just">
              <a:buNone/>
            </a:pPr>
            <a:r>
              <a:rPr lang="fr-FR" dirty="0" smtClean="0">
                <a:latin typeface="Times New Roman" panose="02020603050405020304" pitchFamily="18" charset="0"/>
                <a:cs typeface="Times New Roman" panose="02020603050405020304" pitchFamily="18" charset="0"/>
              </a:rPr>
              <a:t>Exemple:</a:t>
            </a:r>
          </a:p>
          <a:p>
            <a:pPr marL="0" indent="0" algn="just">
              <a:buNone/>
            </a:pPr>
            <a:r>
              <a:rPr lang="fr-FR" dirty="0" smtClean="0">
                <a:latin typeface="Times New Roman" panose="02020603050405020304" pitchFamily="18" charset="0"/>
                <a:cs typeface="Times New Roman" panose="02020603050405020304" pitchFamily="18" charset="0"/>
              </a:rPr>
              <a:t>BD </a:t>
            </a:r>
            <a:r>
              <a:rPr lang="fr-FR" dirty="0">
                <a:latin typeface="Times New Roman" panose="02020603050405020304" pitchFamily="18" charset="0"/>
                <a:cs typeface="Times New Roman" panose="02020603050405020304" pitchFamily="18" charset="0"/>
              </a:rPr>
              <a:t>orientée </a:t>
            </a:r>
            <a:r>
              <a:rPr lang="fr-FR" dirty="0" smtClean="0">
                <a:latin typeface="Times New Roman" panose="02020603050405020304" pitchFamily="18" charset="0"/>
                <a:cs typeface="Times New Roman" panose="02020603050405020304" pitchFamily="18" charset="0"/>
              </a:rPr>
              <a:t>clé-valeur, </a:t>
            </a:r>
            <a:r>
              <a:rPr lang="fr-FR" dirty="0">
                <a:latin typeface="Times New Roman" panose="02020603050405020304" pitchFamily="18" charset="0"/>
                <a:cs typeface="Times New Roman" panose="02020603050405020304" pitchFamily="18" charset="0"/>
              </a:rPr>
              <a:t>BD orientée graphe </a:t>
            </a:r>
            <a:r>
              <a:rPr lang="fr-FR" dirty="0" smtClean="0">
                <a:latin typeface="Times New Roman" panose="02020603050405020304" pitchFamily="18" charset="0"/>
                <a:cs typeface="Times New Roman" panose="02020603050405020304" pitchFamily="18" charset="0"/>
              </a:rPr>
              <a:t>,BD </a:t>
            </a:r>
            <a:r>
              <a:rPr lang="fr-FR" dirty="0">
                <a:latin typeface="Times New Roman" panose="02020603050405020304" pitchFamily="18" charset="0"/>
                <a:cs typeface="Times New Roman" panose="02020603050405020304" pitchFamily="18" charset="0"/>
              </a:rPr>
              <a:t>orientée </a:t>
            </a:r>
            <a:r>
              <a:rPr lang="fr-FR" dirty="0" smtClean="0">
                <a:latin typeface="Times New Roman" panose="02020603050405020304" pitchFamily="18" charset="0"/>
                <a:cs typeface="Times New Roman" panose="02020603050405020304" pitchFamily="18" charset="0"/>
              </a:rPr>
              <a:t>colonne, </a:t>
            </a:r>
            <a:r>
              <a:rPr lang="fr-FR" dirty="0">
                <a:latin typeface="Times New Roman" panose="02020603050405020304" pitchFamily="18" charset="0"/>
                <a:cs typeface="Times New Roman" panose="02020603050405020304" pitchFamily="18" charset="0"/>
              </a:rPr>
              <a:t>BD orientée document</a:t>
            </a:r>
          </a:p>
        </p:txBody>
      </p:sp>
    </p:spTree>
    <p:extLst>
      <p:ext uri="{BB962C8B-B14F-4D97-AF65-F5344CB8AC3E}">
        <p14:creationId xmlns:p14="http://schemas.microsoft.com/office/powerpoint/2010/main" val="16550042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Le terme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est pour la </a:t>
            </a:r>
            <a:r>
              <a:rPr lang="fr-FR" dirty="0" smtClean="0">
                <a:latin typeface="Times New Roman" panose="02020603050405020304" pitchFamily="18" charset="0"/>
                <a:cs typeface="Times New Roman" panose="02020603050405020304" pitchFamily="18" charset="0"/>
              </a:rPr>
              <a:t>première </a:t>
            </a:r>
            <a:r>
              <a:rPr lang="fr-FR" dirty="0">
                <a:latin typeface="Times New Roman" panose="02020603050405020304" pitchFamily="18" charset="0"/>
                <a:cs typeface="Times New Roman" panose="02020603050405020304" pitchFamily="18" charset="0"/>
              </a:rPr>
              <a:t>fois </a:t>
            </a:r>
            <a:r>
              <a:rPr lang="fr-FR" dirty="0" smtClean="0">
                <a:latin typeface="Times New Roman" panose="02020603050405020304" pitchFamily="18" charset="0"/>
                <a:cs typeface="Times New Roman" panose="02020603050405020304" pitchFamily="18" charset="0"/>
              </a:rPr>
              <a:t>propose </a:t>
            </a:r>
            <a:r>
              <a:rPr lang="fr-FR" dirty="0">
                <a:latin typeface="Times New Roman" panose="02020603050405020304" pitchFamily="18" charset="0"/>
                <a:cs typeface="Times New Roman" panose="02020603050405020304" pitchFamily="18" charset="0"/>
              </a:rPr>
              <a:t>par </a:t>
            </a:r>
            <a:r>
              <a:rPr lang="fr-FR" b="1" dirty="0">
                <a:latin typeface="Times New Roman" panose="02020603050405020304" pitchFamily="18" charset="0"/>
                <a:cs typeface="Times New Roman" panose="02020603050405020304" pitchFamily="18" charset="0"/>
              </a:rPr>
              <a:t>Carlo Strozzi en 1998</a:t>
            </a:r>
            <a:r>
              <a:rPr lang="fr-FR" dirty="0">
                <a:latin typeface="Times New Roman" panose="02020603050405020304" pitchFamily="18" charset="0"/>
                <a:cs typeface="Times New Roman" panose="02020603050405020304" pitchFamily="18" charset="0"/>
              </a:rPr>
              <a:t>, lors de la </a:t>
            </a:r>
            <a:r>
              <a:rPr lang="fr-FR" dirty="0" smtClean="0">
                <a:latin typeface="Times New Roman" panose="02020603050405020304" pitchFamily="18" charset="0"/>
                <a:cs typeface="Times New Roman" panose="02020603050405020304" pitchFamily="18" charset="0"/>
              </a:rPr>
              <a:t>présentation </a:t>
            </a:r>
            <a:r>
              <a:rPr lang="fr-FR" dirty="0">
                <a:latin typeface="Times New Roman" panose="02020603050405020304" pitchFamily="18" charset="0"/>
                <a:cs typeface="Times New Roman" panose="02020603050405020304" pitchFamily="18" charset="0"/>
              </a:rPr>
              <a:t>de son </a:t>
            </a:r>
            <a:r>
              <a:rPr lang="fr-FR" dirty="0" err="1">
                <a:latin typeface="Times New Roman" panose="02020603050405020304" pitchFamily="18" charset="0"/>
                <a:cs typeface="Times New Roman" panose="02020603050405020304" pitchFamily="18" charset="0"/>
              </a:rPr>
              <a:t>SGBDs</a:t>
            </a:r>
            <a:r>
              <a:rPr lang="fr-FR" dirty="0">
                <a:latin typeface="Times New Roman" panose="02020603050405020304" pitchFamily="18" charset="0"/>
                <a:cs typeface="Times New Roman" panose="02020603050405020304" pitchFamily="18" charset="0"/>
              </a:rPr>
              <a:t> relationnels open source. Il l’a </a:t>
            </a:r>
            <a:r>
              <a:rPr lang="fr-FR" dirty="0" smtClean="0">
                <a:latin typeface="Times New Roman" panose="02020603050405020304" pitchFamily="18" charset="0"/>
                <a:cs typeface="Times New Roman" panose="02020603050405020304" pitchFamily="18" charset="0"/>
              </a:rPr>
              <a:t>appelé </a:t>
            </a:r>
            <a:r>
              <a:rPr lang="fr-FR" dirty="0">
                <a:latin typeface="Times New Roman" panose="02020603050405020304" pitchFamily="18" charset="0"/>
                <a:cs typeface="Times New Roman" panose="02020603050405020304" pitchFamily="18" charset="0"/>
              </a:rPr>
              <a:t>ainsi </a:t>
            </a:r>
            <a:r>
              <a:rPr lang="fr-FR" dirty="0" smtClean="0">
                <a:latin typeface="Times New Roman" panose="02020603050405020304" pitchFamily="18" charset="0"/>
                <a:cs typeface="Times New Roman" panose="02020603050405020304" pitchFamily="18" charset="0"/>
              </a:rPr>
              <a:t>a </a:t>
            </a:r>
            <a:r>
              <a:rPr lang="fr-FR" dirty="0">
                <a:latin typeface="Times New Roman" panose="02020603050405020304" pitchFamily="18" charset="0"/>
                <a:cs typeface="Times New Roman" panose="02020603050405020304" pitchFamily="18" charset="0"/>
              </a:rPr>
              <a:t>cause de l’absence d’interface SQL pour interagir avec les bases de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Les bases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peuvent bien entendu </a:t>
            </a:r>
            <a:r>
              <a:rPr lang="fr-FR" dirty="0" smtClean="0">
                <a:latin typeface="Times New Roman" panose="02020603050405020304" pitchFamily="18" charset="0"/>
                <a:cs typeface="Times New Roman" panose="02020603050405020304" pitchFamily="18" charset="0"/>
              </a:rPr>
              <a:t>être utilisées </a:t>
            </a:r>
            <a:r>
              <a:rPr lang="fr-FR" dirty="0">
                <a:latin typeface="Times New Roman" panose="02020603050405020304" pitchFamily="18" charset="0"/>
                <a:cs typeface="Times New Roman" panose="02020603050405020304" pitchFamily="18" charset="0"/>
              </a:rPr>
              <a:t>avec du SQL, c’est pourquoi Strozzi </a:t>
            </a:r>
            <a:r>
              <a:rPr lang="fr-FR" dirty="0" smtClean="0">
                <a:latin typeface="Times New Roman" panose="02020603050405020304" pitchFamily="18" charset="0"/>
                <a:cs typeface="Times New Roman" panose="02020603050405020304" pitchFamily="18" charset="0"/>
              </a:rPr>
              <a:t>précise </a:t>
            </a:r>
            <a:r>
              <a:rPr lang="fr-FR" dirty="0">
                <a:latin typeface="Times New Roman" panose="02020603050405020304" pitchFamily="18" charset="0"/>
                <a:cs typeface="Times New Roman" panose="02020603050405020304" pitchFamily="18" charset="0"/>
              </a:rPr>
              <a:t>qu’il est plus pertinent d’utiliser le terme </a:t>
            </a:r>
            <a:r>
              <a:rPr lang="fr-FR" dirty="0" smtClean="0">
                <a:latin typeface="Times New Roman" panose="02020603050405020304" pitchFamily="18" charset="0"/>
                <a:cs typeface="Times New Roman" panose="02020603050405020304" pitchFamily="18" charset="0"/>
              </a:rPr>
              <a:t> « </a:t>
            </a:r>
            <a:r>
              <a:rPr lang="fr-FR" dirty="0" err="1" smtClean="0">
                <a:latin typeface="Times New Roman" panose="02020603050405020304" pitchFamily="18" charset="0"/>
                <a:cs typeface="Times New Roman" panose="02020603050405020304" pitchFamily="18" charset="0"/>
              </a:rPr>
              <a:t>NoREL</a:t>
            </a:r>
            <a:r>
              <a:rPr lang="fr-FR" dirty="0" smtClean="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car ces </a:t>
            </a:r>
            <a:r>
              <a:rPr lang="fr-FR" dirty="0" smtClean="0">
                <a:latin typeface="Times New Roman" panose="02020603050405020304" pitchFamily="18" charset="0"/>
                <a:cs typeface="Times New Roman" panose="02020603050405020304" pitchFamily="18" charset="0"/>
              </a:rPr>
              <a:t>dernières s’abstraient </a:t>
            </a:r>
            <a:r>
              <a:rPr lang="fr-FR" dirty="0">
                <a:latin typeface="Times New Roman" panose="02020603050405020304" pitchFamily="18" charset="0"/>
                <a:cs typeface="Times New Roman" panose="02020603050405020304" pitchFamily="18" charset="0"/>
              </a:rPr>
              <a:t>du </a:t>
            </a:r>
            <a:r>
              <a:rPr lang="fr-FR" dirty="0" smtClean="0">
                <a:latin typeface="Times New Roman" panose="02020603050405020304" pitchFamily="18" charset="0"/>
                <a:cs typeface="Times New Roman" panose="02020603050405020304" pitchFamily="18" charset="0"/>
              </a:rPr>
              <a:t>cote relationnel </a:t>
            </a:r>
            <a:r>
              <a:rPr lang="fr-FR" dirty="0">
                <a:latin typeface="Times New Roman" panose="02020603050405020304" pitchFamily="18" charset="0"/>
                <a:cs typeface="Times New Roman" panose="02020603050405020304" pitchFamily="18" charset="0"/>
              </a:rPr>
              <a:t>des </a:t>
            </a:r>
            <a:r>
              <a:rPr lang="fr-FR" dirty="0" smtClean="0">
                <a:latin typeface="Times New Roman" panose="02020603050405020304" pitchFamily="18" charset="0"/>
                <a:cs typeface="Times New Roman" panose="02020603050405020304" pitchFamily="18" charset="0"/>
              </a:rPr>
              <a:t>données. </a:t>
            </a:r>
          </a:p>
          <a:p>
            <a:pPr marL="0" indent="457200" algn="just">
              <a:spcBef>
                <a:spcPts val="0"/>
              </a:spcBef>
              <a:buNone/>
            </a:pPr>
            <a:r>
              <a:rPr lang="fr-FR" dirty="0" smtClean="0">
                <a:latin typeface="Times New Roman" panose="02020603050405020304" pitchFamily="18" charset="0"/>
                <a:cs typeface="Times New Roman" panose="02020603050405020304" pitchFamily="18" charset="0"/>
              </a:rPr>
              <a:t>Le </a:t>
            </a:r>
            <a:r>
              <a:rPr lang="fr-FR" dirty="0">
                <a:latin typeface="Times New Roman" panose="02020603050405020304" pitchFamily="18" charset="0"/>
                <a:cs typeface="Times New Roman" panose="02020603050405020304" pitchFamily="18" charset="0"/>
              </a:rPr>
              <a:t>mot </a:t>
            </a:r>
            <a:r>
              <a:rPr lang="fr-FR" dirty="0" smtClean="0">
                <a:latin typeface="Times New Roman" panose="02020603050405020304" pitchFamily="18" charset="0"/>
                <a:cs typeface="Times New Roman" panose="02020603050405020304" pitchFamily="18" charset="0"/>
              </a:rPr>
              <a:t>réapparu </a:t>
            </a:r>
            <a:r>
              <a:rPr lang="fr-FR" dirty="0">
                <a:latin typeface="Times New Roman" panose="02020603050405020304" pitchFamily="18" charset="0"/>
                <a:cs typeface="Times New Roman" panose="02020603050405020304" pitchFamily="18" charset="0"/>
              </a:rPr>
              <a:t>en 2009 lorsqu’</a:t>
            </a:r>
            <a:r>
              <a:rPr lang="fr-FR" dirty="0" err="1">
                <a:latin typeface="Times New Roman" panose="02020603050405020304" pitchFamily="18" charset="0"/>
                <a:cs typeface="Times New Roman" panose="02020603050405020304" pitchFamily="18" charset="0"/>
              </a:rPr>
              <a:t>Eric</a:t>
            </a:r>
            <a:r>
              <a:rPr lang="fr-FR" dirty="0">
                <a:latin typeface="Times New Roman" panose="02020603050405020304" pitchFamily="18" charset="0"/>
                <a:cs typeface="Times New Roman" panose="02020603050405020304" pitchFamily="18" charset="0"/>
              </a:rPr>
              <a:t> Evans l’utilisa pour </a:t>
            </a:r>
            <a:r>
              <a:rPr lang="fr-FR" dirty="0" smtClean="0">
                <a:latin typeface="Times New Roman" panose="02020603050405020304" pitchFamily="18" charset="0"/>
                <a:cs typeface="Times New Roman" panose="02020603050405020304" pitchFamily="18" charset="0"/>
              </a:rPr>
              <a:t>caractériser </a:t>
            </a:r>
            <a:r>
              <a:rPr lang="fr-FR" dirty="0">
                <a:latin typeface="Times New Roman" panose="02020603050405020304" pitchFamily="18" charset="0"/>
                <a:cs typeface="Times New Roman" panose="02020603050405020304" pitchFamily="18" charset="0"/>
              </a:rPr>
              <a:t>le nombre grandissant de bases de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non-relationnelles lors d’une </a:t>
            </a:r>
            <a:r>
              <a:rPr lang="fr-FR" dirty="0" smtClean="0">
                <a:latin typeface="Times New Roman" panose="02020603050405020304" pitchFamily="18" charset="0"/>
                <a:cs typeface="Times New Roman" panose="02020603050405020304" pitchFamily="18" charset="0"/>
              </a:rPr>
              <a:t>présentation </a:t>
            </a:r>
            <a:r>
              <a:rPr lang="fr-FR" dirty="0">
                <a:latin typeface="Times New Roman" panose="02020603050405020304" pitchFamily="18" charset="0"/>
                <a:cs typeface="Times New Roman" panose="02020603050405020304" pitchFamily="18" charset="0"/>
              </a:rPr>
              <a:t>sur les bases de </a:t>
            </a:r>
            <a:r>
              <a:rPr lang="fr-FR" dirty="0" smtClean="0">
                <a:latin typeface="Times New Roman" panose="02020603050405020304" pitchFamily="18" charset="0"/>
                <a:cs typeface="Times New Roman" panose="02020603050405020304" pitchFamily="18" charset="0"/>
              </a:rPr>
              <a:t>données distribuées </a:t>
            </a:r>
            <a:r>
              <a:rPr lang="fr-FR" dirty="0">
                <a:latin typeface="Times New Roman" panose="02020603050405020304" pitchFamily="18" charset="0"/>
                <a:cs typeface="Times New Roman" panose="02020603050405020304" pitchFamily="18" charset="0"/>
              </a:rPr>
              <a:t>open source.</a:t>
            </a:r>
          </a:p>
        </p:txBody>
      </p:sp>
    </p:spTree>
    <p:extLst>
      <p:ext uri="{BB962C8B-B14F-4D97-AF65-F5344CB8AC3E}">
        <p14:creationId xmlns:p14="http://schemas.microsoft.com/office/powerpoint/2010/main" val="14070683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0"/>
            <a:ext cx="9036496" cy="6858000"/>
          </a:xfrm>
        </p:spPr>
        <p:txBody>
          <a:bodyPr>
            <a:normAutofit/>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En 2019, Dans les </a:t>
            </a:r>
            <a:r>
              <a:rPr lang="fr-FR" dirty="0" smtClean="0">
                <a:latin typeface="Times New Roman" panose="02020603050405020304" pitchFamily="18" charset="0"/>
                <a:cs typeface="Times New Roman" panose="02020603050405020304" pitchFamily="18" charset="0"/>
              </a:rPr>
              <a:t>conférences </a:t>
            </a:r>
            <a:r>
              <a:rPr lang="fr-FR" dirty="0">
                <a:latin typeface="Times New Roman" panose="02020603050405020304" pitchFamily="18" charset="0"/>
                <a:cs typeface="Times New Roman" panose="02020603050405020304" pitchFamily="18" charset="0"/>
              </a:rPr>
              <a:t>aux USA ou les notions de BD no SQL ont été discutées.</a:t>
            </a:r>
          </a:p>
          <a:p>
            <a:pPr marL="0" indent="457200" algn="just">
              <a:spcBef>
                <a:spcPts val="0"/>
              </a:spcBef>
              <a:buNone/>
            </a:pPr>
            <a:r>
              <a:rPr lang="fr-FR" dirty="0" smtClean="0">
                <a:latin typeface="Times New Roman" panose="02020603050405020304" pitchFamily="18" charset="0"/>
                <a:cs typeface="Times New Roman" panose="02020603050405020304" pitchFamily="18" charset="0"/>
              </a:rPr>
              <a:t>Les </a:t>
            </a:r>
            <a:r>
              <a:rPr lang="fr-FR" dirty="0">
                <a:latin typeface="Times New Roman" panose="02020603050405020304" pitchFamily="18" charset="0"/>
                <a:cs typeface="Times New Roman" panose="02020603050405020304" pitchFamily="18" charset="0"/>
              </a:rPr>
              <a:t>bases des données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doivent réponde aux besoins et plusieurs contraintes doivent être prises en compte :</a:t>
            </a:r>
          </a:p>
          <a:p>
            <a:pPr marL="0" indent="457200" algn="just">
              <a:spcBef>
                <a:spcPts val="0"/>
              </a:spcBef>
            </a:pPr>
            <a:r>
              <a:rPr lang="fr-FR" dirty="0">
                <a:latin typeface="Times New Roman" panose="02020603050405020304" pitchFamily="18" charset="0"/>
                <a:cs typeface="Times New Roman" panose="02020603050405020304" pitchFamily="18" charset="0"/>
              </a:rPr>
              <a:t>Les bases des données doivent pouvoir accueillir des données sans forte rigidité, au niveau de leurs structures ;</a:t>
            </a:r>
          </a:p>
          <a:p>
            <a:pPr marL="0" indent="457200" algn="just">
              <a:spcBef>
                <a:spcPts val="0"/>
              </a:spcBef>
            </a:pPr>
            <a:r>
              <a:rPr lang="fr-FR" dirty="0">
                <a:latin typeface="Times New Roman" panose="02020603050405020304" pitchFamily="18" charset="0"/>
                <a:cs typeface="Times New Roman" panose="02020603050405020304" pitchFamily="18" charset="0"/>
              </a:rPr>
              <a:t>Les bases des données doivent pouvoir gérer de très grandes quantités des données </a:t>
            </a:r>
          </a:p>
          <a:p>
            <a:pPr marL="0" indent="457200" algn="just">
              <a:spcBef>
                <a:spcPts val="0"/>
              </a:spcBef>
            </a:pPr>
            <a:r>
              <a:rPr lang="fr-FR" dirty="0">
                <a:latin typeface="Times New Roman" panose="02020603050405020304" pitchFamily="18" charset="0"/>
                <a:cs typeface="Times New Roman" panose="02020603050405020304" pitchFamily="18" charset="0"/>
              </a:rPr>
              <a:t>Les bases des données doivent pouvoir manipuler des types particuliers des données </a:t>
            </a:r>
          </a:p>
          <a:p>
            <a:pPr marL="0" indent="0">
              <a:buNone/>
            </a:pPr>
            <a:endParaRPr lang="fr-FR" dirty="0"/>
          </a:p>
        </p:txBody>
      </p:sp>
    </p:spTree>
    <p:extLst>
      <p:ext uri="{BB962C8B-B14F-4D97-AF65-F5344CB8AC3E}">
        <p14:creationId xmlns:p14="http://schemas.microsoft.com/office/powerpoint/2010/main" val="15983457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78" y="0"/>
            <a:ext cx="8946740" cy="836712"/>
          </a:xfrm>
        </p:spPr>
        <p:txBody>
          <a:bodyPr>
            <a:normAutofit/>
          </a:bodyPr>
          <a:lstStyle/>
          <a:p>
            <a:r>
              <a:rPr lang="fr-FR" sz="3600" b="1" dirty="0" smtClean="0">
                <a:latin typeface="Times New Roman" panose="02020603050405020304" pitchFamily="18" charset="0"/>
                <a:cs typeface="Times New Roman" panose="02020603050405020304" pitchFamily="18" charset="0"/>
              </a:rPr>
              <a:t>Les caractéristiques du BD </a:t>
            </a:r>
            <a:r>
              <a:rPr lang="fr-FR" sz="3600" b="1" dirty="0">
                <a:latin typeface="Times New Roman" panose="02020603050405020304" pitchFamily="18" charset="0"/>
                <a:cs typeface="Times New Roman" panose="02020603050405020304" pitchFamily="18" charset="0"/>
              </a:rPr>
              <a:t>non </a:t>
            </a:r>
            <a:r>
              <a:rPr lang="fr-FR" sz="3600" b="1" dirty="0" smtClean="0">
                <a:latin typeface="Times New Roman" panose="02020603050405020304" pitchFamily="18" charset="0"/>
                <a:cs typeface="Times New Roman" panose="02020603050405020304" pitchFamily="18" charset="0"/>
              </a:rPr>
              <a:t>relationnelle</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30632" y="620688"/>
            <a:ext cx="9036496" cy="6237312"/>
          </a:xfrm>
        </p:spPr>
        <p:txBody>
          <a:bodyPr>
            <a:noAutofit/>
          </a:bodyPr>
          <a:lstStyle/>
          <a:p>
            <a:pPr algn="just"/>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Flexibilité de la </a:t>
            </a:r>
            <a:r>
              <a:rPr lang="fr-FR" sz="2800" dirty="0" smtClean="0">
                <a:latin typeface="Times New Roman" panose="02020603050405020304" pitchFamily="18" charset="0"/>
                <a:cs typeface="Times New Roman" panose="02020603050405020304" pitchFamily="18" charset="0"/>
              </a:rPr>
              <a:t>structure </a:t>
            </a:r>
            <a:r>
              <a:rPr lang="fr-FR" sz="2800" dirty="0">
                <a:latin typeface="Times New Roman" panose="02020603050405020304" pitchFamily="18" charset="0"/>
                <a:cs typeface="Times New Roman" panose="02020603050405020304" pitchFamily="18" charset="0"/>
              </a:rPr>
              <a:t>des </a:t>
            </a:r>
            <a:r>
              <a:rPr lang="fr-FR" sz="2800" dirty="0" smtClean="0">
                <a:latin typeface="Times New Roman" panose="02020603050405020304" pitchFamily="18" charset="0"/>
                <a:cs typeface="Times New Roman" panose="02020603050405020304" pitchFamily="18" charset="0"/>
              </a:rPr>
              <a:t>données: Les BDNR </a:t>
            </a:r>
            <a:r>
              <a:rPr lang="fr-FR" sz="2800" dirty="0">
                <a:latin typeface="Times New Roman" panose="02020603050405020304" pitchFamily="18" charset="0"/>
                <a:cs typeface="Times New Roman" panose="02020603050405020304" pitchFamily="18" charset="0"/>
              </a:rPr>
              <a:t>ne sont pas soumises aux contraintes de la normalisation des données et de la définition de clés primaires et étrangères. </a:t>
            </a:r>
            <a:r>
              <a:rPr lang="fr-FR" sz="2800" dirty="0" smtClean="0">
                <a:latin typeface="Times New Roman" panose="02020603050405020304" pitchFamily="18" charset="0"/>
                <a:cs typeface="Times New Roman" panose="02020603050405020304" pitchFamily="18" charset="0"/>
              </a:rPr>
              <a:t> </a:t>
            </a:r>
          </a:p>
          <a:p>
            <a:pPr algn="just"/>
            <a:r>
              <a:rPr lang="fr-FR" sz="2800" dirty="0" smtClean="0">
                <a:latin typeface="Times New Roman" panose="02020603050405020304" pitchFamily="18" charset="0"/>
                <a:cs typeface="Times New Roman" panose="02020603050405020304" pitchFamily="18" charset="0"/>
              </a:rPr>
              <a:t>Scalabilité </a:t>
            </a: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BDNR sont </a:t>
            </a:r>
            <a:r>
              <a:rPr lang="fr-FR" sz="2800" dirty="0">
                <a:latin typeface="Times New Roman" panose="02020603050405020304" pitchFamily="18" charset="0"/>
                <a:cs typeface="Times New Roman" panose="02020603050405020304" pitchFamily="18" charset="0"/>
              </a:rPr>
              <a:t>généralement plus faciles à </a:t>
            </a:r>
            <a:r>
              <a:rPr lang="fr-FR" sz="2800" dirty="0" err="1">
                <a:latin typeface="Times New Roman" panose="02020603050405020304" pitchFamily="18" charset="0"/>
                <a:cs typeface="Times New Roman" panose="02020603050405020304" pitchFamily="18" charset="0"/>
              </a:rPr>
              <a:t>scaler</a:t>
            </a:r>
            <a:r>
              <a:rPr lang="fr-FR" sz="2800" dirty="0">
                <a:latin typeface="Times New Roman" panose="02020603050405020304" pitchFamily="18" charset="0"/>
                <a:cs typeface="Times New Roman" panose="02020603050405020304" pitchFamily="18" charset="0"/>
              </a:rPr>
              <a:t> horizontalement, c'est-à-dire en ajoutant de nouveaux serveurs pour gérer une charge croissante, plutôt que verticalement, c'est-à-dire en ajoutant plus de puissance à un serveur </a:t>
            </a:r>
            <a:r>
              <a:rPr lang="fr-FR" sz="2800" dirty="0" smtClean="0">
                <a:latin typeface="Times New Roman" panose="02020603050405020304" pitchFamily="18" charset="0"/>
                <a:cs typeface="Times New Roman" panose="02020603050405020304" pitchFamily="18" charset="0"/>
              </a:rPr>
              <a:t>existant. (</a:t>
            </a:r>
            <a:r>
              <a:rPr lang="fr-FR" sz="2000" dirty="0" smtClean="0">
                <a:latin typeface="Times New Roman" panose="02020603050405020304" pitchFamily="18" charset="0"/>
                <a:cs typeface="Times New Roman" panose="02020603050405020304" pitchFamily="18" charset="0"/>
              </a:rPr>
              <a:t>la capacité </a:t>
            </a:r>
            <a:r>
              <a:rPr lang="fr-FR" sz="2000" dirty="0">
                <a:latin typeface="Times New Roman" panose="02020603050405020304" pitchFamily="18" charset="0"/>
                <a:cs typeface="Times New Roman" panose="02020603050405020304" pitchFamily="18" charset="0"/>
              </a:rPr>
              <a:t>d’un produit </a:t>
            </a:r>
            <a:r>
              <a:rPr lang="fr-FR" sz="2000" dirty="0" smtClean="0">
                <a:latin typeface="Times New Roman" panose="02020603050405020304" pitchFamily="18" charset="0"/>
                <a:cs typeface="Times New Roman" panose="02020603050405020304" pitchFamily="18" charset="0"/>
              </a:rPr>
              <a:t>a </a:t>
            </a:r>
            <a:r>
              <a:rPr lang="fr-FR" sz="2000" dirty="0">
                <a:latin typeface="Times New Roman" panose="02020603050405020304" pitchFamily="18" charset="0"/>
                <a:cs typeface="Times New Roman" panose="02020603050405020304" pitchFamily="18" charset="0"/>
              </a:rPr>
              <a:t>s’adapter `a un changement d’ordre de grandeur de la demande, en particulier sa </a:t>
            </a:r>
            <a:r>
              <a:rPr lang="fr-FR" sz="2000" dirty="0" smtClean="0">
                <a:latin typeface="Times New Roman" panose="02020603050405020304" pitchFamily="18" charset="0"/>
                <a:cs typeface="Times New Roman" panose="02020603050405020304" pitchFamily="18" charset="0"/>
              </a:rPr>
              <a:t>capacité </a:t>
            </a:r>
            <a:r>
              <a:rPr lang="fr-FR" sz="2000" dirty="0">
                <a:latin typeface="Times New Roman" panose="02020603050405020304" pitchFamily="18" charset="0"/>
                <a:cs typeface="Times New Roman" panose="02020603050405020304" pitchFamily="18" charset="0"/>
              </a:rPr>
              <a:t>`a maintenir ses </a:t>
            </a:r>
            <a:r>
              <a:rPr lang="fr-FR" sz="2000" dirty="0" smtClean="0">
                <a:latin typeface="Times New Roman" panose="02020603050405020304" pitchFamily="18" charset="0"/>
                <a:cs typeface="Times New Roman" panose="02020603050405020304" pitchFamily="18" charset="0"/>
              </a:rPr>
              <a:t>fonctionnalités </a:t>
            </a:r>
            <a:r>
              <a:rPr lang="fr-FR" sz="2000" dirty="0">
                <a:latin typeface="Times New Roman" panose="02020603050405020304" pitchFamily="18" charset="0"/>
                <a:cs typeface="Times New Roman" panose="02020603050405020304" pitchFamily="18" charset="0"/>
              </a:rPr>
              <a:t>et ses performances en cas de forte </a:t>
            </a:r>
            <a:r>
              <a:rPr lang="fr-FR" sz="2000" dirty="0" smtClean="0">
                <a:latin typeface="Times New Roman" panose="02020603050405020304" pitchFamily="18" charset="0"/>
                <a:cs typeface="Times New Roman" panose="02020603050405020304" pitchFamily="18" charset="0"/>
              </a:rPr>
              <a:t>demande)</a:t>
            </a:r>
          </a:p>
          <a:p>
            <a:pPr algn="just"/>
            <a:r>
              <a:rPr lang="fr-FR" sz="2800" dirty="0">
                <a:latin typeface="Times New Roman" panose="02020603050405020304" pitchFamily="18" charset="0"/>
                <a:cs typeface="Times New Roman" panose="02020603050405020304" pitchFamily="18" charset="0"/>
              </a:rPr>
              <a:t>Requêtes </a:t>
            </a:r>
            <a:r>
              <a:rPr lang="fr-FR" sz="2800" dirty="0" err="1">
                <a:latin typeface="Times New Roman" panose="02020603050405020304" pitchFamily="18" charset="0"/>
                <a:cs typeface="Times New Roman" panose="02020603050405020304" pitchFamily="18" charset="0"/>
              </a:rPr>
              <a:t>NoSQL</a:t>
            </a: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Les BDNR</a:t>
            </a:r>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utilisent des requêtes </a:t>
            </a:r>
            <a:r>
              <a:rPr lang="fr-FR" sz="2800" dirty="0" err="1">
                <a:latin typeface="Times New Roman" panose="02020603050405020304" pitchFamily="18" charset="0"/>
                <a:cs typeface="Times New Roman" panose="02020603050405020304" pitchFamily="18" charset="0"/>
              </a:rPr>
              <a:t>NoSQL</a:t>
            </a:r>
            <a:r>
              <a:rPr lang="fr-FR" sz="2800" dirty="0">
                <a:latin typeface="Times New Roman" panose="02020603050405020304" pitchFamily="18" charset="0"/>
                <a:cs typeface="Times New Roman" panose="02020603050405020304" pitchFamily="18" charset="0"/>
              </a:rPr>
              <a:t> qui sont différentes des requêtes SQL utilisées pour les </a:t>
            </a:r>
            <a:r>
              <a:rPr lang="fr-FR" sz="2800" dirty="0" smtClean="0">
                <a:latin typeface="Times New Roman" panose="02020603050405020304" pitchFamily="18" charset="0"/>
                <a:cs typeface="Times New Roman" panose="02020603050405020304" pitchFamily="18" charset="0"/>
              </a:rPr>
              <a:t>BDR. </a:t>
            </a:r>
            <a:r>
              <a:rPr lang="fr-FR" sz="2800" dirty="0">
                <a:latin typeface="Times New Roman" panose="02020603050405020304" pitchFamily="18" charset="0"/>
                <a:cs typeface="Times New Roman" panose="02020603050405020304" pitchFamily="18" charset="0"/>
              </a:rPr>
              <a:t>Les requêtes </a:t>
            </a:r>
            <a:r>
              <a:rPr lang="fr-FR" sz="2800" dirty="0" err="1">
                <a:latin typeface="Times New Roman" panose="02020603050405020304" pitchFamily="18" charset="0"/>
                <a:cs typeface="Times New Roman" panose="02020603050405020304" pitchFamily="18" charset="0"/>
              </a:rPr>
              <a:t>NoSQL</a:t>
            </a:r>
            <a:r>
              <a:rPr lang="fr-FR" sz="2800" dirty="0">
                <a:latin typeface="Times New Roman" panose="02020603050405020304" pitchFamily="18" charset="0"/>
                <a:cs typeface="Times New Roman" panose="02020603050405020304" pitchFamily="18" charset="0"/>
              </a:rPr>
              <a:t> sont souvent plus simples et directes, mais moins expressives que les requêtes </a:t>
            </a:r>
            <a:r>
              <a:rPr lang="fr-FR" sz="2800" dirty="0" smtClean="0">
                <a:latin typeface="Times New Roman" panose="02020603050405020304" pitchFamily="18" charset="0"/>
                <a:cs typeface="Times New Roman" panose="02020603050405020304" pitchFamily="18" charset="0"/>
              </a:rPr>
              <a:t>SQL.</a:t>
            </a:r>
          </a:p>
        </p:txBody>
      </p:sp>
    </p:spTree>
    <p:extLst>
      <p:ext uri="{BB962C8B-B14F-4D97-AF65-F5344CB8AC3E}">
        <p14:creationId xmlns:p14="http://schemas.microsoft.com/office/powerpoint/2010/main" val="26564144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16632"/>
            <a:ext cx="8579296" cy="6009531"/>
          </a:xfrm>
        </p:spPr>
        <p:txBody>
          <a:bodyPr/>
          <a:lstStyle/>
          <a:p>
            <a:pPr marL="0" indent="0" algn="just">
              <a:buNone/>
            </a:pPr>
            <a:r>
              <a:rPr lang="fr-FR" b="1" dirty="0">
                <a:latin typeface="Times New Roman" panose="02020603050405020304" pitchFamily="18" charset="0"/>
                <a:cs typeface="Times New Roman" panose="02020603050405020304" pitchFamily="18" charset="0"/>
              </a:rPr>
              <a:t>Exemple: </a:t>
            </a:r>
            <a:r>
              <a:rPr lang="fr-FR" dirty="0">
                <a:latin typeface="Times New Roman" panose="02020603050405020304" pitchFamily="18" charset="0"/>
                <a:cs typeface="Times New Roman" panose="02020603050405020304" pitchFamily="18" charset="0"/>
              </a:rPr>
              <a:t>L'équivalent du CREATE TABLE en SQL n'est soit pas nécessaire, soit même pas possible ; on peut directement faire l'équivalent de INSERT INTO.</a:t>
            </a:r>
          </a:p>
          <a:p>
            <a:pPr marL="0" indent="0" algn="just">
              <a:buNone/>
            </a:pPr>
            <a:r>
              <a:rPr lang="fr-FR" dirty="0">
                <a:latin typeface="Times New Roman" panose="02020603050405020304" pitchFamily="18" charset="0"/>
                <a:cs typeface="Times New Roman" panose="02020603050405020304" pitchFamily="18" charset="0"/>
              </a:rPr>
              <a:t>Cela apporte de la souplesse et de la rapidité, mais se paye avec moins de contrôle et donc de cohérence des données.</a:t>
            </a:r>
          </a:p>
          <a:p>
            <a:pPr marL="0" indent="0">
              <a:buNone/>
            </a:pPr>
            <a:endParaRPr lang="fr-FR" dirty="0"/>
          </a:p>
        </p:txBody>
      </p:sp>
    </p:spTree>
    <p:extLst>
      <p:ext uri="{BB962C8B-B14F-4D97-AF65-F5344CB8AC3E}">
        <p14:creationId xmlns:p14="http://schemas.microsoft.com/office/powerpoint/2010/main" val="12844029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0"/>
            <a:ext cx="8229600" cy="764704"/>
          </a:xfrm>
        </p:spPr>
        <p:txBody>
          <a:bodyPr>
            <a:normAutofit/>
          </a:bodyPr>
          <a:lstStyle/>
          <a:p>
            <a:r>
              <a:rPr lang="fr-FR" sz="4000" b="1" dirty="0">
                <a:latin typeface="Times New Roman" panose="02020603050405020304" pitchFamily="18" charset="0"/>
                <a:cs typeface="Times New Roman" panose="02020603050405020304" pitchFamily="18" charset="0"/>
              </a:rPr>
              <a:t>2.2. Les types des bases </a:t>
            </a:r>
            <a:r>
              <a:rPr lang="fr-FR" sz="4000" b="1" dirty="0" err="1">
                <a:latin typeface="Times New Roman" panose="02020603050405020304" pitchFamily="18" charset="0"/>
                <a:cs typeface="Times New Roman" panose="02020603050405020304" pitchFamily="18" charset="0"/>
              </a:rPr>
              <a:t>NoSQL</a:t>
            </a:r>
            <a:r>
              <a:rPr lang="fr-FR" sz="4000" b="1" dirty="0">
                <a:latin typeface="Times New Roman" panose="02020603050405020304" pitchFamily="18" charset="0"/>
                <a:cs typeface="Times New Roman" panose="02020603050405020304" pitchFamily="18" charset="0"/>
              </a:rPr>
              <a:t> </a:t>
            </a:r>
          </a:p>
        </p:txBody>
      </p:sp>
      <p:sp>
        <p:nvSpPr>
          <p:cNvPr id="3" name="Espace réservé du contenu 2"/>
          <p:cNvSpPr>
            <a:spLocks noGrp="1"/>
          </p:cNvSpPr>
          <p:nvPr>
            <p:ph idx="1"/>
          </p:nvPr>
        </p:nvSpPr>
        <p:spPr>
          <a:xfrm>
            <a:off x="0" y="764704"/>
            <a:ext cx="9144000" cy="6093296"/>
          </a:xfrm>
        </p:spPr>
        <p:txBody>
          <a:bodyPr/>
          <a:lstStyle/>
          <a:p>
            <a:pPr marL="0" indent="0">
              <a:buNone/>
            </a:pPr>
            <a:r>
              <a:rPr lang="fr-FR" dirty="0">
                <a:latin typeface="Times New Roman" panose="02020603050405020304" pitchFamily="18" charset="0"/>
                <a:cs typeface="Times New Roman" panose="02020603050405020304" pitchFamily="18" charset="0"/>
              </a:rPr>
              <a:t>Dans la mouvance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il existe une </a:t>
            </a:r>
            <a:r>
              <a:rPr lang="fr-FR" dirty="0" smtClean="0">
                <a:latin typeface="Times New Roman" panose="02020603050405020304" pitchFamily="18" charset="0"/>
                <a:cs typeface="Times New Roman" panose="02020603050405020304" pitchFamily="18" charset="0"/>
              </a:rPr>
              <a:t>diversité </a:t>
            </a:r>
            <a:r>
              <a:rPr lang="fr-FR" dirty="0">
                <a:latin typeface="Times New Roman" panose="02020603050405020304" pitchFamily="18" charset="0"/>
                <a:cs typeface="Times New Roman" panose="02020603050405020304" pitchFamily="18" charset="0"/>
              </a:rPr>
              <a:t>importante d’approches que nous classons en quatre grandes </a:t>
            </a:r>
            <a:r>
              <a:rPr lang="fr-FR" dirty="0" smtClean="0">
                <a:latin typeface="Times New Roman" panose="02020603050405020304" pitchFamily="18" charset="0"/>
                <a:cs typeface="Times New Roman" panose="02020603050405020304" pitchFamily="18" charset="0"/>
              </a:rPr>
              <a:t>catégories </a:t>
            </a:r>
            <a:r>
              <a:rPr lang="fr-FR"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pPr marL="514350" indent="-514350">
              <a:buAutoNum type="arabicPeriod"/>
            </a:pPr>
            <a:r>
              <a:rPr lang="fr-FR" dirty="0" smtClean="0">
                <a:latin typeface="Times New Roman" panose="02020603050405020304" pitchFamily="18" charset="0"/>
                <a:cs typeface="Times New Roman" panose="02020603050405020304" pitchFamily="18" charset="0"/>
              </a:rPr>
              <a:t>Les </a:t>
            </a:r>
            <a:r>
              <a:rPr lang="fr-FR" dirty="0">
                <a:latin typeface="Times New Roman" panose="02020603050405020304" pitchFamily="18" charset="0"/>
                <a:cs typeface="Times New Roman" panose="02020603050405020304" pitchFamily="18" charset="0"/>
              </a:rPr>
              <a:t>bases </a:t>
            </a:r>
            <a:r>
              <a:rPr lang="fr-FR" dirty="0" smtClean="0">
                <a:latin typeface="Times New Roman" panose="02020603050405020304" pitchFamily="18" charset="0"/>
                <a:cs typeface="Times New Roman" panose="02020603050405020304" pitchFamily="18" charset="0"/>
              </a:rPr>
              <a:t>orientées </a:t>
            </a:r>
            <a:r>
              <a:rPr lang="fr-FR" dirty="0" err="1" smtClean="0">
                <a:latin typeface="Times New Roman" panose="02020603050405020304" pitchFamily="18" charset="0"/>
                <a:cs typeface="Times New Roman" panose="02020603050405020304" pitchFamily="18" charset="0"/>
              </a:rPr>
              <a:t>cle</a:t>
            </a:r>
            <a:r>
              <a:rPr lang="fr-FR" dirty="0" smtClean="0">
                <a:latin typeface="Times New Roman" panose="02020603050405020304" pitchFamily="18" charset="0"/>
                <a:cs typeface="Times New Roman" panose="02020603050405020304" pitchFamily="18" charset="0"/>
              </a:rPr>
              <a:t>-valeur</a:t>
            </a:r>
            <a:r>
              <a:rPr lang="fr-FR"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pPr marL="514350" indent="-514350">
              <a:buAutoNum type="arabicPeriod"/>
            </a:pPr>
            <a:r>
              <a:rPr lang="fr-FR" dirty="0" smtClean="0">
                <a:latin typeface="Times New Roman" panose="02020603050405020304" pitchFamily="18" charset="0"/>
                <a:cs typeface="Times New Roman" panose="02020603050405020304" pitchFamily="18" charset="0"/>
              </a:rPr>
              <a:t>Les </a:t>
            </a:r>
            <a:r>
              <a:rPr lang="fr-FR" dirty="0">
                <a:latin typeface="Times New Roman" panose="02020603050405020304" pitchFamily="18" charset="0"/>
                <a:cs typeface="Times New Roman" panose="02020603050405020304" pitchFamily="18" charset="0"/>
              </a:rPr>
              <a:t>bases </a:t>
            </a:r>
            <a:r>
              <a:rPr lang="fr-FR" dirty="0" smtClean="0">
                <a:latin typeface="Times New Roman" panose="02020603050405020304" pitchFamily="18" charset="0"/>
                <a:cs typeface="Times New Roman" panose="02020603050405020304" pitchFamily="18" charset="0"/>
              </a:rPr>
              <a:t>orientées </a:t>
            </a:r>
            <a:r>
              <a:rPr lang="fr-FR" dirty="0">
                <a:latin typeface="Times New Roman" panose="02020603050405020304" pitchFamily="18" charset="0"/>
                <a:cs typeface="Times New Roman" panose="02020603050405020304" pitchFamily="18" charset="0"/>
              </a:rPr>
              <a:t>colonnes. </a:t>
            </a:r>
            <a:endParaRPr lang="fr-FR" dirty="0" smtClean="0">
              <a:latin typeface="Times New Roman" panose="02020603050405020304" pitchFamily="18" charset="0"/>
              <a:cs typeface="Times New Roman" panose="02020603050405020304" pitchFamily="18" charset="0"/>
            </a:endParaRPr>
          </a:p>
          <a:p>
            <a:pPr marL="514350" indent="-514350">
              <a:buAutoNum type="arabicPeriod"/>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Les bases </a:t>
            </a:r>
            <a:r>
              <a:rPr lang="fr-FR" dirty="0" smtClean="0">
                <a:latin typeface="Times New Roman" panose="02020603050405020304" pitchFamily="18" charset="0"/>
                <a:cs typeface="Times New Roman" panose="02020603050405020304" pitchFamily="18" charset="0"/>
              </a:rPr>
              <a:t>orientées </a:t>
            </a:r>
            <a:r>
              <a:rPr lang="fr-FR" dirty="0">
                <a:latin typeface="Times New Roman" panose="02020603050405020304" pitchFamily="18" charset="0"/>
                <a:cs typeface="Times New Roman" panose="02020603050405020304" pitchFamily="18" charset="0"/>
              </a:rPr>
              <a:t>documents. </a:t>
            </a:r>
            <a:endParaRPr lang="fr-FR" dirty="0" smtClean="0">
              <a:latin typeface="Times New Roman" panose="02020603050405020304" pitchFamily="18" charset="0"/>
              <a:cs typeface="Times New Roman" panose="02020603050405020304" pitchFamily="18" charset="0"/>
            </a:endParaRPr>
          </a:p>
          <a:p>
            <a:pPr marL="514350" indent="-514350">
              <a:buAutoNum type="arabicPeriod"/>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Les bases </a:t>
            </a:r>
            <a:r>
              <a:rPr lang="fr-FR" dirty="0" smtClean="0">
                <a:latin typeface="Times New Roman" panose="02020603050405020304" pitchFamily="18" charset="0"/>
                <a:cs typeface="Times New Roman" panose="02020603050405020304" pitchFamily="18" charset="0"/>
              </a:rPr>
              <a:t>orientées </a:t>
            </a:r>
            <a:r>
              <a:rPr lang="fr-FR" dirty="0">
                <a:latin typeface="Times New Roman" panose="02020603050405020304" pitchFamily="18" charset="0"/>
                <a:cs typeface="Times New Roman" panose="02020603050405020304" pitchFamily="18" charset="0"/>
              </a:rPr>
              <a:t>graphes</a:t>
            </a:r>
            <a:r>
              <a:rPr lang="fr-FR" dirty="0" smtClean="0">
                <a:latin typeface="Times New Roman" panose="02020603050405020304" pitchFamily="18" charset="0"/>
                <a:cs typeface="Times New Roman" panose="02020603050405020304" pitchFamily="18" charset="0"/>
              </a:rPr>
              <a:t>.</a:t>
            </a:r>
          </a:p>
          <a:p>
            <a:pPr marL="0" indent="0">
              <a:buNone/>
            </a:pPr>
            <a:r>
              <a:rPr lang="fr-FR" dirty="0">
                <a:latin typeface="Times New Roman" panose="02020603050405020304" pitchFamily="18" charset="0"/>
                <a:cs typeface="Times New Roman" panose="02020603050405020304" pitchFamily="18" charset="0"/>
              </a:rPr>
              <a:t> </a:t>
            </a:r>
            <a:endParaRPr lang="fr-FR" sz="4000" b="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41990893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0016"/>
            <a:ext cx="9324528" cy="1143000"/>
          </a:xfrm>
        </p:spPr>
        <p:txBody>
          <a:bodyPr>
            <a:normAutofit fontScale="90000"/>
          </a:bodyPr>
          <a:lstStyle/>
          <a:p>
            <a:r>
              <a:rPr lang="fr-FR" b="1" dirty="0">
                <a:latin typeface="Times New Roman" panose="02020603050405020304" pitchFamily="18" charset="0"/>
                <a:cs typeface="Times New Roman" panose="02020603050405020304" pitchFamily="18" charset="0"/>
              </a:rPr>
              <a:t>2.2.1. Les bases de données orientées clé-valeur</a:t>
            </a:r>
            <a:endParaRPr lang="fr-FR" dirty="0"/>
          </a:p>
        </p:txBody>
      </p:sp>
      <p:sp>
        <p:nvSpPr>
          <p:cNvPr id="3" name="Espace réservé du contenu 2"/>
          <p:cNvSpPr>
            <a:spLocks noGrp="1"/>
          </p:cNvSpPr>
          <p:nvPr>
            <p:ph idx="1"/>
          </p:nvPr>
        </p:nvSpPr>
        <p:spPr>
          <a:xfrm>
            <a:off x="0" y="1163016"/>
            <a:ext cx="9144000" cy="5694984"/>
          </a:xfrm>
        </p:spPr>
        <p:txBody>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Ce type est probablement le plus connu et le plus basique que comporte la mouvance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Son principe est </a:t>
            </a:r>
            <a:r>
              <a:rPr lang="fr-FR" dirty="0" smtClean="0">
                <a:latin typeface="Times New Roman" panose="02020603050405020304" pitchFamily="18" charset="0"/>
                <a:cs typeface="Times New Roman" panose="02020603050405020304" pitchFamily="18" charset="0"/>
              </a:rPr>
              <a:t>extrêmement </a:t>
            </a:r>
            <a:r>
              <a:rPr lang="fr-FR" dirty="0">
                <a:latin typeface="Times New Roman" panose="02020603050405020304" pitchFamily="18" charset="0"/>
                <a:cs typeface="Times New Roman" panose="02020603050405020304" pitchFamily="18" charset="0"/>
              </a:rPr>
              <a:t>simple : chaque objet (valeur) est </a:t>
            </a:r>
            <a:r>
              <a:rPr lang="fr-FR" dirty="0" smtClean="0">
                <a:latin typeface="Times New Roman" panose="02020603050405020304" pitchFamily="18" charset="0"/>
                <a:cs typeface="Times New Roman" panose="02020603050405020304" pitchFamily="18" charset="0"/>
              </a:rPr>
              <a:t>identifie </a:t>
            </a:r>
            <a:r>
              <a:rPr lang="fr-FR" dirty="0">
                <a:latin typeface="Times New Roman" panose="02020603050405020304" pitchFamily="18" charset="0"/>
                <a:cs typeface="Times New Roman" panose="02020603050405020304" pitchFamily="18" charset="0"/>
              </a:rPr>
              <a:t>par une </a:t>
            </a:r>
            <a:r>
              <a:rPr lang="fr-FR" dirty="0" smtClean="0">
                <a:latin typeface="Times New Roman" panose="02020603050405020304" pitchFamily="18" charset="0"/>
                <a:cs typeface="Times New Roman" panose="02020603050405020304" pitchFamily="18" charset="0"/>
              </a:rPr>
              <a:t>clé </a:t>
            </a:r>
            <a:r>
              <a:rPr lang="fr-FR" dirty="0">
                <a:latin typeface="Times New Roman" panose="02020603050405020304" pitchFamily="18" charset="0"/>
                <a:cs typeface="Times New Roman" panose="02020603050405020304" pitchFamily="18" charset="0"/>
              </a:rPr>
              <a:t>unique. Celle-ci </a:t>
            </a:r>
            <a:r>
              <a:rPr lang="fr-FR" dirty="0" smtClean="0">
                <a:latin typeface="Times New Roman" panose="02020603050405020304" pitchFamily="18" charset="0"/>
                <a:cs typeface="Times New Roman" panose="02020603050405020304" pitchFamily="18" charset="0"/>
              </a:rPr>
              <a:t>représente </a:t>
            </a:r>
            <a:r>
              <a:rPr lang="fr-FR" dirty="0">
                <a:latin typeface="Times New Roman" panose="02020603050405020304" pitchFamily="18" charset="0"/>
                <a:cs typeface="Times New Roman" panose="02020603050405020304" pitchFamily="18" charset="0"/>
              </a:rPr>
              <a:t>la seule </a:t>
            </a:r>
            <a:r>
              <a:rPr lang="fr-FR" dirty="0" smtClean="0">
                <a:latin typeface="Times New Roman" panose="02020603050405020304" pitchFamily="18" charset="0"/>
                <a:cs typeface="Times New Roman" panose="02020603050405020304" pitchFamily="18" charset="0"/>
              </a:rPr>
              <a:t>manière </a:t>
            </a:r>
            <a:r>
              <a:rPr lang="fr-FR" dirty="0">
                <a:latin typeface="Times New Roman" panose="02020603050405020304" pitchFamily="18" charset="0"/>
                <a:cs typeface="Times New Roman" panose="02020603050405020304" pitchFamily="18" charset="0"/>
              </a:rPr>
              <a:t>de solliciter l’objet</a:t>
            </a:r>
            <a:r>
              <a:rPr lang="fr-FR" dirty="0" smtClean="0">
                <a:latin typeface="Times New Roman" panose="02020603050405020304" pitchFamily="18" charset="0"/>
                <a:cs typeface="Times New Roman" panose="02020603050405020304" pitchFamily="18" charset="0"/>
              </a:rPr>
              <a:t>.</a:t>
            </a:r>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683568" y="3789040"/>
            <a:ext cx="7920880" cy="3042223"/>
          </a:xfrm>
          <a:prstGeom prst="rect">
            <a:avLst/>
          </a:prstGeom>
        </p:spPr>
      </p:pic>
    </p:spTree>
    <p:extLst>
      <p:ext uri="{BB962C8B-B14F-4D97-AF65-F5344CB8AC3E}">
        <p14:creationId xmlns:p14="http://schemas.microsoft.com/office/powerpoint/2010/main" val="20900934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107504" y="188640"/>
            <a:ext cx="8856984" cy="6453336"/>
          </a:xfrm>
          <a:prstGeom prst="rect">
            <a:avLst/>
          </a:prstGeom>
        </p:spPr>
      </p:pic>
    </p:spTree>
    <p:extLst>
      <p:ext uri="{BB962C8B-B14F-4D97-AF65-F5344CB8AC3E}">
        <p14:creationId xmlns:p14="http://schemas.microsoft.com/office/powerpoint/2010/main" val="32102493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22231" y="116632"/>
            <a:ext cx="8870249" cy="6552728"/>
          </a:xfrm>
          <a:prstGeom prst="rect">
            <a:avLst/>
          </a:prstGeom>
        </p:spPr>
      </p:pic>
    </p:spTree>
    <p:extLst>
      <p:ext uri="{BB962C8B-B14F-4D97-AF65-F5344CB8AC3E}">
        <p14:creationId xmlns:p14="http://schemas.microsoft.com/office/powerpoint/2010/main" val="30996394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0" indent="457200" algn="just">
              <a:spcBef>
                <a:spcPts val="0"/>
              </a:spcBef>
              <a:buNone/>
            </a:pPr>
            <a:r>
              <a:rPr lang="fr-FR" sz="2800" dirty="0">
                <a:latin typeface="Times New Roman" panose="02020603050405020304" pitchFamily="18" charset="0"/>
                <a:cs typeface="Times New Roman" panose="02020603050405020304" pitchFamily="18" charset="0"/>
              </a:rPr>
              <a:t>La structure de l’objet est libre et le plus souvent </a:t>
            </a:r>
            <a:r>
              <a:rPr lang="fr-FR" sz="2800" dirty="0" smtClean="0">
                <a:latin typeface="Times New Roman" panose="02020603050405020304" pitchFamily="18" charset="0"/>
                <a:cs typeface="Times New Roman" panose="02020603050405020304" pitchFamily="18" charset="0"/>
              </a:rPr>
              <a:t>laisse </a:t>
            </a:r>
            <a:r>
              <a:rPr lang="fr-FR" sz="2800" dirty="0">
                <a:latin typeface="Times New Roman" panose="02020603050405020304" pitchFamily="18" charset="0"/>
                <a:cs typeface="Times New Roman" panose="02020603050405020304" pitchFamily="18" charset="0"/>
              </a:rPr>
              <a:t>`a la charge du </a:t>
            </a:r>
            <a:r>
              <a:rPr lang="fr-FR" sz="2800" dirty="0" smtClean="0">
                <a:latin typeface="Times New Roman" panose="02020603050405020304" pitchFamily="18" charset="0"/>
                <a:cs typeface="Times New Roman" panose="02020603050405020304" pitchFamily="18" charset="0"/>
              </a:rPr>
              <a:t>développeur </a:t>
            </a:r>
            <a:r>
              <a:rPr lang="fr-FR" sz="2800" dirty="0">
                <a:latin typeface="Times New Roman" panose="02020603050405020304" pitchFamily="18" charset="0"/>
                <a:cs typeface="Times New Roman" panose="02020603050405020304" pitchFamily="18" charset="0"/>
              </a:rPr>
              <a:t>de l’application (XML, JSON, ...), la base ne </a:t>
            </a:r>
            <a:r>
              <a:rPr lang="fr-FR" sz="2800" dirty="0" smtClean="0">
                <a:latin typeface="Times New Roman" panose="02020603050405020304" pitchFamily="18" charset="0"/>
                <a:cs typeface="Times New Roman" panose="02020603050405020304" pitchFamily="18" charset="0"/>
              </a:rPr>
              <a:t>gérant généralement </a:t>
            </a:r>
            <a:r>
              <a:rPr lang="fr-FR" sz="2800" dirty="0">
                <a:latin typeface="Times New Roman" panose="02020603050405020304" pitchFamily="18" charset="0"/>
                <a:cs typeface="Times New Roman" panose="02020603050405020304" pitchFamily="18" charset="0"/>
              </a:rPr>
              <a:t>que des </a:t>
            </a:r>
            <a:r>
              <a:rPr lang="fr-FR" sz="2800" dirty="0" smtClean="0">
                <a:latin typeface="Times New Roman" panose="02020603050405020304" pitchFamily="18" charset="0"/>
                <a:cs typeface="Times New Roman" panose="02020603050405020304" pitchFamily="18" charset="0"/>
              </a:rPr>
              <a:t>chaınes </a:t>
            </a:r>
            <a:r>
              <a:rPr lang="fr-FR" sz="2800" dirty="0">
                <a:latin typeface="Times New Roman" panose="02020603050405020304" pitchFamily="18" charset="0"/>
                <a:cs typeface="Times New Roman" panose="02020603050405020304" pitchFamily="18" charset="0"/>
              </a:rPr>
              <a:t>d’octets. A fin de communiquer avec cette base, on se </a:t>
            </a:r>
            <a:r>
              <a:rPr lang="fr-FR" sz="2800" dirty="0" smtClean="0">
                <a:latin typeface="Times New Roman" panose="02020603050405020304" pitchFamily="18" charset="0"/>
                <a:cs typeface="Times New Roman" panose="02020603050405020304" pitchFamily="18" charset="0"/>
              </a:rPr>
              <a:t>résumé généralement </a:t>
            </a:r>
            <a:r>
              <a:rPr lang="fr-FR" sz="2800" dirty="0">
                <a:latin typeface="Times New Roman" panose="02020603050405020304" pitchFamily="18" charset="0"/>
                <a:cs typeface="Times New Roman" panose="02020603050405020304" pitchFamily="18" charset="0"/>
              </a:rPr>
              <a:t>qu’a quatre </a:t>
            </a:r>
            <a:r>
              <a:rPr lang="fr-FR" sz="2800" dirty="0" smtClean="0">
                <a:latin typeface="Times New Roman" panose="02020603050405020304" pitchFamily="18" charset="0"/>
                <a:cs typeface="Times New Roman" panose="02020603050405020304" pitchFamily="18" charset="0"/>
              </a:rPr>
              <a:t>opérations </a:t>
            </a:r>
            <a:r>
              <a:rPr lang="fr-FR" sz="2800" dirty="0" err="1">
                <a:latin typeface="Times New Roman" panose="02020603050405020304" pitchFamily="18" charset="0"/>
                <a:cs typeface="Times New Roman" panose="02020603050405020304" pitchFamily="18" charset="0"/>
              </a:rPr>
              <a:t>Create</a:t>
            </a: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Read </a:t>
            </a:r>
            <a:r>
              <a:rPr lang="fr-FR" sz="2800" dirty="0">
                <a:latin typeface="Times New Roman" panose="02020603050405020304" pitchFamily="18" charset="0"/>
                <a:cs typeface="Times New Roman" panose="02020603050405020304" pitchFamily="18" charset="0"/>
              </a:rPr>
              <a:t>Update </a:t>
            </a:r>
            <a:r>
              <a:rPr lang="fr-FR" sz="2800" dirty="0" err="1">
                <a:latin typeface="Times New Roman" panose="02020603050405020304" pitchFamily="18" charset="0"/>
                <a:cs typeface="Times New Roman" panose="02020603050405020304" pitchFamily="18" charset="0"/>
              </a:rPr>
              <a:t>Delete</a:t>
            </a:r>
            <a:r>
              <a:rPr lang="fr-FR" sz="2800" dirty="0">
                <a:latin typeface="Times New Roman" panose="02020603050405020304" pitchFamily="18" charset="0"/>
                <a:cs typeface="Times New Roman" panose="02020603050405020304" pitchFamily="18" charset="0"/>
              </a:rPr>
              <a:t> (CRUD</a:t>
            </a:r>
            <a:r>
              <a:rPr lang="fr-FR" sz="2800" dirty="0" smtClean="0">
                <a:latin typeface="Times New Roman" panose="02020603050405020304" pitchFamily="18" charset="0"/>
                <a:cs typeface="Times New Roman" panose="02020603050405020304" pitchFamily="18" charset="0"/>
              </a:rPr>
              <a:t>).</a:t>
            </a:r>
          </a:p>
          <a:p>
            <a:pPr marL="0" indent="457200" algn="just">
              <a:spcBef>
                <a:spcPts val="0"/>
              </a:spcBef>
              <a:buNone/>
            </a:pPr>
            <a:endParaRPr lang="fr-FR" u="sng"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395536" y="2204864"/>
            <a:ext cx="8560822" cy="2160240"/>
          </a:xfrm>
          <a:prstGeom prst="rect">
            <a:avLst/>
          </a:prstGeom>
        </p:spPr>
      </p:pic>
      <p:sp>
        <p:nvSpPr>
          <p:cNvPr id="5" name="Rectangle 4"/>
          <p:cNvSpPr/>
          <p:nvPr/>
        </p:nvSpPr>
        <p:spPr>
          <a:xfrm>
            <a:off x="18583" y="4118410"/>
            <a:ext cx="9153654" cy="2785378"/>
          </a:xfrm>
          <a:prstGeom prst="rect">
            <a:avLst/>
          </a:prstGeom>
        </p:spPr>
        <p:txBody>
          <a:bodyPr wrap="square">
            <a:spAutoFit/>
          </a:bodyPr>
          <a:lstStyle/>
          <a:p>
            <a:pPr algn="just"/>
            <a:r>
              <a:rPr lang="fr-FR" sz="2500" dirty="0">
                <a:latin typeface="Times New Roman" panose="02020603050405020304" pitchFamily="18" charset="0"/>
                <a:cs typeface="Times New Roman" panose="02020603050405020304" pitchFamily="18" charset="0"/>
              </a:rPr>
              <a:t>La plupart des bases de </a:t>
            </a:r>
            <a:r>
              <a:rPr lang="fr-FR" sz="2500" dirty="0" smtClean="0">
                <a:latin typeface="Times New Roman" panose="02020603050405020304" pitchFamily="18" charset="0"/>
                <a:cs typeface="Times New Roman" panose="02020603050405020304" pitchFamily="18" charset="0"/>
              </a:rPr>
              <a:t>données </a:t>
            </a:r>
            <a:r>
              <a:rPr lang="fr-FR" sz="2500" dirty="0">
                <a:latin typeface="Times New Roman" panose="02020603050405020304" pitchFamily="18" charset="0"/>
                <a:cs typeface="Times New Roman" panose="02020603050405020304" pitchFamily="18" charset="0"/>
              </a:rPr>
              <a:t>de type </a:t>
            </a:r>
            <a:r>
              <a:rPr lang="fr-FR" sz="2500" dirty="0" smtClean="0">
                <a:latin typeface="Times New Roman" panose="02020603050405020304" pitchFamily="18" charset="0"/>
                <a:cs typeface="Times New Roman" panose="02020603050405020304" pitchFamily="18" charset="0"/>
              </a:rPr>
              <a:t>clé/valeur </a:t>
            </a:r>
            <a:r>
              <a:rPr lang="fr-FR" sz="2500" dirty="0">
                <a:latin typeface="Times New Roman" panose="02020603050405020304" pitchFamily="18" charset="0"/>
                <a:cs typeface="Times New Roman" panose="02020603050405020304" pitchFamily="18" charset="0"/>
              </a:rPr>
              <a:t>disposent d’une interface HTTP REST qui permet de </a:t>
            </a:r>
            <a:r>
              <a:rPr lang="fr-FR" sz="2500" dirty="0" smtClean="0">
                <a:latin typeface="Times New Roman" panose="02020603050405020304" pitchFamily="18" charset="0"/>
                <a:cs typeface="Times New Roman" panose="02020603050405020304" pitchFamily="18" charset="0"/>
              </a:rPr>
              <a:t>procéder très </a:t>
            </a:r>
            <a:r>
              <a:rPr lang="fr-FR" sz="2500" dirty="0">
                <a:latin typeface="Times New Roman" panose="02020603050405020304" pitchFamily="18" charset="0"/>
                <a:cs typeface="Times New Roman" panose="02020603050405020304" pitchFamily="18" charset="0"/>
              </a:rPr>
              <a:t>facilement `a des </a:t>
            </a:r>
            <a:r>
              <a:rPr lang="fr-FR" sz="2500" dirty="0" smtClean="0">
                <a:latin typeface="Times New Roman" panose="02020603050405020304" pitchFamily="18" charset="0"/>
                <a:cs typeface="Times New Roman" panose="02020603050405020304" pitchFamily="18" charset="0"/>
              </a:rPr>
              <a:t>requêtes </a:t>
            </a:r>
            <a:r>
              <a:rPr lang="fr-FR" sz="2500" dirty="0">
                <a:latin typeface="Times New Roman" panose="02020603050405020304" pitchFamily="18" charset="0"/>
                <a:cs typeface="Times New Roman" panose="02020603050405020304" pitchFamily="18" charset="0"/>
              </a:rPr>
              <a:t>depuis n’importe quel langage de </a:t>
            </a:r>
            <a:r>
              <a:rPr lang="fr-FR" sz="2500" dirty="0" smtClean="0">
                <a:latin typeface="Times New Roman" panose="02020603050405020304" pitchFamily="18" charset="0"/>
                <a:cs typeface="Times New Roman" panose="02020603050405020304" pitchFamily="18" charset="0"/>
              </a:rPr>
              <a:t>développement. </a:t>
            </a:r>
            <a:r>
              <a:rPr lang="fr-FR" sz="2500" dirty="0">
                <a:latin typeface="Times New Roman" panose="02020603050405020304" pitchFamily="18" charset="0"/>
                <a:cs typeface="Times New Roman" panose="02020603050405020304" pitchFamily="18" charset="0"/>
              </a:rPr>
              <a:t>Ces </a:t>
            </a:r>
            <a:r>
              <a:rPr lang="fr-FR" sz="2500" dirty="0" smtClean="0">
                <a:latin typeface="Times New Roman" panose="02020603050405020304" pitchFamily="18" charset="0"/>
                <a:cs typeface="Times New Roman" panose="02020603050405020304" pitchFamily="18" charset="0"/>
              </a:rPr>
              <a:t>systèmes </a:t>
            </a:r>
            <a:r>
              <a:rPr lang="fr-FR" sz="2500" dirty="0">
                <a:latin typeface="Times New Roman" panose="02020603050405020304" pitchFamily="18" charset="0"/>
                <a:cs typeface="Times New Roman" panose="02020603050405020304" pitchFamily="18" charset="0"/>
              </a:rPr>
              <a:t>affichent des performances exceptionnellement </a:t>
            </a:r>
            <a:r>
              <a:rPr lang="fr-FR" sz="2500" dirty="0" smtClean="0">
                <a:latin typeface="Times New Roman" panose="02020603050405020304" pitchFamily="18" charset="0"/>
                <a:cs typeface="Times New Roman" panose="02020603050405020304" pitchFamily="18" charset="0"/>
              </a:rPr>
              <a:t>élevées </a:t>
            </a:r>
            <a:r>
              <a:rPr lang="fr-FR" sz="2500" dirty="0">
                <a:latin typeface="Times New Roman" panose="02020603050405020304" pitchFamily="18" charset="0"/>
                <a:cs typeface="Times New Roman" panose="02020603050405020304" pitchFamily="18" charset="0"/>
              </a:rPr>
              <a:t>en lecture et en </a:t>
            </a:r>
            <a:r>
              <a:rPr lang="fr-FR" sz="2500" dirty="0" smtClean="0">
                <a:latin typeface="Times New Roman" panose="02020603050405020304" pitchFamily="18" charset="0"/>
                <a:cs typeface="Times New Roman" panose="02020603050405020304" pitchFamily="18" charset="0"/>
              </a:rPr>
              <a:t>écriture, </a:t>
            </a:r>
            <a:r>
              <a:rPr lang="fr-FR" sz="2500" dirty="0">
                <a:latin typeface="Times New Roman" panose="02020603050405020304" pitchFamily="18" charset="0"/>
                <a:cs typeface="Times New Roman" panose="02020603050405020304" pitchFamily="18" charset="0"/>
              </a:rPr>
              <a:t>ainsi qu’une </a:t>
            </a:r>
            <a:r>
              <a:rPr lang="fr-FR" sz="2500" dirty="0" smtClean="0">
                <a:latin typeface="Times New Roman" panose="02020603050405020304" pitchFamily="18" charset="0"/>
                <a:cs typeface="Times New Roman" panose="02020603050405020304" pitchFamily="18" charset="0"/>
              </a:rPr>
              <a:t>scalabilité </a:t>
            </a:r>
            <a:r>
              <a:rPr lang="fr-FR" sz="2500" dirty="0">
                <a:latin typeface="Times New Roman" panose="02020603050405020304" pitchFamily="18" charset="0"/>
                <a:cs typeface="Times New Roman" panose="02020603050405020304" pitchFamily="18" charset="0"/>
              </a:rPr>
              <a:t>horizontale 11 </a:t>
            </a:r>
            <a:r>
              <a:rPr lang="fr-FR" sz="2500" dirty="0" smtClean="0">
                <a:latin typeface="Times New Roman" panose="02020603050405020304" pitchFamily="18" charset="0"/>
                <a:cs typeface="Times New Roman" panose="02020603050405020304" pitchFamily="18" charset="0"/>
              </a:rPr>
              <a:t>étendue, </a:t>
            </a:r>
            <a:r>
              <a:rPr lang="fr-FR" sz="2500" dirty="0">
                <a:latin typeface="Times New Roman" panose="02020603050405020304" pitchFamily="18" charset="0"/>
                <a:cs typeface="Times New Roman" panose="02020603050405020304" pitchFamily="18" charset="0"/>
              </a:rPr>
              <a:t>cela vient du fait que ces types de bases sont </a:t>
            </a:r>
            <a:r>
              <a:rPr lang="fr-FR" sz="2500" dirty="0" smtClean="0">
                <a:latin typeface="Times New Roman" panose="02020603050405020304" pitchFamily="18" charset="0"/>
                <a:cs typeface="Times New Roman" panose="02020603050405020304" pitchFamily="18" charset="0"/>
              </a:rPr>
              <a:t>réduits </a:t>
            </a:r>
            <a:r>
              <a:rPr lang="fr-FR" sz="2500" dirty="0">
                <a:latin typeface="Times New Roman" panose="02020603050405020304" pitchFamily="18" charset="0"/>
                <a:cs typeface="Times New Roman" panose="02020603050405020304" pitchFamily="18" charset="0"/>
              </a:rPr>
              <a:t>`a un simple </a:t>
            </a:r>
            <a:r>
              <a:rPr lang="fr-FR" sz="2500" dirty="0" smtClean="0">
                <a:latin typeface="Times New Roman" panose="02020603050405020304" pitchFamily="18" charset="0"/>
                <a:cs typeface="Times New Roman" panose="02020603050405020304" pitchFamily="18" charset="0"/>
              </a:rPr>
              <a:t>accès </a:t>
            </a:r>
            <a:r>
              <a:rPr lang="fr-FR" sz="2500" dirty="0">
                <a:latin typeface="Times New Roman" panose="02020603050405020304" pitchFamily="18" charset="0"/>
                <a:cs typeface="Times New Roman" panose="02020603050405020304" pitchFamily="18" charset="0"/>
              </a:rPr>
              <a:t>disque.</a:t>
            </a:r>
          </a:p>
        </p:txBody>
      </p:sp>
    </p:spTree>
    <p:extLst>
      <p:ext uri="{BB962C8B-B14F-4D97-AF65-F5344CB8AC3E}">
        <p14:creationId xmlns:p14="http://schemas.microsoft.com/office/powerpoint/2010/main" val="37763530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251519" y="188640"/>
            <a:ext cx="8856985" cy="6669360"/>
          </a:xfrm>
          <a:prstGeom prst="rect">
            <a:avLst/>
          </a:prstGeom>
        </p:spPr>
      </p:pic>
    </p:spTree>
    <p:extLst>
      <p:ext uri="{BB962C8B-B14F-4D97-AF65-F5344CB8AC3E}">
        <p14:creationId xmlns:p14="http://schemas.microsoft.com/office/powerpoint/2010/main" val="27649236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Les outils de Bd no SQL orientée clé/</a:t>
            </a:r>
            <a:r>
              <a:rPr lang="en-US" dirty="0" smtClean="0"/>
              <a:t> </a:t>
            </a:r>
            <a:r>
              <a:rPr lang="en-US" dirty="0" err="1" smtClean="0"/>
              <a:t>Valeur</a:t>
            </a:r>
            <a:endParaRPr lang="fr-FR" dirty="0"/>
          </a:p>
        </p:txBody>
      </p:sp>
      <p:pic>
        <p:nvPicPr>
          <p:cNvPr id="4" name="Espace réservé du contenu 3"/>
          <p:cNvPicPr>
            <a:picLocks noGrp="1" noChangeAspect="1"/>
          </p:cNvPicPr>
          <p:nvPr>
            <p:ph idx="1"/>
          </p:nvPr>
        </p:nvPicPr>
        <p:blipFill>
          <a:blip r:embed="rId2"/>
          <a:stretch>
            <a:fillRect/>
          </a:stretch>
        </p:blipFill>
        <p:spPr>
          <a:xfrm>
            <a:off x="655639" y="1600200"/>
            <a:ext cx="7832722" cy="4525963"/>
          </a:xfrm>
          <a:prstGeom prst="rect">
            <a:avLst/>
          </a:prstGeom>
        </p:spPr>
      </p:pic>
    </p:spTree>
    <p:extLst>
      <p:ext uri="{BB962C8B-B14F-4D97-AF65-F5344CB8AC3E}">
        <p14:creationId xmlns:p14="http://schemas.microsoft.com/office/powerpoint/2010/main" val="6571872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8836"/>
            <a:ext cx="9144000" cy="868958"/>
          </a:xfrm>
        </p:spPr>
        <p:txBody>
          <a:bodyPr>
            <a:normAutofit/>
          </a:bodyPr>
          <a:lstStyle/>
          <a:p>
            <a:r>
              <a:rPr lang="fr-FR" sz="3600" b="1" dirty="0" smtClean="0">
                <a:latin typeface="Times New Roman" panose="02020603050405020304" pitchFamily="18" charset="0"/>
                <a:cs typeface="Times New Roman" panose="02020603050405020304" pitchFamily="18" charset="0"/>
              </a:rPr>
              <a:t>2.2.2 Les </a:t>
            </a:r>
            <a:r>
              <a:rPr lang="fr-FR" sz="3600" b="1" dirty="0">
                <a:latin typeface="Times New Roman" panose="02020603050405020304" pitchFamily="18" charset="0"/>
                <a:cs typeface="Times New Roman" panose="02020603050405020304" pitchFamily="18" charset="0"/>
              </a:rPr>
              <a:t>bases de </a:t>
            </a:r>
            <a:r>
              <a:rPr lang="fr-FR" sz="3600" b="1" dirty="0" smtClean="0">
                <a:latin typeface="Times New Roman" panose="02020603050405020304" pitchFamily="18" charset="0"/>
                <a:cs typeface="Times New Roman" panose="02020603050405020304" pitchFamily="18" charset="0"/>
              </a:rPr>
              <a:t>données orientées </a:t>
            </a:r>
            <a:r>
              <a:rPr lang="fr-FR" sz="3600" b="1" dirty="0">
                <a:latin typeface="Times New Roman" panose="02020603050405020304" pitchFamily="18" charset="0"/>
                <a:cs typeface="Times New Roman" panose="02020603050405020304" pitchFamily="18" charset="0"/>
              </a:rPr>
              <a:t>colonnes</a:t>
            </a:r>
          </a:p>
        </p:txBody>
      </p:sp>
      <p:sp>
        <p:nvSpPr>
          <p:cNvPr id="3" name="Espace réservé du contenu 2"/>
          <p:cNvSpPr>
            <a:spLocks noGrp="1"/>
          </p:cNvSpPr>
          <p:nvPr>
            <p:ph idx="1"/>
          </p:nvPr>
        </p:nvSpPr>
        <p:spPr>
          <a:xfrm>
            <a:off x="0" y="840122"/>
            <a:ext cx="8686800" cy="5286041"/>
          </a:xfrm>
        </p:spPr>
        <p:txBody>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Ce </a:t>
            </a:r>
            <a:r>
              <a:rPr lang="fr-FR" dirty="0" smtClean="0">
                <a:latin typeface="Times New Roman" panose="02020603050405020304" pitchFamily="18" charset="0"/>
                <a:cs typeface="Times New Roman" panose="02020603050405020304" pitchFamily="18" charset="0"/>
              </a:rPr>
              <a:t>modèle </a:t>
            </a:r>
            <a:r>
              <a:rPr lang="fr-FR" dirty="0">
                <a:latin typeface="Times New Roman" panose="02020603050405020304" pitchFamily="18" charset="0"/>
                <a:cs typeface="Times New Roman" panose="02020603050405020304" pitchFamily="18" charset="0"/>
              </a:rPr>
              <a:t>ressemble `a </a:t>
            </a:r>
            <a:r>
              <a:rPr lang="fr-FR" dirty="0" smtClean="0">
                <a:latin typeface="Times New Roman" panose="02020603050405020304" pitchFamily="18" charset="0"/>
                <a:cs typeface="Times New Roman" panose="02020603050405020304" pitchFamily="18" charset="0"/>
              </a:rPr>
              <a:t>première </a:t>
            </a:r>
            <a:r>
              <a:rPr lang="fr-FR" dirty="0">
                <a:latin typeface="Times New Roman" panose="02020603050405020304" pitchFamily="18" charset="0"/>
                <a:cs typeface="Times New Roman" panose="02020603050405020304" pitchFamily="18" charset="0"/>
              </a:rPr>
              <a:t>vue `a une table dans un SGBD relationnel `a la </a:t>
            </a:r>
            <a:r>
              <a:rPr lang="fr-FR" dirty="0" smtClean="0">
                <a:latin typeface="Times New Roman" panose="02020603050405020304" pitchFamily="18" charset="0"/>
                <a:cs typeface="Times New Roman" panose="02020603050405020304" pitchFamily="18" charset="0"/>
              </a:rPr>
              <a:t>différence </a:t>
            </a:r>
            <a:r>
              <a:rPr lang="fr-FR" dirty="0">
                <a:latin typeface="Times New Roman" panose="02020603050405020304" pitchFamily="18" charset="0"/>
                <a:cs typeface="Times New Roman" panose="02020603050405020304" pitchFamily="18" charset="0"/>
              </a:rPr>
              <a:t>que le nombre de colonnes est dynamique. En effet, le nombre de colonnes peut varier d’un enregistrement `a un autre ce qui </a:t>
            </a:r>
            <a:r>
              <a:rPr lang="fr-FR" dirty="0" smtClean="0">
                <a:latin typeface="Times New Roman" panose="02020603050405020304" pitchFamily="18" charset="0"/>
                <a:cs typeface="Times New Roman" panose="02020603050405020304" pitchFamily="18" charset="0"/>
              </a:rPr>
              <a:t>évite </a:t>
            </a:r>
            <a:r>
              <a:rPr lang="fr-FR" dirty="0">
                <a:latin typeface="Times New Roman" panose="02020603050405020304" pitchFamily="18" charset="0"/>
                <a:cs typeface="Times New Roman" panose="02020603050405020304" pitchFamily="18" charset="0"/>
              </a:rPr>
              <a:t>de retrouver des colonnes ayant des valeurs </a:t>
            </a:r>
            <a:r>
              <a:rPr lang="fr-FR" dirty="0" smtClean="0">
                <a:latin typeface="Times New Roman" panose="02020603050405020304" pitchFamily="18" charset="0"/>
                <a:cs typeface="Times New Roman" panose="02020603050405020304" pitchFamily="18" charset="0"/>
              </a:rPr>
              <a:t>NULL.</a:t>
            </a:r>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2239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endParaRPr lang="fr-FR"/>
          </a:p>
        </p:txBody>
      </p:sp>
      <p:pic>
        <p:nvPicPr>
          <p:cNvPr id="4" name="Image 3"/>
          <p:cNvPicPr>
            <a:picLocks noChangeAspect="1"/>
          </p:cNvPicPr>
          <p:nvPr/>
        </p:nvPicPr>
        <p:blipFill>
          <a:blip r:embed="rId2"/>
          <a:stretch>
            <a:fillRect/>
          </a:stretch>
        </p:blipFill>
        <p:spPr>
          <a:xfrm>
            <a:off x="0" y="116544"/>
            <a:ext cx="9059592" cy="6840848"/>
          </a:xfrm>
          <a:prstGeom prst="rect">
            <a:avLst/>
          </a:prstGeom>
        </p:spPr>
      </p:pic>
    </p:spTree>
    <p:extLst>
      <p:ext uri="{BB962C8B-B14F-4D97-AF65-F5344CB8AC3E}">
        <p14:creationId xmlns:p14="http://schemas.microsoft.com/office/powerpoint/2010/main" val="392313960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4" name="Espace réservé du contenu 3"/>
          <p:cNvPicPr>
            <a:picLocks noChangeAspect="1"/>
          </p:cNvPicPr>
          <p:nvPr/>
        </p:nvPicPr>
        <p:blipFill>
          <a:blip r:embed="rId2"/>
          <a:stretch>
            <a:fillRect/>
          </a:stretch>
        </p:blipFill>
        <p:spPr>
          <a:xfrm>
            <a:off x="0" y="-25112"/>
            <a:ext cx="8989255" cy="6883112"/>
          </a:xfrm>
          <a:prstGeom prst="rect">
            <a:avLst/>
          </a:prstGeom>
        </p:spPr>
      </p:pic>
    </p:spTree>
    <p:extLst>
      <p:ext uri="{BB962C8B-B14F-4D97-AF65-F5344CB8AC3E}">
        <p14:creationId xmlns:p14="http://schemas.microsoft.com/office/powerpoint/2010/main" val="87581842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107504" y="260648"/>
            <a:ext cx="8856984" cy="6597352"/>
          </a:xfrm>
          <a:prstGeom prst="rect">
            <a:avLst/>
          </a:prstGeom>
        </p:spPr>
      </p:pic>
    </p:spTree>
    <p:extLst>
      <p:ext uri="{BB962C8B-B14F-4D97-AF65-F5344CB8AC3E}">
        <p14:creationId xmlns:p14="http://schemas.microsoft.com/office/powerpoint/2010/main" val="17772086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marL="0" indent="457200" algn="just">
              <a:spcBef>
                <a:spcPts val="0"/>
              </a:spcBef>
              <a:buNone/>
            </a:pPr>
            <a:r>
              <a:rPr lang="fr-FR" dirty="0">
                <a:latin typeface="Times New Roman" panose="02020603050405020304" pitchFamily="18" charset="0"/>
                <a:cs typeface="Times New Roman" panose="02020603050405020304" pitchFamily="18" charset="0"/>
              </a:rPr>
              <a:t>Bien que l’on obtienne au final un </a:t>
            </a:r>
            <a:r>
              <a:rPr lang="fr-FR" dirty="0" smtClean="0">
                <a:latin typeface="Times New Roman" panose="02020603050405020304" pitchFamily="18" charset="0"/>
                <a:cs typeface="Times New Roman" panose="02020603050405020304" pitchFamily="18" charset="0"/>
              </a:rPr>
              <a:t>schéma </a:t>
            </a:r>
            <a:r>
              <a:rPr lang="fr-FR" dirty="0">
                <a:latin typeface="Times New Roman" panose="02020603050405020304" pitchFamily="18" charset="0"/>
                <a:cs typeface="Times New Roman" panose="02020603050405020304" pitchFamily="18" charset="0"/>
              </a:rPr>
              <a:t>relativement proche des bases documentaires, l’organisation sous-jacente des données permet `a ces bases d’exceller dans les traitements d’analyse de données et dans les traitements massifs,</a:t>
            </a:r>
            <a:r>
              <a:rPr lang="da-DK" dirty="0">
                <a:latin typeface="Times New Roman" panose="02020603050405020304" pitchFamily="18" charset="0"/>
                <a:cs typeface="Times New Roman" panose="02020603050405020304" pitchFamily="18" charset="0"/>
              </a:rPr>
              <a:t> notamment via des op´erations de type Map-Reduce.</a:t>
            </a:r>
          </a:p>
          <a:p>
            <a:pPr marL="0" indent="457200" algn="just">
              <a:spcBef>
                <a:spcPts val="0"/>
              </a:spcBef>
              <a:buNone/>
            </a:pPr>
            <a:r>
              <a:rPr lang="fr-FR" dirty="0">
                <a:latin typeface="Times New Roman" panose="02020603050405020304" pitchFamily="18" charset="0"/>
                <a:cs typeface="Times New Roman" panose="02020603050405020304" pitchFamily="18" charset="0"/>
              </a:rPr>
              <a:t>Bien que l’on trouve des variations en fonction de la base considérée, les concepts essentiels sont les suivant</a:t>
            </a:r>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0" y="4365104"/>
            <a:ext cx="9144000" cy="2492896"/>
          </a:xfrm>
          <a:prstGeom prst="rect">
            <a:avLst/>
          </a:prstGeom>
        </p:spPr>
      </p:pic>
    </p:spTree>
    <p:extLst>
      <p:ext uri="{BB962C8B-B14F-4D97-AF65-F5344CB8AC3E}">
        <p14:creationId xmlns:p14="http://schemas.microsoft.com/office/powerpoint/2010/main" val="347237807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4638"/>
            <a:ext cx="9144000" cy="1143000"/>
          </a:xfrm>
        </p:spPr>
        <p:txBody>
          <a:bodyPr>
            <a:normAutofit fontScale="90000"/>
          </a:bodyPr>
          <a:lstStyle/>
          <a:p>
            <a:r>
              <a:rPr lang="fr-FR" dirty="0" smtClean="0"/>
              <a:t>Les outils utilises pour la </a:t>
            </a:r>
            <a:r>
              <a:rPr lang="fr-FR" dirty="0" err="1" smtClean="0"/>
              <a:t>BDnoSQL</a:t>
            </a:r>
            <a:r>
              <a:rPr lang="fr-FR" dirty="0" smtClean="0"/>
              <a:t> orientée colonnes</a:t>
            </a:r>
            <a:endParaRPr lang="fr-FR" dirty="0"/>
          </a:p>
        </p:txBody>
      </p:sp>
      <p:pic>
        <p:nvPicPr>
          <p:cNvPr id="4" name="Espace réservé du contenu 3"/>
          <p:cNvPicPr>
            <a:picLocks noGrp="1" noChangeAspect="1"/>
          </p:cNvPicPr>
          <p:nvPr>
            <p:ph idx="1"/>
          </p:nvPr>
        </p:nvPicPr>
        <p:blipFill>
          <a:blip r:embed="rId2"/>
          <a:stretch>
            <a:fillRect/>
          </a:stretch>
        </p:blipFill>
        <p:spPr>
          <a:xfrm>
            <a:off x="395536" y="1395771"/>
            <a:ext cx="7953375" cy="5251721"/>
          </a:xfrm>
          <a:prstGeom prst="rect">
            <a:avLst/>
          </a:prstGeom>
        </p:spPr>
      </p:pic>
    </p:spTree>
    <p:extLst>
      <p:ext uri="{BB962C8B-B14F-4D97-AF65-F5344CB8AC3E}">
        <p14:creationId xmlns:p14="http://schemas.microsoft.com/office/powerpoint/2010/main" val="12619149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88640"/>
            <a:ext cx="9036496" cy="6552728"/>
          </a:xfrm>
        </p:spPr>
        <p:txBody>
          <a:bodyPr>
            <a:normAutofit/>
          </a:bodyPr>
          <a:lstStyle/>
          <a:p>
            <a:pPr algn="just"/>
            <a:r>
              <a:rPr lang="fr-FR" sz="3600" dirty="0">
                <a:latin typeface="Times New Roman" panose="02020603050405020304" pitchFamily="18" charset="0"/>
                <a:cs typeface="Times New Roman" panose="02020603050405020304" pitchFamily="18" charset="0"/>
              </a:rPr>
              <a:t>Implémentations les plus connues : </a:t>
            </a:r>
            <a:endParaRPr lang="fr-FR" sz="3600" dirty="0" smtClean="0">
              <a:latin typeface="Times New Roman" panose="02020603050405020304" pitchFamily="18" charset="0"/>
              <a:cs typeface="Times New Roman" panose="02020603050405020304" pitchFamily="18" charset="0"/>
            </a:endParaRPr>
          </a:p>
          <a:p>
            <a:pPr marL="0" indent="0" algn="just">
              <a:buNone/>
            </a:pPr>
            <a:r>
              <a:rPr lang="fr-FR" sz="3600" dirty="0" smtClean="0">
                <a:latin typeface="Times New Roman" panose="02020603050405020304" pitchFamily="18" charset="0"/>
                <a:cs typeface="Times New Roman" panose="02020603050405020304" pitchFamily="18" charset="0"/>
              </a:rPr>
              <a:t> 	</a:t>
            </a:r>
            <a:r>
              <a:rPr lang="fr-FR" sz="3600" dirty="0" err="1" smtClean="0">
                <a:latin typeface="Times New Roman" panose="02020603050405020304" pitchFamily="18" charset="0"/>
                <a:cs typeface="Times New Roman" panose="02020603050405020304" pitchFamily="18" charset="0"/>
              </a:rPr>
              <a:t>HBase</a:t>
            </a:r>
            <a:r>
              <a:rPr lang="fr-FR" sz="3600" dirty="0" smtClean="0">
                <a:latin typeface="Times New Roman" panose="02020603050405020304" pitchFamily="18" charset="0"/>
                <a:cs typeface="Times New Roman" panose="02020603050405020304" pitchFamily="18" charset="0"/>
              </a:rPr>
              <a:t> </a:t>
            </a:r>
            <a:r>
              <a:rPr lang="fr-FR" sz="3600" dirty="0">
                <a:latin typeface="Times New Roman" panose="02020603050405020304" pitchFamily="18" charset="0"/>
                <a:cs typeface="Times New Roman" panose="02020603050405020304" pitchFamily="18" charset="0"/>
              </a:rPr>
              <a:t>(Open Source de </a:t>
            </a:r>
            <a:r>
              <a:rPr lang="fr-FR" sz="3600" dirty="0" err="1">
                <a:latin typeface="Times New Roman" panose="02020603050405020304" pitchFamily="18" charset="0"/>
                <a:cs typeface="Times New Roman" panose="02020603050405020304" pitchFamily="18" charset="0"/>
              </a:rPr>
              <a:t>BigTable</a:t>
            </a:r>
            <a:r>
              <a:rPr lang="fr-FR" sz="3600" dirty="0">
                <a:latin typeface="Times New Roman" panose="02020603050405020304" pitchFamily="18" charset="0"/>
                <a:cs typeface="Times New Roman" panose="02020603050405020304" pitchFamily="18" charset="0"/>
              </a:rPr>
              <a:t> de Google utilisé pour l'indexation des pages web, Google </a:t>
            </a:r>
            <a:r>
              <a:rPr lang="fr-FR" sz="3600" dirty="0" err="1">
                <a:latin typeface="Times New Roman" panose="02020603050405020304" pitchFamily="18" charset="0"/>
                <a:cs typeface="Times New Roman" panose="02020603050405020304" pitchFamily="18" charset="0"/>
              </a:rPr>
              <a:t>Earth</a:t>
            </a:r>
            <a:r>
              <a:rPr lang="fr-FR" sz="3600" dirty="0">
                <a:latin typeface="Times New Roman" panose="02020603050405020304" pitchFamily="18" charset="0"/>
                <a:cs typeface="Times New Roman" panose="02020603050405020304" pitchFamily="18" charset="0"/>
              </a:rPr>
              <a:t>, Google </a:t>
            </a:r>
            <a:r>
              <a:rPr lang="fr-FR" sz="3600" dirty="0" err="1">
                <a:latin typeface="Times New Roman" panose="02020603050405020304" pitchFamily="18" charset="0"/>
                <a:cs typeface="Times New Roman" panose="02020603050405020304" pitchFamily="18" charset="0"/>
              </a:rPr>
              <a:t>analytics</a:t>
            </a:r>
            <a:r>
              <a:rPr lang="fr-FR" sz="3600" dirty="0">
                <a:latin typeface="Times New Roman" panose="02020603050405020304" pitchFamily="18" charset="0"/>
                <a:cs typeface="Times New Roman" panose="02020603050405020304" pitchFamily="18" charset="0"/>
              </a:rPr>
              <a:t>, ...) </a:t>
            </a:r>
          </a:p>
          <a:p>
            <a:pPr marL="0" indent="0" algn="just">
              <a:buNone/>
            </a:pPr>
            <a:r>
              <a:rPr lang="fr-FR" sz="3600" dirty="0" smtClean="0">
                <a:latin typeface="Times New Roman" panose="02020603050405020304" pitchFamily="18" charset="0"/>
                <a:cs typeface="Times New Roman" panose="02020603050405020304" pitchFamily="18" charset="0"/>
              </a:rPr>
              <a:t>	Cassandra </a:t>
            </a:r>
            <a:r>
              <a:rPr lang="fr-FR" sz="3600" dirty="0">
                <a:latin typeface="Times New Roman" panose="02020603050405020304" pitchFamily="18" charset="0"/>
                <a:cs typeface="Times New Roman" panose="02020603050405020304" pitchFamily="18" charset="0"/>
              </a:rPr>
              <a:t>(fondation Apache qui respecte l’architecture distribuée de Dynamo d’Amazon, projet né de chez Facebook) </a:t>
            </a:r>
            <a:endParaRPr lang="fr-FR" sz="3600" dirty="0" smtClean="0">
              <a:latin typeface="Times New Roman" panose="02020603050405020304" pitchFamily="18" charset="0"/>
              <a:cs typeface="Times New Roman" panose="02020603050405020304" pitchFamily="18" charset="0"/>
            </a:endParaRPr>
          </a:p>
          <a:p>
            <a:pPr marL="0" indent="0" algn="just">
              <a:buNone/>
            </a:pPr>
            <a:r>
              <a:rPr lang="fr-FR" sz="3600" dirty="0" smtClean="0">
                <a:latin typeface="Times New Roman" panose="02020603050405020304" pitchFamily="18" charset="0"/>
                <a:cs typeface="Times New Roman" panose="02020603050405020304" pitchFamily="18" charset="0"/>
              </a:rPr>
              <a:t> </a:t>
            </a:r>
            <a:r>
              <a:rPr lang="fr-FR" sz="3600" dirty="0" err="1">
                <a:latin typeface="Times New Roman" panose="02020603050405020304" pitchFamily="18" charset="0"/>
                <a:cs typeface="Times New Roman" panose="02020603050405020304" pitchFamily="18" charset="0"/>
              </a:rPr>
              <a:t>SimpleDB</a:t>
            </a:r>
            <a:r>
              <a:rPr lang="fr-FR" sz="3600" dirty="0">
                <a:latin typeface="Times New Roman" panose="02020603050405020304" pitchFamily="18" charset="0"/>
                <a:cs typeface="Times New Roman" panose="02020603050405020304" pitchFamily="18" charset="0"/>
              </a:rPr>
              <a:t> de Amazon.</a:t>
            </a:r>
          </a:p>
        </p:txBody>
      </p:sp>
    </p:spTree>
    <p:extLst>
      <p:ext uri="{BB962C8B-B14F-4D97-AF65-F5344CB8AC3E}">
        <p14:creationId xmlns:p14="http://schemas.microsoft.com/office/powerpoint/2010/main" val="35162487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89" y="0"/>
            <a:ext cx="9144000" cy="1143000"/>
          </a:xfrm>
        </p:spPr>
        <p:txBody>
          <a:bodyPr>
            <a:normAutofit fontScale="90000"/>
          </a:bodyPr>
          <a:lstStyle/>
          <a:p>
            <a:r>
              <a:rPr lang="fr-FR" b="1" dirty="0" smtClean="0">
                <a:latin typeface="Times New Roman" panose="02020603050405020304" pitchFamily="18" charset="0"/>
                <a:cs typeface="Times New Roman" panose="02020603050405020304" pitchFamily="18" charset="0"/>
              </a:rPr>
              <a:t>2.2.3 </a:t>
            </a:r>
            <a:r>
              <a:rPr lang="fr-FR" b="1" dirty="0">
                <a:latin typeface="Times New Roman" panose="02020603050405020304" pitchFamily="18" charset="0"/>
                <a:cs typeface="Times New Roman" panose="02020603050405020304" pitchFamily="18" charset="0"/>
              </a:rPr>
              <a:t>Les bases de </a:t>
            </a:r>
            <a:r>
              <a:rPr lang="fr-FR" b="1" dirty="0" smtClean="0">
                <a:latin typeface="Times New Roman" panose="02020603050405020304" pitchFamily="18" charset="0"/>
                <a:cs typeface="Times New Roman" panose="02020603050405020304" pitchFamily="18" charset="0"/>
              </a:rPr>
              <a:t>données orientées </a:t>
            </a:r>
            <a:r>
              <a:rPr lang="fr-FR" b="1" dirty="0">
                <a:latin typeface="Times New Roman" panose="02020603050405020304" pitchFamily="18" charset="0"/>
                <a:cs typeface="Times New Roman" panose="02020603050405020304" pitchFamily="18" charset="0"/>
              </a:rPr>
              <a:t>document</a:t>
            </a:r>
          </a:p>
        </p:txBody>
      </p:sp>
      <p:sp>
        <p:nvSpPr>
          <p:cNvPr id="3" name="Espace réservé du contenu 2"/>
          <p:cNvSpPr>
            <a:spLocks noGrp="1"/>
          </p:cNvSpPr>
          <p:nvPr>
            <p:ph idx="1"/>
          </p:nvPr>
        </p:nvSpPr>
        <p:spPr>
          <a:xfrm>
            <a:off x="-1" y="1143000"/>
            <a:ext cx="9124111" cy="5715000"/>
          </a:xfrm>
        </p:spPr>
        <p:txBody>
          <a:bodyPr/>
          <a:lstStyle/>
          <a:p>
            <a:pPr marL="0" indent="457200" algn="just">
              <a:spcBef>
                <a:spcPts val="0"/>
              </a:spcBef>
              <a:buNone/>
            </a:pPr>
            <a:r>
              <a:rPr lang="fr-FR" sz="3600" dirty="0">
                <a:latin typeface="Times New Roman" panose="02020603050405020304" pitchFamily="18" charset="0"/>
                <a:cs typeface="Times New Roman" panose="02020603050405020304" pitchFamily="18" charset="0"/>
              </a:rPr>
              <a:t>Les </a:t>
            </a:r>
            <a:r>
              <a:rPr lang="fr-FR" sz="3600" dirty="0" smtClean="0">
                <a:latin typeface="Times New Roman" panose="02020603050405020304" pitchFamily="18" charset="0"/>
                <a:cs typeface="Times New Roman" panose="02020603050405020304" pitchFamily="18" charset="0"/>
              </a:rPr>
              <a:t>systèmes </a:t>
            </a:r>
            <a:r>
              <a:rPr lang="fr-FR" sz="3600" dirty="0">
                <a:latin typeface="Times New Roman" panose="02020603050405020304" pitchFamily="18" charset="0"/>
                <a:cs typeface="Times New Roman" panose="02020603050405020304" pitchFamily="18" charset="0"/>
              </a:rPr>
              <a:t>de type documentaire sont </a:t>
            </a:r>
            <a:r>
              <a:rPr lang="fr-FR" sz="3600" dirty="0" smtClean="0">
                <a:latin typeface="Times New Roman" panose="02020603050405020304" pitchFamily="18" charset="0"/>
                <a:cs typeface="Times New Roman" panose="02020603050405020304" pitchFamily="18" charset="0"/>
              </a:rPr>
              <a:t>composes </a:t>
            </a:r>
            <a:r>
              <a:rPr lang="fr-FR" sz="3600" dirty="0">
                <a:latin typeface="Times New Roman" panose="02020603050405020304" pitchFamily="18" charset="0"/>
                <a:cs typeface="Times New Roman" panose="02020603050405020304" pitchFamily="18" charset="0"/>
              </a:rPr>
              <a:t>de collections de documents. La </a:t>
            </a:r>
            <a:r>
              <a:rPr lang="fr-FR" sz="3600" dirty="0" smtClean="0">
                <a:latin typeface="Times New Roman" panose="02020603050405020304" pitchFamily="18" charset="0"/>
                <a:cs typeface="Times New Roman" panose="02020603050405020304" pitchFamily="18" charset="0"/>
              </a:rPr>
              <a:t>représentation </a:t>
            </a:r>
            <a:r>
              <a:rPr lang="fr-FR" sz="3600" dirty="0">
                <a:latin typeface="Times New Roman" panose="02020603050405020304" pitchFamily="18" charset="0"/>
                <a:cs typeface="Times New Roman" panose="02020603050405020304" pitchFamily="18" charset="0"/>
              </a:rPr>
              <a:t>en document est une sorte d’extension du concept </a:t>
            </a:r>
            <a:r>
              <a:rPr lang="fr-FR" sz="3600" dirty="0" smtClean="0">
                <a:latin typeface="Times New Roman" panose="02020603050405020304" pitchFamily="18" charset="0"/>
                <a:cs typeface="Times New Roman" panose="02020603050405020304" pitchFamily="18" charset="0"/>
              </a:rPr>
              <a:t>clé/valeur</a:t>
            </a:r>
            <a:r>
              <a:rPr lang="fr-FR" sz="3600" dirty="0">
                <a:latin typeface="Times New Roman" panose="02020603050405020304" pitchFamily="18" charset="0"/>
                <a:cs typeface="Times New Roman" panose="02020603050405020304" pitchFamily="18" charset="0"/>
              </a:rPr>
              <a:t>, qui se compose de champs et des valeurs </a:t>
            </a:r>
            <a:r>
              <a:rPr lang="fr-FR" sz="3600" dirty="0" smtClean="0">
                <a:latin typeface="Times New Roman" panose="02020603050405020304" pitchFamily="18" charset="0"/>
                <a:cs typeface="Times New Roman" panose="02020603050405020304" pitchFamily="18" charset="0"/>
              </a:rPr>
              <a:t>associées. </a:t>
            </a:r>
            <a:r>
              <a:rPr lang="fr-FR" sz="3600" dirty="0">
                <a:latin typeface="Times New Roman" panose="02020603050405020304" pitchFamily="18" charset="0"/>
                <a:cs typeface="Times New Roman" panose="02020603050405020304" pitchFamily="18" charset="0"/>
              </a:rPr>
              <a:t>Ces </a:t>
            </a:r>
            <a:r>
              <a:rPr lang="fr-FR" sz="3600" dirty="0" smtClean="0">
                <a:latin typeface="Times New Roman" panose="02020603050405020304" pitchFamily="18" charset="0"/>
                <a:cs typeface="Times New Roman" panose="02020603050405020304" pitchFamily="18" charset="0"/>
              </a:rPr>
              <a:t>dernières </a:t>
            </a:r>
            <a:r>
              <a:rPr lang="fr-FR" sz="3600" dirty="0">
                <a:latin typeface="Times New Roman" panose="02020603050405020304" pitchFamily="18" charset="0"/>
                <a:cs typeface="Times New Roman" panose="02020603050405020304" pitchFamily="18" charset="0"/>
              </a:rPr>
              <a:t>peuvent </a:t>
            </a:r>
            <a:r>
              <a:rPr lang="fr-FR" sz="3600" dirty="0" smtClean="0">
                <a:latin typeface="Times New Roman" panose="02020603050405020304" pitchFamily="18" charset="0"/>
                <a:cs typeface="Times New Roman" panose="02020603050405020304" pitchFamily="18" charset="0"/>
              </a:rPr>
              <a:t>être, </a:t>
            </a:r>
            <a:r>
              <a:rPr lang="fr-FR" sz="3600" dirty="0">
                <a:latin typeface="Times New Roman" panose="02020603050405020304" pitchFamily="18" charset="0"/>
                <a:cs typeface="Times New Roman" panose="02020603050405020304" pitchFamily="18" charset="0"/>
              </a:rPr>
              <a:t>soit d’un type simple(entier, chaine </a:t>
            </a:r>
            <a:r>
              <a:rPr lang="fr-FR" sz="3600" dirty="0" smtClean="0">
                <a:latin typeface="Times New Roman" panose="02020603050405020304" pitchFamily="18" charset="0"/>
                <a:cs typeface="Times New Roman" panose="02020603050405020304" pitchFamily="18" charset="0"/>
              </a:rPr>
              <a:t>de caractère, </a:t>
            </a:r>
            <a:r>
              <a:rPr lang="fr-FR" sz="3600" dirty="0">
                <a:latin typeface="Times New Roman" panose="02020603050405020304" pitchFamily="18" charset="0"/>
                <a:cs typeface="Times New Roman" panose="02020603050405020304" pitchFamily="18" charset="0"/>
              </a:rPr>
              <a:t>date, ...), soit </a:t>
            </a:r>
            <a:r>
              <a:rPr lang="fr-FR" sz="3600" dirty="0" smtClean="0">
                <a:latin typeface="Times New Roman" panose="02020603050405020304" pitchFamily="18" charset="0"/>
                <a:cs typeface="Times New Roman" panose="02020603050405020304" pitchFamily="18" charset="0"/>
              </a:rPr>
              <a:t>elles-mêmes composées </a:t>
            </a:r>
            <a:r>
              <a:rPr lang="fr-FR" sz="3600" dirty="0">
                <a:latin typeface="Times New Roman" panose="02020603050405020304" pitchFamily="18" charset="0"/>
                <a:cs typeface="Times New Roman" panose="02020603050405020304" pitchFamily="18" charset="0"/>
              </a:rPr>
              <a:t>de </a:t>
            </a:r>
            <a:r>
              <a:rPr lang="fr-FR" sz="3600" dirty="0" smtClean="0">
                <a:latin typeface="Times New Roman" panose="02020603050405020304" pitchFamily="18" charset="0"/>
                <a:cs typeface="Times New Roman" panose="02020603050405020304" pitchFamily="18" charset="0"/>
              </a:rPr>
              <a:t>plusieurs </a:t>
            </a:r>
            <a:r>
              <a:rPr lang="fr-FR" sz="3600" dirty="0">
                <a:latin typeface="Times New Roman" panose="02020603050405020304" pitchFamily="18" charset="0"/>
                <a:cs typeface="Times New Roman" panose="02020603050405020304" pitchFamily="18" charset="0"/>
              </a:rPr>
              <a:t>couples </a:t>
            </a:r>
            <a:r>
              <a:rPr lang="fr-FR" sz="3600" dirty="0" smtClean="0">
                <a:latin typeface="Times New Roman" panose="02020603050405020304" pitchFamily="18" charset="0"/>
                <a:cs typeface="Times New Roman" panose="02020603050405020304" pitchFamily="18" charset="0"/>
              </a:rPr>
              <a:t>clé/valeur.</a:t>
            </a:r>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51335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0" y="260648"/>
            <a:ext cx="8892480" cy="5775000"/>
          </a:xfrm>
          <a:prstGeom prst="rect">
            <a:avLst/>
          </a:prstGeom>
        </p:spPr>
      </p:pic>
      <p:sp>
        <p:nvSpPr>
          <p:cNvPr id="3" name="Rectangle 2"/>
          <p:cNvSpPr/>
          <p:nvPr/>
        </p:nvSpPr>
        <p:spPr>
          <a:xfrm>
            <a:off x="827584" y="6035648"/>
            <a:ext cx="5027915" cy="646331"/>
          </a:xfrm>
          <a:prstGeom prst="rect">
            <a:avLst/>
          </a:prstGeom>
        </p:spPr>
        <p:txBody>
          <a:bodyPr wrap="none">
            <a:spAutoFit/>
          </a:bodyPr>
          <a:lstStyle/>
          <a:p>
            <a:r>
              <a:rPr lang="fr-FR" dirty="0"/>
              <a:t>JSON (JavaScript Object Notation</a:t>
            </a:r>
            <a:r>
              <a:rPr lang="fr-FR" dirty="0" smtClean="0"/>
              <a:t>).</a:t>
            </a:r>
          </a:p>
          <a:p>
            <a:r>
              <a:rPr lang="fr-FR" dirty="0"/>
              <a:t>Un fichier au format JSON a pour extension ".</a:t>
            </a:r>
            <a:r>
              <a:rPr lang="fr-FR" dirty="0" err="1"/>
              <a:t>json</a:t>
            </a:r>
            <a:r>
              <a:rPr lang="fr-FR" dirty="0"/>
              <a:t>". </a:t>
            </a:r>
          </a:p>
        </p:txBody>
      </p:sp>
    </p:spTree>
    <p:extLst>
      <p:ext uri="{BB962C8B-B14F-4D97-AF65-F5344CB8AC3E}">
        <p14:creationId xmlns:p14="http://schemas.microsoft.com/office/powerpoint/2010/main" val="124448934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30749" y="0"/>
            <a:ext cx="8229600" cy="796950"/>
          </a:xfrm>
        </p:spPr>
        <p:txBody>
          <a:bodyPr>
            <a:normAutofit fontScale="90000"/>
          </a:bodyPr>
          <a:lstStyle/>
          <a:p>
            <a:r>
              <a:rPr lang="fr-FR" dirty="0" smtClean="0"/>
              <a:t>Exemple du BDNR orientée document</a:t>
            </a:r>
            <a:endParaRPr lang="fr-FR" dirty="0"/>
          </a:p>
        </p:txBody>
      </p:sp>
      <p:pic>
        <p:nvPicPr>
          <p:cNvPr id="4" name="Espace réservé du contenu 3"/>
          <p:cNvPicPr>
            <a:picLocks noGrp="1" noChangeAspect="1"/>
          </p:cNvPicPr>
          <p:nvPr>
            <p:ph idx="1"/>
          </p:nvPr>
        </p:nvPicPr>
        <p:blipFill>
          <a:blip r:embed="rId2"/>
          <a:stretch>
            <a:fillRect/>
          </a:stretch>
        </p:blipFill>
        <p:spPr>
          <a:xfrm>
            <a:off x="323529" y="796950"/>
            <a:ext cx="8636820" cy="5664935"/>
          </a:xfrm>
          <a:prstGeom prst="rect">
            <a:avLst/>
          </a:prstGeom>
        </p:spPr>
      </p:pic>
    </p:spTree>
    <p:extLst>
      <p:ext uri="{BB962C8B-B14F-4D97-AF65-F5344CB8AC3E}">
        <p14:creationId xmlns:p14="http://schemas.microsoft.com/office/powerpoint/2010/main" val="23180269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4" name="Image 3"/>
          <p:cNvPicPr>
            <a:picLocks noChangeAspect="1"/>
          </p:cNvPicPr>
          <p:nvPr/>
        </p:nvPicPr>
        <p:blipFill>
          <a:blip r:embed="rId2"/>
          <a:stretch>
            <a:fillRect/>
          </a:stretch>
        </p:blipFill>
        <p:spPr>
          <a:xfrm>
            <a:off x="251521" y="654528"/>
            <a:ext cx="8956754" cy="6073092"/>
          </a:xfrm>
          <a:prstGeom prst="rect">
            <a:avLst/>
          </a:prstGeom>
        </p:spPr>
      </p:pic>
    </p:spTree>
    <p:extLst>
      <p:ext uri="{BB962C8B-B14F-4D97-AF65-F5344CB8AC3E}">
        <p14:creationId xmlns:p14="http://schemas.microsoft.com/office/powerpoint/2010/main" val="37159050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2673" y="17298"/>
            <a:ext cx="6563072" cy="571500"/>
          </a:xfrm>
        </p:spPr>
        <p:txBody>
          <a:bodyPr>
            <a:normAutofit fontScale="90000"/>
          </a:bodyPr>
          <a:lstStyle/>
          <a:p>
            <a:r>
              <a:rPr lang="fr-FR" b="1" dirty="0" smtClean="0">
                <a:latin typeface="Times New Roman" panose="02020603050405020304" pitchFamily="18" charset="0"/>
                <a:cs typeface="Times New Roman" panose="02020603050405020304" pitchFamily="18" charset="0"/>
              </a:rPr>
              <a:t>Exemple de collection sportif</a:t>
            </a:r>
            <a:endParaRPr lang="fr-FR" b="1" dirty="0">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2"/>
          <a:stretch>
            <a:fillRect/>
          </a:stretch>
        </p:blipFill>
        <p:spPr>
          <a:xfrm>
            <a:off x="107504" y="588798"/>
            <a:ext cx="9036496" cy="6269202"/>
          </a:xfrm>
          <a:prstGeom prst="rect">
            <a:avLst/>
          </a:prstGeom>
        </p:spPr>
      </p:pic>
    </p:spTree>
    <p:extLst>
      <p:ext uri="{BB962C8B-B14F-4D97-AF65-F5344CB8AC3E}">
        <p14:creationId xmlns:p14="http://schemas.microsoft.com/office/powerpoint/2010/main" val="9067387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251520" y="188640"/>
            <a:ext cx="8640960" cy="6299209"/>
          </a:xfrm>
          <a:prstGeom prst="rect">
            <a:avLst/>
          </a:prstGeom>
        </p:spPr>
      </p:pic>
    </p:spTree>
    <p:extLst>
      <p:ext uri="{BB962C8B-B14F-4D97-AF65-F5344CB8AC3E}">
        <p14:creationId xmlns:p14="http://schemas.microsoft.com/office/powerpoint/2010/main" val="34379828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0"/>
            <a:ext cx="8856984" cy="6126163"/>
          </a:xfrm>
        </p:spPr>
        <p:txBody>
          <a:bodyPr/>
          <a:lstStyle/>
          <a:p>
            <a:r>
              <a:rPr lang="fr-FR" sz="3600" dirty="0" smtClean="0"/>
              <a:t>Aucune structure au niveau des documents, c est une collection des documents malgré leur différence.</a:t>
            </a:r>
          </a:p>
          <a:p>
            <a:r>
              <a:rPr lang="fr-FR" sz="3600" dirty="0" smtClean="0"/>
              <a:t>Elle utilisée </a:t>
            </a:r>
            <a:r>
              <a:rPr lang="fr-FR" sz="3600" dirty="0"/>
              <a:t>q</a:t>
            </a:r>
            <a:r>
              <a:rPr lang="fr-FR" sz="3600" dirty="0" smtClean="0"/>
              <a:t>uand , in a aucune rigidité des données regroupées dans les documents.</a:t>
            </a:r>
          </a:p>
          <a:p>
            <a:r>
              <a:rPr lang="fr-FR" sz="3600" dirty="0" smtClean="0"/>
              <a:t>Les deux types de base </a:t>
            </a:r>
            <a:r>
              <a:rPr lang="fr-FR" sz="3600" dirty="0" err="1" smtClean="0"/>
              <a:t>noSQL</a:t>
            </a:r>
            <a:r>
              <a:rPr lang="fr-FR" sz="3600" dirty="0" smtClean="0"/>
              <a:t> sont les plus utilises</a:t>
            </a:r>
          </a:p>
          <a:p>
            <a:endParaRPr lang="fr-FR" dirty="0"/>
          </a:p>
        </p:txBody>
      </p:sp>
    </p:spTree>
    <p:extLst>
      <p:ext uri="{BB962C8B-B14F-4D97-AF65-F5344CB8AC3E}">
        <p14:creationId xmlns:p14="http://schemas.microsoft.com/office/powerpoint/2010/main" val="163206443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marL="0" indent="457200" algn="just">
              <a:spcBef>
                <a:spcPts val="0"/>
              </a:spcBef>
              <a:buNone/>
            </a:pPr>
            <a:r>
              <a:rPr lang="fr-FR" sz="2800" dirty="0" smtClean="0">
                <a:latin typeface="Times New Roman" panose="02020603050405020304" pitchFamily="18" charset="0"/>
                <a:cs typeface="Times New Roman" panose="02020603050405020304" pitchFamily="18" charset="0"/>
              </a:rPr>
              <a:t>Par </a:t>
            </a:r>
            <a:r>
              <a:rPr lang="fr-FR" sz="2800" dirty="0">
                <a:latin typeface="Times New Roman" panose="02020603050405020304" pitchFamily="18" charset="0"/>
                <a:cs typeface="Times New Roman" panose="02020603050405020304" pitchFamily="18" charset="0"/>
              </a:rPr>
              <a:t>ailleurs, les documents sont </a:t>
            </a:r>
            <a:r>
              <a:rPr lang="fr-FR" sz="2800" dirty="0" smtClean="0">
                <a:latin typeface="Times New Roman" panose="02020603050405020304" pitchFamily="18" charset="0"/>
                <a:cs typeface="Times New Roman" panose="02020603050405020304" pitchFamily="18" charset="0"/>
              </a:rPr>
              <a:t>organises </a:t>
            </a:r>
            <a:r>
              <a:rPr lang="fr-FR" sz="2800" dirty="0">
                <a:latin typeface="Times New Roman" panose="02020603050405020304" pitchFamily="18" charset="0"/>
                <a:cs typeface="Times New Roman" panose="02020603050405020304" pitchFamily="18" charset="0"/>
              </a:rPr>
              <a:t>de </a:t>
            </a:r>
            <a:r>
              <a:rPr lang="fr-FR" sz="2800" dirty="0" smtClean="0">
                <a:latin typeface="Times New Roman" panose="02020603050405020304" pitchFamily="18" charset="0"/>
                <a:cs typeface="Times New Roman" panose="02020603050405020304" pitchFamily="18" charset="0"/>
              </a:rPr>
              <a:t>manière hiérarchique </a:t>
            </a:r>
            <a:r>
              <a:rPr lang="fr-FR" sz="2800" dirty="0">
                <a:latin typeface="Times New Roman" panose="02020603050405020304" pitchFamily="18" charset="0"/>
                <a:cs typeface="Times New Roman" panose="02020603050405020304" pitchFamily="18" charset="0"/>
              </a:rPr>
              <a:t>`a l’image de ce que permettent les fichiers de type XML ou JSON, elles sont dites  Schemaless </a:t>
            </a:r>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ou en </a:t>
            </a:r>
            <a:r>
              <a:rPr lang="fr-FR" sz="2800" dirty="0" smtClean="0">
                <a:latin typeface="Times New Roman" panose="02020603050405020304" pitchFamily="18" charset="0"/>
                <a:cs typeface="Times New Roman" panose="02020603050405020304" pitchFamily="18" charset="0"/>
              </a:rPr>
              <a:t>français  </a:t>
            </a:r>
            <a:r>
              <a:rPr lang="fr-FR" sz="2800" dirty="0">
                <a:latin typeface="Times New Roman" panose="02020603050405020304" pitchFamily="18" charset="0"/>
                <a:cs typeface="Times New Roman" panose="02020603050405020304" pitchFamily="18" charset="0"/>
              </a:rPr>
              <a:t>sans </a:t>
            </a:r>
            <a:r>
              <a:rPr lang="fr-FR" sz="2800" dirty="0" smtClean="0">
                <a:latin typeface="Times New Roman" panose="02020603050405020304" pitchFamily="18" charset="0"/>
                <a:cs typeface="Times New Roman" panose="02020603050405020304" pitchFamily="18" charset="0"/>
              </a:rPr>
              <a:t>schéma défini  </a:t>
            </a:r>
            <a:r>
              <a:rPr lang="fr-FR" sz="2800" dirty="0">
                <a:latin typeface="Times New Roman" panose="02020603050405020304" pitchFamily="18" charset="0"/>
                <a:cs typeface="Times New Roman" panose="02020603050405020304" pitchFamily="18" charset="0"/>
              </a:rPr>
              <a:t>ce qui signifie : il n’est pas </a:t>
            </a:r>
            <a:r>
              <a:rPr lang="fr-FR" sz="2800" dirty="0" smtClean="0">
                <a:latin typeface="Times New Roman" panose="02020603050405020304" pitchFamily="18" charset="0"/>
                <a:cs typeface="Times New Roman" panose="02020603050405020304" pitchFamily="18" charset="0"/>
              </a:rPr>
              <a:t>nécessaire </a:t>
            </a:r>
            <a:r>
              <a:rPr lang="fr-FR" sz="2800" dirty="0">
                <a:latin typeface="Times New Roman" panose="02020603050405020304" pitchFamily="18" charset="0"/>
                <a:cs typeface="Times New Roman" panose="02020603050405020304" pitchFamily="18" charset="0"/>
              </a:rPr>
              <a:t>de </a:t>
            </a:r>
            <a:r>
              <a:rPr lang="fr-FR" sz="2800" dirty="0" smtClean="0">
                <a:latin typeface="Times New Roman" panose="02020603050405020304" pitchFamily="18" charset="0"/>
                <a:cs typeface="Times New Roman" panose="02020603050405020304" pitchFamily="18" charset="0"/>
              </a:rPr>
              <a:t>définir </a:t>
            </a:r>
            <a:r>
              <a:rPr lang="fr-FR" sz="2800" dirty="0">
                <a:latin typeface="Times New Roman" panose="02020603050405020304" pitchFamily="18" charset="0"/>
                <a:cs typeface="Times New Roman" panose="02020603050405020304" pitchFamily="18" charset="0"/>
              </a:rPr>
              <a:t>au </a:t>
            </a:r>
            <a:r>
              <a:rPr lang="fr-FR" sz="2800" dirty="0" smtClean="0">
                <a:latin typeface="Times New Roman" panose="02020603050405020304" pitchFamily="18" charset="0"/>
                <a:cs typeface="Times New Roman" panose="02020603050405020304" pitchFamily="18" charset="0"/>
              </a:rPr>
              <a:t>préalable </a:t>
            </a:r>
            <a:r>
              <a:rPr lang="fr-FR" sz="2800" dirty="0">
                <a:latin typeface="Times New Roman" panose="02020603050405020304" pitchFamily="18" charset="0"/>
                <a:cs typeface="Times New Roman" panose="02020603050405020304" pitchFamily="18" charset="0"/>
              </a:rPr>
              <a:t>les champs dans le document[B6]. De plus, le stockage </a:t>
            </a:r>
            <a:r>
              <a:rPr lang="fr-FR" sz="2800" dirty="0" smtClean="0">
                <a:latin typeface="Times New Roman" panose="02020603050405020304" pitchFamily="18" charset="0"/>
                <a:cs typeface="Times New Roman" panose="02020603050405020304" pitchFamily="18" charset="0"/>
              </a:rPr>
              <a:t>structure </a:t>
            </a:r>
            <a:r>
              <a:rPr lang="fr-FR" sz="2800" dirty="0">
                <a:latin typeface="Times New Roman" panose="02020603050405020304" pitchFamily="18" charset="0"/>
                <a:cs typeface="Times New Roman" panose="02020603050405020304" pitchFamily="18" charset="0"/>
              </a:rPr>
              <a:t>des documents leur </a:t>
            </a:r>
            <a:r>
              <a:rPr lang="fr-FR" sz="2800" dirty="0" smtClean="0">
                <a:latin typeface="Times New Roman" panose="02020603050405020304" pitchFamily="18" charset="0"/>
                <a:cs typeface="Times New Roman" panose="02020603050405020304" pitchFamily="18" charset="0"/>
              </a:rPr>
              <a:t>confère </a:t>
            </a:r>
            <a:r>
              <a:rPr lang="fr-FR" sz="2800" dirty="0">
                <a:latin typeface="Times New Roman" panose="02020603050405020304" pitchFamily="18" charset="0"/>
                <a:cs typeface="Times New Roman" panose="02020603050405020304" pitchFamily="18" charset="0"/>
              </a:rPr>
              <a:t>des </a:t>
            </a:r>
            <a:r>
              <a:rPr lang="fr-FR" sz="2800" dirty="0" smtClean="0">
                <a:latin typeface="Times New Roman" panose="02020603050405020304" pitchFamily="18" charset="0"/>
                <a:cs typeface="Times New Roman" panose="02020603050405020304" pitchFamily="18" charset="0"/>
              </a:rPr>
              <a:t>fonctionnalités </a:t>
            </a:r>
            <a:r>
              <a:rPr lang="fr-FR" sz="2800" dirty="0">
                <a:latin typeface="Times New Roman" panose="02020603050405020304" pitchFamily="18" charset="0"/>
                <a:cs typeface="Times New Roman" panose="02020603050405020304" pitchFamily="18" charset="0"/>
              </a:rPr>
              <a:t>simples dont la plus </a:t>
            </a:r>
            <a:r>
              <a:rPr lang="fr-FR" sz="2800" dirty="0" smtClean="0">
                <a:latin typeface="Times New Roman" panose="02020603050405020304" pitchFamily="18" charset="0"/>
                <a:cs typeface="Times New Roman" panose="02020603050405020304" pitchFamily="18" charset="0"/>
              </a:rPr>
              <a:t>´évidente </a:t>
            </a:r>
            <a:r>
              <a:rPr lang="fr-FR" sz="2800" dirty="0">
                <a:latin typeface="Times New Roman" panose="02020603050405020304" pitchFamily="18" charset="0"/>
                <a:cs typeface="Times New Roman" panose="02020603050405020304" pitchFamily="18" charset="0"/>
              </a:rPr>
              <a:t>est la </a:t>
            </a:r>
            <a:r>
              <a:rPr lang="fr-FR" sz="2800" dirty="0" smtClean="0">
                <a:latin typeface="Times New Roman" panose="02020603050405020304" pitchFamily="18" charset="0"/>
                <a:cs typeface="Times New Roman" panose="02020603050405020304" pitchFamily="18" charset="0"/>
              </a:rPr>
              <a:t>capacité </a:t>
            </a:r>
            <a:r>
              <a:rPr lang="fr-FR" sz="2800" dirty="0">
                <a:latin typeface="Times New Roman" panose="02020603050405020304" pitchFamily="18" charset="0"/>
                <a:cs typeface="Times New Roman" panose="02020603050405020304" pitchFamily="18" charset="0"/>
              </a:rPr>
              <a:t>`a effectuer des </a:t>
            </a:r>
            <a:r>
              <a:rPr lang="fr-FR" sz="2800" dirty="0" smtClean="0">
                <a:latin typeface="Times New Roman" panose="02020603050405020304" pitchFamily="18" charset="0"/>
                <a:cs typeface="Times New Roman" panose="02020603050405020304" pitchFamily="18" charset="0"/>
              </a:rPr>
              <a:t>requêtes </a:t>
            </a:r>
            <a:r>
              <a:rPr lang="fr-FR" sz="2800" dirty="0">
                <a:latin typeface="Times New Roman" panose="02020603050405020304" pitchFamily="18" charset="0"/>
                <a:cs typeface="Times New Roman" panose="02020603050405020304" pitchFamily="18" charset="0"/>
              </a:rPr>
              <a:t>sur le contenu des objets</a:t>
            </a:r>
            <a:r>
              <a:rPr lang="fr-FR" sz="2800" dirty="0" smtClean="0">
                <a:latin typeface="Times New Roman" panose="02020603050405020304" pitchFamily="18" charset="0"/>
                <a:cs typeface="Times New Roman" panose="02020603050405020304" pitchFamily="18" charset="0"/>
              </a:rPr>
              <a:t>.</a:t>
            </a:r>
          </a:p>
          <a:p>
            <a:pPr marL="0" indent="457200" algn="just">
              <a:spcBef>
                <a:spcPts val="0"/>
              </a:spcBef>
              <a:buNone/>
            </a:pPr>
            <a:endParaRPr lang="fr-FR"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2"/>
          <a:stretch>
            <a:fillRect/>
          </a:stretch>
        </p:blipFill>
        <p:spPr>
          <a:xfrm>
            <a:off x="1763688" y="3717032"/>
            <a:ext cx="6912768" cy="2952328"/>
          </a:xfrm>
          <a:prstGeom prst="rect">
            <a:avLst/>
          </a:prstGeom>
        </p:spPr>
      </p:pic>
    </p:spTree>
    <p:extLst>
      <p:ext uri="{BB962C8B-B14F-4D97-AF65-F5344CB8AC3E}">
        <p14:creationId xmlns:p14="http://schemas.microsoft.com/office/powerpoint/2010/main" val="39382805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Les outils utilises pour la </a:t>
            </a:r>
            <a:r>
              <a:rPr lang="fr-FR" dirty="0" err="1"/>
              <a:t>BDnoSQL</a:t>
            </a:r>
            <a:r>
              <a:rPr lang="fr-FR" dirty="0"/>
              <a:t> orientée </a:t>
            </a:r>
            <a:r>
              <a:rPr lang="fr-FR" dirty="0" smtClean="0"/>
              <a:t>documents</a:t>
            </a:r>
            <a:endParaRPr lang="fr-FR" dirty="0"/>
          </a:p>
        </p:txBody>
      </p:sp>
      <p:pic>
        <p:nvPicPr>
          <p:cNvPr id="4" name="Espace réservé du contenu 3"/>
          <p:cNvPicPr>
            <a:picLocks noGrp="1" noChangeAspect="1"/>
          </p:cNvPicPr>
          <p:nvPr>
            <p:ph idx="1"/>
          </p:nvPr>
        </p:nvPicPr>
        <p:blipFill>
          <a:blip r:embed="rId2"/>
          <a:stretch>
            <a:fillRect/>
          </a:stretch>
        </p:blipFill>
        <p:spPr>
          <a:xfrm>
            <a:off x="308078" y="1772816"/>
            <a:ext cx="8527844" cy="4896544"/>
          </a:xfrm>
          <a:prstGeom prst="rect">
            <a:avLst/>
          </a:prstGeom>
        </p:spPr>
      </p:pic>
    </p:spTree>
    <p:extLst>
      <p:ext uri="{BB962C8B-B14F-4D97-AF65-F5344CB8AC3E}">
        <p14:creationId xmlns:p14="http://schemas.microsoft.com/office/powerpoint/2010/main" val="57500940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397" y="20016"/>
            <a:ext cx="9144000" cy="1143000"/>
          </a:xfrm>
        </p:spPr>
        <p:txBody>
          <a:bodyPr>
            <a:normAutofit fontScale="90000"/>
          </a:bodyPr>
          <a:lstStyle/>
          <a:p>
            <a:r>
              <a:rPr lang="fr-FR" b="1" dirty="0">
                <a:latin typeface="Times New Roman" panose="02020603050405020304" pitchFamily="18" charset="0"/>
                <a:cs typeface="Times New Roman" panose="02020603050405020304" pitchFamily="18" charset="0"/>
              </a:rPr>
              <a:t>2.2.4. Les bases de </a:t>
            </a:r>
            <a:r>
              <a:rPr lang="fr-FR" b="1" dirty="0" smtClean="0">
                <a:latin typeface="Times New Roman" panose="02020603050405020304" pitchFamily="18" charset="0"/>
                <a:cs typeface="Times New Roman" panose="02020603050405020304" pitchFamily="18" charset="0"/>
              </a:rPr>
              <a:t>données orientées </a:t>
            </a:r>
            <a:r>
              <a:rPr lang="fr-FR" b="1" dirty="0">
                <a:latin typeface="Times New Roman" panose="02020603050405020304" pitchFamily="18" charset="0"/>
                <a:cs typeface="Times New Roman" panose="02020603050405020304" pitchFamily="18" charset="0"/>
              </a:rPr>
              <a:t>graphes </a:t>
            </a:r>
          </a:p>
        </p:txBody>
      </p:sp>
      <p:sp>
        <p:nvSpPr>
          <p:cNvPr id="3" name="Espace réservé du contenu 2"/>
          <p:cNvSpPr>
            <a:spLocks noGrp="1"/>
          </p:cNvSpPr>
          <p:nvPr>
            <p:ph idx="1"/>
          </p:nvPr>
        </p:nvSpPr>
        <p:spPr>
          <a:xfrm>
            <a:off x="20397" y="1163016"/>
            <a:ext cx="9123603" cy="5694984"/>
          </a:xfrm>
        </p:spPr>
        <p:txBody>
          <a:bodyPr>
            <a:normAutofit/>
          </a:bodyPr>
          <a:lstStyle/>
          <a:p>
            <a:pPr marL="0" indent="0" algn="just">
              <a:buNone/>
            </a:pPr>
            <a:r>
              <a:rPr lang="fr-FR" sz="3000" dirty="0">
                <a:latin typeface="Times New Roman" panose="02020603050405020304" pitchFamily="18" charset="0"/>
                <a:cs typeface="Times New Roman" panose="02020603050405020304" pitchFamily="18" charset="0"/>
              </a:rPr>
              <a:t>Les bases </a:t>
            </a:r>
            <a:r>
              <a:rPr lang="fr-FR" sz="3000" dirty="0" smtClean="0">
                <a:latin typeface="Times New Roman" panose="02020603050405020304" pitchFamily="18" charset="0"/>
                <a:cs typeface="Times New Roman" panose="02020603050405020304" pitchFamily="18" charset="0"/>
              </a:rPr>
              <a:t>orientées </a:t>
            </a:r>
            <a:r>
              <a:rPr lang="fr-FR" sz="3000" dirty="0">
                <a:latin typeface="Times New Roman" panose="02020603050405020304" pitchFamily="18" charset="0"/>
                <a:cs typeface="Times New Roman" panose="02020603050405020304" pitchFamily="18" charset="0"/>
              </a:rPr>
              <a:t>graphe sont les moins connues de la mouvance </a:t>
            </a:r>
            <a:r>
              <a:rPr lang="fr-FR" sz="3000" dirty="0" err="1">
                <a:latin typeface="Times New Roman" panose="02020603050405020304" pitchFamily="18" charset="0"/>
                <a:cs typeface="Times New Roman" panose="02020603050405020304" pitchFamily="18" charset="0"/>
              </a:rPr>
              <a:t>NoSQL</a:t>
            </a:r>
            <a:r>
              <a:rPr lang="fr-FR" sz="3000" dirty="0">
                <a:latin typeface="Times New Roman" panose="02020603050405020304" pitchFamily="18" charset="0"/>
                <a:cs typeface="Times New Roman" panose="02020603050405020304" pitchFamily="18" charset="0"/>
              </a:rPr>
              <a:t>. Ces bases permettent la </a:t>
            </a:r>
            <a:r>
              <a:rPr lang="fr-FR" sz="3000" dirty="0" smtClean="0">
                <a:latin typeface="Times New Roman" panose="02020603050405020304" pitchFamily="18" charset="0"/>
                <a:cs typeface="Times New Roman" panose="02020603050405020304" pitchFamily="18" charset="0"/>
              </a:rPr>
              <a:t>modélisation, </a:t>
            </a:r>
            <a:r>
              <a:rPr lang="fr-FR" sz="3000" dirty="0">
                <a:latin typeface="Times New Roman" panose="02020603050405020304" pitchFamily="18" charset="0"/>
                <a:cs typeface="Times New Roman" panose="02020603050405020304" pitchFamily="18" charset="0"/>
              </a:rPr>
              <a:t>le stockage ainsi que le traitement de </a:t>
            </a:r>
            <a:r>
              <a:rPr lang="fr-FR" sz="3000" dirty="0" smtClean="0">
                <a:latin typeface="Times New Roman" panose="02020603050405020304" pitchFamily="18" charset="0"/>
                <a:cs typeface="Times New Roman" panose="02020603050405020304" pitchFamily="18" charset="0"/>
              </a:rPr>
              <a:t>données </a:t>
            </a:r>
            <a:r>
              <a:rPr lang="fr-FR" sz="3000" dirty="0">
                <a:latin typeface="Times New Roman" panose="02020603050405020304" pitchFamily="18" charset="0"/>
                <a:cs typeface="Times New Roman" panose="02020603050405020304" pitchFamily="18" charset="0"/>
              </a:rPr>
              <a:t>complexes </a:t>
            </a:r>
            <a:r>
              <a:rPr lang="fr-FR" sz="3000" dirty="0" smtClean="0">
                <a:latin typeface="Times New Roman" panose="02020603050405020304" pitchFamily="18" charset="0"/>
                <a:cs typeface="Times New Roman" panose="02020603050405020304" pitchFamily="18" charset="0"/>
              </a:rPr>
              <a:t>reliées </a:t>
            </a:r>
            <a:r>
              <a:rPr lang="fr-FR" sz="3000" dirty="0">
                <a:latin typeface="Times New Roman" panose="02020603050405020304" pitchFamily="18" charset="0"/>
                <a:cs typeface="Times New Roman" panose="02020603050405020304" pitchFamily="18" charset="0"/>
              </a:rPr>
              <a:t>par des relations. Elle se compose de deux concepts ; un moteur de stockage pour les </a:t>
            </a:r>
            <a:r>
              <a:rPr lang="fr-FR" sz="3000" dirty="0" smtClean="0">
                <a:latin typeface="Times New Roman" panose="02020603050405020304" pitchFamily="18" charset="0"/>
                <a:cs typeface="Times New Roman" panose="02020603050405020304" pitchFamily="18" charset="0"/>
              </a:rPr>
              <a:t>objets </a:t>
            </a:r>
            <a:r>
              <a:rPr lang="fr-FR" sz="3000" dirty="0">
                <a:latin typeface="Times New Roman" panose="02020603050405020304" pitchFamily="18" charset="0"/>
                <a:cs typeface="Times New Roman" panose="02020603050405020304" pitchFamily="18" charset="0"/>
              </a:rPr>
              <a:t>qui est une base documentaire </a:t>
            </a:r>
            <a:r>
              <a:rPr lang="fr-FR" sz="3000" dirty="0" smtClean="0">
                <a:latin typeface="Times New Roman" panose="02020603050405020304" pitchFamily="18" charset="0"/>
                <a:cs typeface="Times New Roman" panose="02020603050405020304" pitchFamily="18" charset="0"/>
              </a:rPr>
              <a:t>ou </a:t>
            </a:r>
            <a:r>
              <a:rPr lang="fr-FR" sz="3000" dirty="0">
                <a:latin typeface="Times New Roman" panose="02020603050405020304" pitchFamily="18" charset="0"/>
                <a:cs typeface="Times New Roman" panose="02020603050405020304" pitchFamily="18" charset="0"/>
              </a:rPr>
              <a:t>chaque </a:t>
            </a:r>
            <a:r>
              <a:rPr lang="fr-FR" sz="3000" dirty="0" smtClean="0">
                <a:latin typeface="Times New Roman" panose="02020603050405020304" pitchFamily="18" charset="0"/>
                <a:cs typeface="Times New Roman" panose="02020603050405020304" pitchFamily="18" charset="0"/>
              </a:rPr>
              <a:t>entité </a:t>
            </a:r>
            <a:r>
              <a:rPr lang="fr-FR" sz="3000" dirty="0">
                <a:latin typeface="Times New Roman" panose="02020603050405020304" pitchFamily="18" charset="0"/>
                <a:cs typeface="Times New Roman" panose="02020603050405020304" pitchFamily="18" charset="0"/>
              </a:rPr>
              <a:t>de cette base est </a:t>
            </a:r>
            <a:r>
              <a:rPr lang="fr-FR" sz="3000" dirty="0" smtClean="0">
                <a:latin typeface="Times New Roman" panose="02020603050405020304" pitchFamily="18" charset="0"/>
                <a:cs typeface="Times New Roman" panose="02020603050405020304" pitchFamily="18" charset="0"/>
              </a:rPr>
              <a:t>nomme </a:t>
            </a:r>
            <a:r>
              <a:rPr lang="fr-FR" sz="3000" dirty="0">
                <a:latin typeface="Times New Roman" panose="02020603050405020304" pitchFamily="18" charset="0"/>
                <a:cs typeface="Times New Roman" panose="02020603050405020304" pitchFamily="18" charset="0"/>
              </a:rPr>
              <a:t>nœud, et un </a:t>
            </a:r>
            <a:r>
              <a:rPr lang="fr-FR" sz="3000" dirty="0" smtClean="0">
                <a:latin typeface="Times New Roman" panose="02020603050405020304" pitchFamily="18" charset="0"/>
                <a:cs typeface="Times New Roman" panose="02020603050405020304" pitchFamily="18" charset="0"/>
              </a:rPr>
              <a:t>mécanisme </a:t>
            </a:r>
            <a:r>
              <a:rPr lang="fr-FR" sz="3000" dirty="0">
                <a:latin typeface="Times New Roman" panose="02020603050405020304" pitchFamily="18" charset="0"/>
                <a:cs typeface="Times New Roman" panose="02020603050405020304" pitchFamily="18" charset="0"/>
              </a:rPr>
              <a:t>qui </a:t>
            </a:r>
            <a:r>
              <a:rPr lang="fr-FR" sz="3000" dirty="0" err="1" smtClean="0">
                <a:latin typeface="Times New Roman" panose="02020603050405020304" pitchFamily="18" charset="0"/>
                <a:cs typeface="Times New Roman" panose="02020603050405020304" pitchFamily="18" charset="0"/>
              </a:rPr>
              <a:t>decrit</a:t>
            </a:r>
            <a:r>
              <a:rPr lang="fr-FR" sz="3000" dirty="0" smtClean="0">
                <a:latin typeface="Times New Roman" panose="02020603050405020304" pitchFamily="18" charset="0"/>
                <a:cs typeface="Times New Roman" panose="02020603050405020304" pitchFamily="18" charset="0"/>
              </a:rPr>
              <a:t> </a:t>
            </a:r>
            <a:r>
              <a:rPr lang="fr-FR" sz="3000" dirty="0">
                <a:latin typeface="Times New Roman" panose="02020603050405020304" pitchFamily="18" charset="0"/>
                <a:cs typeface="Times New Roman" panose="02020603050405020304" pitchFamily="18" charset="0"/>
              </a:rPr>
              <a:t>les arcs : c’est les relations entre les objets, elles contiennent des </a:t>
            </a:r>
            <a:r>
              <a:rPr lang="fr-FR" sz="3000" dirty="0" smtClean="0">
                <a:latin typeface="Times New Roman" panose="02020603050405020304" pitchFamily="18" charset="0"/>
                <a:cs typeface="Times New Roman" panose="02020603050405020304" pitchFamily="18" charset="0"/>
              </a:rPr>
              <a:t>propriétés </a:t>
            </a:r>
            <a:r>
              <a:rPr lang="fr-FR" sz="3000" dirty="0">
                <a:latin typeface="Times New Roman" panose="02020603050405020304" pitchFamily="18" charset="0"/>
                <a:cs typeface="Times New Roman" panose="02020603050405020304" pitchFamily="18" charset="0"/>
              </a:rPr>
              <a:t>de type simple (</a:t>
            </a:r>
            <a:r>
              <a:rPr lang="fr-FR" sz="3000" dirty="0" err="1">
                <a:latin typeface="Times New Roman" panose="02020603050405020304" pitchFamily="18" charset="0"/>
                <a:cs typeface="Times New Roman" panose="02020603050405020304" pitchFamily="18" charset="0"/>
              </a:rPr>
              <a:t>integer</a:t>
            </a:r>
            <a:r>
              <a:rPr lang="fr-FR" sz="3000" dirty="0">
                <a:latin typeface="Times New Roman" panose="02020603050405020304" pitchFamily="18" charset="0"/>
                <a:cs typeface="Times New Roman" panose="02020603050405020304" pitchFamily="18" charset="0"/>
              </a:rPr>
              <a:t>, string, date..)</a:t>
            </a:r>
          </a:p>
        </p:txBody>
      </p:sp>
    </p:spTree>
    <p:extLst>
      <p:ext uri="{BB962C8B-B14F-4D97-AF65-F5344CB8AC3E}">
        <p14:creationId xmlns:p14="http://schemas.microsoft.com/office/powerpoint/2010/main" val="391517362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686800" cy="6126163"/>
          </a:xfrm>
        </p:spPr>
        <p:txBody>
          <a:bodyPr/>
          <a:lstStyle/>
          <a:p>
            <a:pPr marL="0" indent="0">
              <a:buNone/>
            </a:pPr>
            <a:endParaRPr lang="fr-FR" dirty="0"/>
          </a:p>
        </p:txBody>
      </p:sp>
      <p:pic>
        <p:nvPicPr>
          <p:cNvPr id="4" name="Image 3"/>
          <p:cNvPicPr>
            <a:picLocks noChangeAspect="1"/>
          </p:cNvPicPr>
          <p:nvPr/>
        </p:nvPicPr>
        <p:blipFill>
          <a:blip r:embed="rId2"/>
          <a:stretch>
            <a:fillRect/>
          </a:stretch>
        </p:blipFill>
        <p:spPr>
          <a:xfrm>
            <a:off x="0" y="0"/>
            <a:ext cx="8643360" cy="3744416"/>
          </a:xfrm>
          <a:prstGeom prst="rect">
            <a:avLst/>
          </a:prstGeom>
        </p:spPr>
      </p:pic>
    </p:spTree>
    <p:extLst>
      <p:ext uri="{BB962C8B-B14F-4D97-AF65-F5344CB8AC3E}">
        <p14:creationId xmlns:p14="http://schemas.microsoft.com/office/powerpoint/2010/main" val="36077789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autres outils</a:t>
            </a:r>
            <a:endParaRPr lang="fr-FR" dirty="0"/>
          </a:p>
        </p:txBody>
      </p:sp>
      <p:pic>
        <p:nvPicPr>
          <p:cNvPr id="4" name="Espace réservé du contenu 3"/>
          <p:cNvPicPr>
            <a:picLocks noGrp="1" noChangeAspect="1"/>
          </p:cNvPicPr>
          <p:nvPr>
            <p:ph idx="1"/>
          </p:nvPr>
        </p:nvPicPr>
        <p:blipFill>
          <a:blip r:embed="rId2"/>
          <a:stretch>
            <a:fillRect/>
          </a:stretch>
        </p:blipFill>
        <p:spPr>
          <a:xfrm>
            <a:off x="323528" y="1844824"/>
            <a:ext cx="8363272" cy="4525963"/>
          </a:xfrm>
          <a:prstGeom prst="rect">
            <a:avLst/>
          </a:prstGeom>
        </p:spPr>
      </p:pic>
    </p:spTree>
    <p:extLst>
      <p:ext uri="{BB962C8B-B14F-4D97-AF65-F5344CB8AC3E}">
        <p14:creationId xmlns:p14="http://schemas.microsoft.com/office/powerpoint/2010/main" val="251575832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Evolution</a:t>
            </a:r>
            <a:endParaRPr lang="fr-FR" dirty="0"/>
          </a:p>
        </p:txBody>
      </p:sp>
      <p:sp>
        <p:nvSpPr>
          <p:cNvPr id="3" name="Espace réservé du contenu 2"/>
          <p:cNvSpPr>
            <a:spLocks noGrp="1"/>
          </p:cNvSpPr>
          <p:nvPr>
            <p:ph idx="1"/>
          </p:nvPr>
        </p:nvSpPr>
        <p:spPr/>
        <p:txBody>
          <a:bodyPr/>
          <a:lstStyle/>
          <a:p>
            <a:pPr marL="0" indent="0">
              <a:buNone/>
            </a:pPr>
            <a:r>
              <a:rPr lang="fr-FR" dirty="0">
                <a:latin typeface="Times New Roman" panose="02020603050405020304" pitchFamily="18" charset="0"/>
                <a:cs typeface="Times New Roman" panose="02020603050405020304" pitchFamily="18" charset="0"/>
              </a:rPr>
              <a:t>Neo4j est un système de gestion de base de données orienté graphe, développé</a:t>
            </a:r>
          </a:p>
          <a:p>
            <a:pPr marL="0" indent="0">
              <a:buNone/>
            </a:pPr>
            <a:r>
              <a:rPr lang="fr-FR" dirty="0">
                <a:latin typeface="Times New Roman" panose="02020603050405020304" pitchFamily="18" charset="0"/>
                <a:cs typeface="Times New Roman" panose="02020603050405020304" pitchFamily="18" charset="0"/>
              </a:rPr>
              <a:t> en Java par la société Neo4j. Il permet de représenter les données sous</a:t>
            </a:r>
          </a:p>
          <a:p>
            <a:pPr marL="0" indent="0">
              <a:buNone/>
            </a:pPr>
            <a:r>
              <a:rPr lang="fr-FR" dirty="0">
                <a:latin typeface="Times New Roman" panose="02020603050405020304" pitchFamily="18" charset="0"/>
                <a:cs typeface="Times New Roman" panose="02020603050405020304" pitchFamily="18" charset="0"/>
              </a:rPr>
              <a:t> forme de nœuds et de relations, offrant une modélisation flexible et </a:t>
            </a:r>
          </a:p>
          <a:p>
            <a:pPr marL="0" indent="0">
              <a:buNone/>
            </a:pPr>
            <a:r>
              <a:rPr lang="fr-FR" dirty="0">
                <a:latin typeface="Times New Roman" panose="02020603050405020304" pitchFamily="18" charset="0"/>
                <a:cs typeface="Times New Roman" panose="02020603050405020304" pitchFamily="18" charset="0"/>
              </a:rPr>
              <a:t>proche des concepts métier.</a:t>
            </a:r>
          </a:p>
          <a:p>
            <a:pPr marL="0" indent="0">
              <a:buNone/>
            </a:pPr>
            <a:endParaRPr lang="fr-FR" dirty="0"/>
          </a:p>
        </p:txBody>
      </p:sp>
    </p:spTree>
    <p:extLst>
      <p:ext uri="{BB962C8B-B14F-4D97-AF65-F5344CB8AC3E}">
        <p14:creationId xmlns:p14="http://schemas.microsoft.com/office/powerpoint/2010/main" val="142059435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545" y="1710"/>
            <a:ext cx="9036496" cy="6555641"/>
          </a:xfrm>
          <a:prstGeom prst="rect">
            <a:avLst/>
          </a:prstGeom>
        </p:spPr>
        <p:txBody>
          <a:bodyPr wrap="square">
            <a:spAutoFit/>
          </a:bodyPr>
          <a:lstStyle/>
          <a:p>
            <a:pPr algn="just"/>
            <a:r>
              <a:rPr lang="fr-FR" sz="2800" dirty="0">
                <a:latin typeface="Times New Roman" panose="02020603050405020304" pitchFamily="18" charset="0"/>
                <a:cs typeface="Times New Roman" panose="02020603050405020304" pitchFamily="18" charset="0"/>
              </a:rPr>
              <a:t>Neo4j est une base de </a:t>
            </a:r>
            <a:r>
              <a:rPr lang="fr-FR" sz="2800" dirty="0" err="1">
                <a:latin typeface="Times New Roman" panose="02020603050405020304" pitchFamily="18" charset="0"/>
                <a:cs typeface="Times New Roman" panose="02020603050405020304" pitchFamily="18" charset="0"/>
              </a:rPr>
              <a:t>données</a:t>
            </a:r>
            <a:r>
              <a:rPr lang="fr-FR" sz="2800" dirty="0">
                <a:latin typeface="Times New Roman" panose="02020603050405020304" pitchFamily="18" charset="0"/>
                <a:cs typeface="Times New Roman" panose="02020603050405020304" pitchFamily="18" charset="0"/>
              </a:rPr>
              <a:t> graphique qui permet de </a:t>
            </a:r>
            <a:r>
              <a:rPr lang="fr-FR" sz="2800" dirty="0" err="1">
                <a:latin typeface="Times New Roman" panose="02020603050405020304" pitchFamily="18" charset="0"/>
                <a:cs typeface="Times New Roman" panose="02020603050405020304" pitchFamily="18" charset="0"/>
              </a:rPr>
              <a:t>gérer</a:t>
            </a:r>
            <a:r>
              <a:rPr lang="fr-FR" sz="2800" dirty="0">
                <a:latin typeface="Times New Roman" panose="02020603050405020304" pitchFamily="18" charset="0"/>
                <a:cs typeface="Times New Roman" panose="02020603050405020304" pitchFamily="18" charset="0"/>
              </a:rPr>
              <a:t> et d'analyser des </a:t>
            </a:r>
            <a:r>
              <a:rPr lang="fr-FR" sz="2800" dirty="0" err="1">
                <a:latin typeface="Times New Roman" panose="02020603050405020304" pitchFamily="18" charset="0"/>
                <a:cs typeface="Times New Roman" panose="02020603050405020304" pitchFamily="18" charset="0"/>
              </a:rPr>
              <a:t>données</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interconnectées</a:t>
            </a:r>
            <a:r>
              <a:rPr lang="fr-FR" sz="2800" dirty="0">
                <a:latin typeface="Times New Roman" panose="02020603050405020304" pitchFamily="18" charset="0"/>
                <a:cs typeface="Times New Roman" panose="02020603050405020304" pitchFamily="18" charset="0"/>
              </a:rPr>
              <a:t> sous forme de graphes. Contrairement aux bases de </a:t>
            </a:r>
            <a:r>
              <a:rPr lang="fr-FR" sz="2800" dirty="0" err="1">
                <a:latin typeface="Times New Roman" panose="02020603050405020304" pitchFamily="18" charset="0"/>
                <a:cs typeface="Times New Roman" panose="02020603050405020304" pitchFamily="18" charset="0"/>
              </a:rPr>
              <a:t>données</a:t>
            </a:r>
            <a:r>
              <a:rPr lang="fr-FR" sz="2800" dirty="0">
                <a:latin typeface="Times New Roman" panose="02020603050405020304" pitchFamily="18" charset="0"/>
                <a:cs typeface="Times New Roman" panose="02020603050405020304" pitchFamily="18" charset="0"/>
              </a:rPr>
              <a:t> relationnelles classiques, elle </a:t>
            </a:r>
            <a:r>
              <a:rPr lang="fr-FR" sz="2800" dirty="0" err="1">
                <a:latin typeface="Times New Roman" panose="02020603050405020304" pitchFamily="18" charset="0"/>
                <a:cs typeface="Times New Roman" panose="02020603050405020304" pitchFamily="18" charset="0"/>
              </a:rPr>
              <a:t>représente</a:t>
            </a:r>
            <a:r>
              <a:rPr lang="fr-FR" sz="2800" dirty="0">
                <a:latin typeface="Times New Roman" panose="02020603050405020304" pitchFamily="18" charset="0"/>
                <a:cs typeface="Times New Roman" panose="02020603050405020304" pitchFamily="18" charset="0"/>
              </a:rPr>
              <a:t> les informations à travers des nœuds (</a:t>
            </a:r>
            <a:r>
              <a:rPr lang="fr-FR" sz="2800" dirty="0" err="1">
                <a:latin typeface="Times New Roman" panose="02020603050405020304" pitchFamily="18" charset="0"/>
                <a:cs typeface="Times New Roman" panose="02020603050405020304" pitchFamily="18" charset="0"/>
              </a:rPr>
              <a:t>entités</a:t>
            </a:r>
            <a:r>
              <a:rPr lang="fr-FR" sz="2800" dirty="0">
                <a:latin typeface="Times New Roman" panose="02020603050405020304" pitchFamily="18" charset="0"/>
                <a:cs typeface="Times New Roman" panose="02020603050405020304" pitchFamily="18" charset="0"/>
              </a:rPr>
              <a:t>), des relations (connexions entre les nœuds) et des </a:t>
            </a:r>
            <a:r>
              <a:rPr lang="fr-FR" sz="2800" dirty="0" err="1">
                <a:latin typeface="Times New Roman" panose="02020603050405020304" pitchFamily="18" charset="0"/>
                <a:cs typeface="Times New Roman" panose="02020603050405020304" pitchFamily="18" charset="0"/>
              </a:rPr>
              <a:t>propriétés</a:t>
            </a:r>
            <a:r>
              <a:rPr lang="fr-FR" sz="2800" dirty="0">
                <a:latin typeface="Times New Roman" panose="02020603050405020304" pitchFamily="18" charset="0"/>
                <a:cs typeface="Times New Roman" panose="02020603050405020304" pitchFamily="18" charset="0"/>
              </a:rPr>
              <a:t> (informations sur les nœuds et relations). Cela permet d'</a:t>
            </a:r>
            <a:r>
              <a:rPr lang="fr-FR" sz="2800" dirty="0" err="1">
                <a:latin typeface="Times New Roman" panose="02020603050405020304" pitchFamily="18" charset="0"/>
                <a:cs typeface="Times New Roman" panose="02020603050405020304" pitchFamily="18" charset="0"/>
              </a:rPr>
              <a:t>exécuter</a:t>
            </a:r>
            <a:r>
              <a:rPr lang="fr-FR" sz="2800" dirty="0">
                <a:latin typeface="Times New Roman" panose="02020603050405020304" pitchFamily="18" charset="0"/>
                <a:cs typeface="Times New Roman" panose="02020603050405020304" pitchFamily="18" charset="0"/>
              </a:rPr>
              <a:t> des </a:t>
            </a:r>
            <a:r>
              <a:rPr lang="fr-FR" sz="2800" dirty="0" err="1">
                <a:latin typeface="Times New Roman" panose="02020603050405020304" pitchFamily="18" charset="0"/>
                <a:cs typeface="Times New Roman" panose="02020603050405020304" pitchFamily="18" charset="0"/>
              </a:rPr>
              <a:t>requêtes</a:t>
            </a:r>
            <a:r>
              <a:rPr lang="fr-FR" sz="2800" dirty="0">
                <a:latin typeface="Times New Roman" panose="02020603050405020304" pitchFamily="18" charset="0"/>
                <a:cs typeface="Times New Roman" panose="02020603050405020304" pitchFamily="18" charset="0"/>
              </a:rPr>
              <a:t> complexes sur des relations profondes et d'analyser rapidement les connexions entre </a:t>
            </a:r>
            <a:r>
              <a:rPr lang="fr-FR" sz="2800" dirty="0" err="1">
                <a:latin typeface="Times New Roman" panose="02020603050405020304" pitchFamily="18" charset="0"/>
                <a:cs typeface="Times New Roman" panose="02020603050405020304" pitchFamily="18" charset="0"/>
              </a:rPr>
              <a:t>différentes</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entités</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Utilisée</a:t>
            </a:r>
            <a:r>
              <a:rPr lang="fr-FR" sz="2800" dirty="0">
                <a:latin typeface="Times New Roman" panose="02020603050405020304" pitchFamily="18" charset="0"/>
                <a:cs typeface="Times New Roman" panose="02020603050405020304" pitchFamily="18" charset="0"/>
              </a:rPr>
              <a:t> dans des domaines comme les </a:t>
            </a:r>
            <a:r>
              <a:rPr lang="fr-FR" sz="2800" dirty="0" err="1">
                <a:latin typeface="Times New Roman" panose="02020603050405020304" pitchFamily="18" charset="0"/>
                <a:cs typeface="Times New Roman" panose="02020603050405020304" pitchFamily="18" charset="0"/>
              </a:rPr>
              <a:t>réseaux</a:t>
            </a:r>
            <a:r>
              <a:rPr lang="fr-FR" sz="2800" dirty="0">
                <a:latin typeface="Times New Roman" panose="02020603050405020304" pitchFamily="18" charset="0"/>
                <a:cs typeface="Times New Roman" panose="02020603050405020304" pitchFamily="18" charset="0"/>
              </a:rPr>
              <a:t> sociaux, la </a:t>
            </a:r>
            <a:r>
              <a:rPr lang="fr-FR" sz="2800" dirty="0" err="1">
                <a:latin typeface="Times New Roman" panose="02020603050405020304" pitchFamily="18" charset="0"/>
                <a:cs typeface="Times New Roman" panose="02020603050405020304" pitchFamily="18" charset="0"/>
              </a:rPr>
              <a:t>détection</a:t>
            </a:r>
            <a:r>
              <a:rPr lang="fr-FR" sz="2800" dirty="0">
                <a:latin typeface="Times New Roman" panose="02020603050405020304" pitchFamily="18" charset="0"/>
                <a:cs typeface="Times New Roman" panose="02020603050405020304" pitchFamily="18" charset="0"/>
              </a:rPr>
              <a:t> de fraudes, et les </a:t>
            </a:r>
            <a:r>
              <a:rPr lang="fr-FR" sz="2800" dirty="0" err="1">
                <a:latin typeface="Times New Roman" panose="02020603050405020304" pitchFamily="18" charset="0"/>
                <a:cs typeface="Times New Roman" panose="02020603050405020304" pitchFamily="18" charset="0"/>
              </a:rPr>
              <a:t>systèmes</a:t>
            </a:r>
            <a:r>
              <a:rPr lang="fr-FR" sz="2800" dirty="0">
                <a:latin typeface="Times New Roman" panose="02020603050405020304" pitchFamily="18" charset="0"/>
                <a:cs typeface="Times New Roman" panose="02020603050405020304" pitchFamily="18" charset="0"/>
              </a:rPr>
              <a:t> de recommandation, Neo4j est </a:t>
            </a:r>
            <a:r>
              <a:rPr lang="fr-FR" sz="2800" dirty="0" err="1">
                <a:latin typeface="Times New Roman" panose="02020603050405020304" pitchFamily="18" charset="0"/>
                <a:cs typeface="Times New Roman" panose="02020603050405020304" pitchFamily="18" charset="0"/>
              </a:rPr>
              <a:t>particulièrement</a:t>
            </a:r>
            <a:r>
              <a:rPr lang="fr-FR" sz="2800" dirty="0">
                <a:latin typeface="Times New Roman" panose="02020603050405020304" pitchFamily="18" charset="0"/>
                <a:cs typeface="Times New Roman" panose="02020603050405020304" pitchFamily="18" charset="0"/>
              </a:rPr>
              <a:t> performante pour les applications </a:t>
            </a:r>
            <a:r>
              <a:rPr lang="fr-FR" sz="2800" dirty="0" err="1">
                <a:latin typeface="Times New Roman" panose="02020603050405020304" pitchFamily="18" charset="0"/>
                <a:cs typeface="Times New Roman" panose="02020603050405020304" pitchFamily="18" charset="0"/>
              </a:rPr>
              <a:t>nécessitant</a:t>
            </a:r>
            <a:r>
              <a:rPr lang="fr-FR" sz="2800" dirty="0">
                <a:latin typeface="Times New Roman" panose="02020603050405020304" pitchFamily="18" charset="0"/>
                <a:cs typeface="Times New Roman" panose="02020603050405020304" pitchFamily="18" charset="0"/>
              </a:rPr>
              <a:t> l'exploration de relations complexes. </a:t>
            </a:r>
            <a:r>
              <a:rPr lang="fr-FR" sz="2800" dirty="0" err="1">
                <a:latin typeface="Times New Roman" panose="02020603050405020304" pitchFamily="18" charset="0"/>
                <a:cs typeface="Times New Roman" panose="02020603050405020304" pitchFamily="18" charset="0"/>
              </a:rPr>
              <a:t>Grâce</a:t>
            </a:r>
            <a:r>
              <a:rPr lang="fr-FR" sz="2800" dirty="0">
                <a:latin typeface="Times New Roman" panose="02020603050405020304" pitchFamily="18" charset="0"/>
                <a:cs typeface="Times New Roman" panose="02020603050405020304" pitchFamily="18" charset="0"/>
              </a:rPr>
              <a:t> à son langage de </a:t>
            </a:r>
            <a:r>
              <a:rPr lang="fr-FR" sz="2800" dirty="0" err="1">
                <a:latin typeface="Times New Roman" panose="02020603050405020304" pitchFamily="18" charset="0"/>
                <a:cs typeface="Times New Roman" panose="02020603050405020304" pitchFamily="18" charset="0"/>
              </a:rPr>
              <a:t>requête</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Cypher</a:t>
            </a:r>
            <a:r>
              <a:rPr lang="fr-FR" sz="2800" dirty="0">
                <a:latin typeface="Times New Roman" panose="02020603050405020304" pitchFamily="18" charset="0"/>
                <a:cs typeface="Times New Roman" panose="02020603050405020304" pitchFamily="18" charset="0"/>
              </a:rPr>
              <a:t>, Neo4j facilite l’interrogation des graphes et offre une grande </a:t>
            </a:r>
            <a:r>
              <a:rPr lang="fr-FR" sz="2800" dirty="0" err="1">
                <a:latin typeface="Times New Roman" panose="02020603050405020304" pitchFamily="18" charset="0"/>
                <a:cs typeface="Times New Roman" panose="02020603050405020304" pitchFamily="18" charset="0"/>
              </a:rPr>
              <a:t>flexibilite</a:t>
            </a:r>
            <a:r>
              <a:rPr lang="fr-FR" sz="2800" dirty="0">
                <a:latin typeface="Times New Roman" panose="02020603050405020304" pitchFamily="18" charset="0"/>
                <a:cs typeface="Times New Roman" panose="02020603050405020304" pitchFamily="18" charset="0"/>
              </a:rPr>
              <a:t>́ dans la gestion des </a:t>
            </a:r>
            <a:r>
              <a:rPr lang="fr-FR" sz="2800" dirty="0" err="1">
                <a:latin typeface="Times New Roman" panose="02020603050405020304" pitchFamily="18" charset="0"/>
                <a:cs typeface="Times New Roman" panose="02020603050405020304" pitchFamily="18" charset="0"/>
              </a:rPr>
              <a:t>données</a:t>
            </a:r>
            <a:endParaRPr lang="fr-F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77517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8404" y="0"/>
            <a:ext cx="8704076" cy="6858000"/>
          </a:xfrm>
        </p:spPr>
        <p:txBody>
          <a:bodyPr>
            <a:normAutofit fontScale="77500" lnSpcReduction="20000"/>
          </a:bodyPr>
          <a:lstStyle/>
          <a:p>
            <a:pPr marL="0" indent="0">
              <a:buNone/>
            </a:pPr>
            <a:r>
              <a:rPr lang="fr-FR" dirty="0">
                <a:latin typeface="Times New Roman" panose="02020603050405020304" pitchFamily="18" charset="0"/>
                <a:cs typeface="Times New Roman" panose="02020603050405020304" pitchFamily="18" charset="0"/>
              </a:rPr>
              <a:t>Neo4j vise à fournir une solution efficace pour le stockage </a:t>
            </a:r>
            <a:r>
              <a:rPr lang="fr-FR" dirty="0" smtClean="0">
                <a:latin typeface="Times New Roman" panose="02020603050405020304" pitchFamily="18" charset="0"/>
                <a:cs typeface="Times New Roman" panose="02020603050405020304" pitchFamily="18" charset="0"/>
              </a:rPr>
              <a:t>et</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la gestion de données fortement connectées, où les relations entre les données sont primordiales</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Il est particulièrement adapté aux applications nécessitant des parcours complexes, </a:t>
            </a:r>
            <a:endParaRPr lang="fr-FR"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comme </a:t>
            </a:r>
            <a:r>
              <a:rPr lang="fr-FR" dirty="0">
                <a:latin typeface="Times New Roman" panose="02020603050405020304" pitchFamily="18" charset="0"/>
                <a:cs typeface="Times New Roman" panose="02020603050405020304" pitchFamily="18" charset="0"/>
              </a:rPr>
              <a:t>les réseaux sociaux, la détection de fraudes ou les systèmes de recommandation. </a:t>
            </a:r>
            <a:endParaRPr lang="fr-FR" dirty="0" smtClean="0">
              <a:latin typeface="Times New Roman" panose="02020603050405020304" pitchFamily="18" charset="0"/>
              <a:cs typeface="Times New Roman" panose="02020603050405020304" pitchFamily="18" charset="0"/>
            </a:endParaRPr>
          </a:p>
          <a:p>
            <a:pPr marL="0" indent="0" algn="ctr">
              <a:buNone/>
            </a:pPr>
            <a:r>
              <a:rPr lang="fr-FR" b="1" u="sng" dirty="0">
                <a:latin typeface="Times New Roman" panose="02020603050405020304" pitchFamily="18" charset="0"/>
                <a:cs typeface="Times New Roman" panose="02020603050405020304" pitchFamily="18" charset="0"/>
              </a:rPr>
              <a:t>Objectifs </a:t>
            </a:r>
            <a:r>
              <a:rPr lang="fr-FR" b="1" u="sng" dirty="0" err="1">
                <a:latin typeface="Times New Roman" panose="02020603050405020304" pitchFamily="18" charset="0"/>
                <a:cs typeface="Times New Roman" panose="02020603050405020304" pitchFamily="18" charset="0"/>
              </a:rPr>
              <a:t>clés</a:t>
            </a:r>
            <a:r>
              <a:rPr lang="fr-FR" b="1" u="sng" dirty="0">
                <a:latin typeface="Times New Roman" panose="02020603050405020304" pitchFamily="18" charset="0"/>
                <a:cs typeface="Times New Roman" panose="02020603050405020304" pitchFamily="18" charset="0"/>
              </a:rPr>
              <a:t> de Neo4j </a:t>
            </a:r>
            <a:endParaRPr lang="fr-FR" b="1" u="sng"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1. </a:t>
            </a:r>
            <a:r>
              <a:rPr lang="fr-FR" b="1" dirty="0" err="1" smtClean="0">
                <a:latin typeface="Times New Roman" panose="02020603050405020304" pitchFamily="18" charset="0"/>
                <a:cs typeface="Times New Roman" panose="02020603050405020304" pitchFamily="18" charset="0"/>
              </a:rPr>
              <a:t>Représenter</a:t>
            </a:r>
            <a:r>
              <a:rPr lang="fr-FR" b="1" dirty="0" smtClean="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des relations complexes : </a:t>
            </a:r>
            <a:endParaRPr lang="fr-FR" b="1"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Neo4j </a:t>
            </a:r>
            <a:r>
              <a:rPr lang="fr-FR" dirty="0">
                <a:latin typeface="Times New Roman" panose="02020603050405020304" pitchFamily="18" charset="0"/>
                <a:cs typeface="Times New Roman" panose="02020603050405020304" pitchFamily="18" charset="0"/>
              </a:rPr>
              <a:t>permet de </a:t>
            </a:r>
            <a:r>
              <a:rPr lang="fr-FR" dirty="0" err="1">
                <a:latin typeface="Times New Roman" panose="02020603050405020304" pitchFamily="18" charset="0"/>
                <a:cs typeface="Times New Roman" panose="02020603050405020304" pitchFamily="18" charset="0"/>
              </a:rPr>
              <a:t>modéliser</a:t>
            </a:r>
            <a:r>
              <a:rPr lang="fr-FR" dirty="0">
                <a:latin typeface="Times New Roman" panose="02020603050405020304" pitchFamily="18" charset="0"/>
                <a:cs typeface="Times New Roman" panose="02020603050405020304" pitchFamily="18" charset="0"/>
              </a:rPr>
              <a:t> facilement des relations entre </a:t>
            </a:r>
            <a:r>
              <a:rPr lang="fr-FR" dirty="0" err="1">
                <a:latin typeface="Times New Roman" panose="02020603050405020304" pitchFamily="18" charset="0"/>
                <a:cs typeface="Times New Roman" panose="02020603050405020304" pitchFamily="18" charset="0"/>
              </a:rPr>
              <a:t>entités</a:t>
            </a:r>
            <a:r>
              <a:rPr lang="fr-FR" dirty="0">
                <a:latin typeface="Times New Roman" panose="02020603050405020304" pitchFamily="18" charset="0"/>
                <a:cs typeface="Times New Roman" panose="02020603050405020304" pitchFamily="18" charset="0"/>
              </a:rPr>
              <a:t>, ce qui est </a:t>
            </a:r>
            <a:r>
              <a:rPr lang="fr-FR" dirty="0" err="1">
                <a:latin typeface="Times New Roman" panose="02020603050405020304" pitchFamily="18" charset="0"/>
                <a:cs typeface="Times New Roman" panose="02020603050405020304" pitchFamily="18" charset="0"/>
              </a:rPr>
              <a:t>particulièrement</a:t>
            </a:r>
            <a:r>
              <a:rPr lang="fr-FR" dirty="0">
                <a:latin typeface="Times New Roman" panose="02020603050405020304" pitchFamily="18" charset="0"/>
                <a:cs typeface="Times New Roman" panose="02020603050405020304" pitchFamily="18" charset="0"/>
              </a:rPr>
              <a:t> utile dans des domaines comme les </a:t>
            </a:r>
            <a:r>
              <a:rPr lang="fr-FR" dirty="0" err="1">
                <a:latin typeface="Times New Roman" panose="02020603050405020304" pitchFamily="18" charset="0"/>
                <a:cs typeface="Times New Roman" panose="02020603050405020304" pitchFamily="18" charset="0"/>
              </a:rPr>
              <a:t>réseaux</a:t>
            </a:r>
            <a:r>
              <a:rPr lang="fr-FR" dirty="0">
                <a:latin typeface="Times New Roman" panose="02020603050405020304" pitchFamily="18" charset="0"/>
                <a:cs typeface="Times New Roman" panose="02020603050405020304" pitchFamily="18" charset="0"/>
              </a:rPr>
              <a:t> sociaux, les recommandations de produits, l'analyse de </a:t>
            </a:r>
            <a:r>
              <a:rPr lang="fr-FR" dirty="0" err="1">
                <a:latin typeface="Times New Roman" panose="02020603050405020304" pitchFamily="18" charset="0"/>
                <a:cs typeface="Times New Roman" panose="02020603050405020304" pitchFamily="18" charset="0"/>
              </a:rPr>
              <a:t>chaînes</a:t>
            </a:r>
            <a:r>
              <a:rPr lang="fr-FR" dirty="0">
                <a:latin typeface="Times New Roman" panose="02020603050405020304" pitchFamily="18" charset="0"/>
                <a:cs typeface="Times New Roman" panose="02020603050405020304" pitchFamily="18" charset="0"/>
              </a:rPr>
              <a:t> logistiques, ou la </a:t>
            </a:r>
            <a:r>
              <a:rPr lang="fr-FR" dirty="0" err="1">
                <a:latin typeface="Times New Roman" panose="02020603050405020304" pitchFamily="18" charset="0"/>
                <a:cs typeface="Times New Roman" panose="02020603050405020304" pitchFamily="18" charset="0"/>
              </a:rPr>
              <a:t>détection</a:t>
            </a:r>
            <a:r>
              <a:rPr lang="fr-FR" dirty="0">
                <a:latin typeface="Times New Roman" panose="02020603050405020304" pitchFamily="18" charset="0"/>
                <a:cs typeface="Times New Roman" panose="02020603050405020304" pitchFamily="18" charset="0"/>
              </a:rPr>
              <a:t> de fraudes</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2</a:t>
            </a:r>
            <a:r>
              <a:rPr lang="fr-FR" b="1" dirty="0">
                <a:latin typeface="Times New Roman" panose="02020603050405020304" pitchFamily="18" charset="0"/>
                <a:cs typeface="Times New Roman" panose="02020603050405020304" pitchFamily="18" charset="0"/>
              </a:rPr>
              <a:t>. Optimisation des </a:t>
            </a:r>
            <a:r>
              <a:rPr lang="fr-FR" b="1" dirty="0" err="1">
                <a:latin typeface="Times New Roman" panose="02020603050405020304" pitchFamily="18" charset="0"/>
                <a:cs typeface="Times New Roman" panose="02020603050405020304" pitchFamily="18" charset="0"/>
              </a:rPr>
              <a:t>requêtes</a:t>
            </a:r>
            <a:r>
              <a:rPr lang="fr-FR" b="1" dirty="0">
                <a:latin typeface="Times New Roman" panose="02020603050405020304" pitchFamily="18" charset="0"/>
                <a:cs typeface="Times New Roman" panose="02020603050405020304" pitchFamily="18" charset="0"/>
              </a:rPr>
              <a:t> sur les graphes : </a:t>
            </a:r>
            <a:r>
              <a:rPr lang="fr-FR" dirty="0">
                <a:latin typeface="Times New Roman" panose="02020603050405020304" pitchFamily="18" charset="0"/>
                <a:cs typeface="Times New Roman" panose="02020603050405020304" pitchFamily="18" charset="0"/>
              </a:rPr>
              <a:t>Contrairement aux bases de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relationnelles qui peuvent devenir lentes lors de l'</a:t>
            </a:r>
            <a:r>
              <a:rPr lang="fr-FR" dirty="0" err="1">
                <a:latin typeface="Times New Roman" panose="02020603050405020304" pitchFamily="18" charset="0"/>
                <a:cs typeface="Times New Roman" panose="02020603050405020304" pitchFamily="18" charset="0"/>
              </a:rPr>
              <a:t>exécution</a:t>
            </a:r>
            <a:r>
              <a:rPr lang="fr-FR" dirty="0">
                <a:latin typeface="Times New Roman" panose="02020603050405020304" pitchFamily="18" charset="0"/>
                <a:cs typeface="Times New Roman" panose="02020603050405020304" pitchFamily="18" charset="0"/>
              </a:rPr>
              <a:t> de </a:t>
            </a:r>
            <a:r>
              <a:rPr lang="fr-FR" dirty="0" err="1">
                <a:latin typeface="Times New Roman" panose="02020603050405020304" pitchFamily="18" charset="0"/>
                <a:cs typeface="Times New Roman" panose="02020603050405020304" pitchFamily="18" charset="0"/>
              </a:rPr>
              <a:t>requêtes</a:t>
            </a:r>
            <a:r>
              <a:rPr lang="fr-FR" dirty="0">
                <a:latin typeface="Times New Roman" panose="02020603050405020304" pitchFamily="18" charset="0"/>
                <a:cs typeface="Times New Roman" panose="02020603050405020304" pitchFamily="18" charset="0"/>
              </a:rPr>
              <a:t> complexes sur des relations profondes, Neo4j est optimisé pour effectuer des parcours de graphes rapides, ce qui permet de naviguer efficacement à travers des </a:t>
            </a:r>
            <a:r>
              <a:rPr lang="fr-FR" dirty="0" err="1">
                <a:latin typeface="Times New Roman" panose="02020603050405020304" pitchFamily="18" charset="0"/>
                <a:cs typeface="Times New Roman" panose="02020603050405020304" pitchFamily="18" charset="0"/>
              </a:rPr>
              <a:t>réseaux</a:t>
            </a:r>
            <a:r>
              <a:rPr lang="fr-FR" dirty="0">
                <a:latin typeface="Times New Roman" panose="02020603050405020304" pitchFamily="18" charset="0"/>
                <a:cs typeface="Times New Roman" panose="02020603050405020304" pitchFamily="18" charset="0"/>
              </a:rPr>
              <a:t> d'</a:t>
            </a:r>
            <a:r>
              <a:rPr lang="fr-FR" dirty="0" err="1">
                <a:latin typeface="Times New Roman" panose="02020603050405020304" pitchFamily="18" charset="0"/>
                <a:cs typeface="Times New Roman" panose="02020603050405020304" pitchFamily="18" charset="0"/>
              </a:rPr>
              <a:t>éléments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interconnectés</a:t>
            </a:r>
            <a:r>
              <a:rPr lang="fr-F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56026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8404" y="116632"/>
            <a:ext cx="8776084" cy="6741367"/>
          </a:xfrm>
        </p:spPr>
        <p:txBody>
          <a:bodyPr>
            <a:normAutofit fontScale="85000" lnSpcReduction="20000"/>
          </a:bodyPr>
          <a:lstStyle/>
          <a:p>
            <a:pPr marL="0" indent="0">
              <a:buNone/>
            </a:pPr>
            <a:r>
              <a:rPr lang="fr-FR" dirty="0">
                <a:latin typeface="Times New Roman" panose="02020603050405020304" pitchFamily="18" charset="0"/>
                <a:cs typeface="Times New Roman" panose="02020603050405020304" pitchFamily="18" charset="0"/>
              </a:rPr>
              <a:t>3. </a:t>
            </a:r>
            <a:r>
              <a:rPr lang="fr-FR" b="1" dirty="0">
                <a:latin typeface="Times New Roman" panose="02020603050405020304" pitchFamily="18" charset="0"/>
                <a:cs typeface="Times New Roman" panose="02020603050405020304" pitchFamily="18" charset="0"/>
              </a:rPr>
              <a:t>Gestion de </a:t>
            </a:r>
            <a:r>
              <a:rPr lang="fr-FR" b="1" dirty="0" err="1">
                <a:latin typeface="Times New Roman" panose="02020603050405020304" pitchFamily="18" charset="0"/>
                <a:cs typeface="Times New Roman" panose="02020603050405020304" pitchFamily="18" charset="0"/>
              </a:rPr>
              <a:t>données</a:t>
            </a:r>
            <a:r>
              <a:rPr lang="fr-FR" b="1" dirty="0">
                <a:latin typeface="Times New Roman" panose="02020603050405020304" pitchFamily="18" charset="0"/>
                <a:cs typeface="Times New Roman" panose="02020603050405020304" pitchFamily="18" charset="0"/>
              </a:rPr>
              <a:t> fortement </a:t>
            </a:r>
            <a:r>
              <a:rPr lang="fr-FR" b="1" dirty="0" err="1">
                <a:latin typeface="Times New Roman" panose="02020603050405020304" pitchFamily="18" charset="0"/>
                <a:cs typeface="Times New Roman" panose="02020603050405020304" pitchFamily="18" charset="0"/>
              </a:rPr>
              <a:t>connectées</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L'un des principaux avantages de Neo4j est de </a:t>
            </a:r>
            <a:r>
              <a:rPr lang="fr-FR" dirty="0" err="1">
                <a:latin typeface="Times New Roman" panose="02020603050405020304" pitchFamily="18" charset="0"/>
                <a:cs typeface="Times New Roman" panose="02020603050405020304" pitchFamily="18" charset="0"/>
              </a:rPr>
              <a:t>gérer</a:t>
            </a:r>
            <a:r>
              <a:rPr lang="fr-FR" dirty="0">
                <a:latin typeface="Times New Roman" panose="02020603050405020304" pitchFamily="18" charset="0"/>
                <a:cs typeface="Times New Roman" panose="02020603050405020304" pitchFamily="18" charset="0"/>
              </a:rPr>
              <a:t> des jeux de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où les relations entre les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sont aussi importantes que les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elles-mêmes</a:t>
            </a:r>
            <a:r>
              <a:rPr lang="fr-FR" dirty="0">
                <a:latin typeface="Times New Roman" panose="02020603050405020304" pitchFamily="18" charset="0"/>
                <a:cs typeface="Times New Roman" panose="02020603050405020304" pitchFamily="18" charset="0"/>
              </a:rPr>
              <a:t>. Cela le rend </a:t>
            </a:r>
            <a:r>
              <a:rPr lang="fr-FR" dirty="0" err="1">
                <a:latin typeface="Times New Roman" panose="02020603050405020304" pitchFamily="18" charset="0"/>
                <a:cs typeface="Times New Roman" panose="02020603050405020304" pitchFamily="18" charset="0"/>
              </a:rPr>
              <a:t>idéal</a:t>
            </a:r>
            <a:r>
              <a:rPr lang="fr-FR" dirty="0">
                <a:latin typeface="Times New Roman" panose="02020603050405020304" pitchFamily="18" charset="0"/>
                <a:cs typeface="Times New Roman" panose="02020603050405020304" pitchFamily="18" charset="0"/>
              </a:rPr>
              <a:t> pour les applications comme l'analyse de </a:t>
            </a:r>
            <a:r>
              <a:rPr lang="fr-FR" dirty="0" err="1">
                <a:latin typeface="Times New Roman" panose="02020603050405020304" pitchFamily="18" charset="0"/>
                <a:cs typeface="Times New Roman" panose="02020603050405020304" pitchFamily="18" charset="0"/>
              </a:rPr>
              <a:t>réseaux</a:t>
            </a:r>
            <a:r>
              <a:rPr lang="fr-FR" dirty="0">
                <a:latin typeface="Times New Roman" panose="02020603050405020304" pitchFamily="18" charset="0"/>
                <a:cs typeface="Times New Roman" panose="02020603050405020304" pitchFamily="18" charset="0"/>
              </a:rPr>
              <a:t> sociaux, les moteurs de recommandations, la gestion des connaissances, etc</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4</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Simplicite</a:t>
            </a:r>
            <a:r>
              <a:rPr lang="fr-FR" b="1" dirty="0">
                <a:latin typeface="Times New Roman" panose="02020603050405020304" pitchFamily="18" charset="0"/>
                <a:cs typeface="Times New Roman" panose="02020603050405020304" pitchFamily="18" charset="0"/>
              </a:rPr>
              <a:t>́ d'utilisation : </a:t>
            </a:r>
            <a:r>
              <a:rPr lang="fr-FR" dirty="0" err="1">
                <a:latin typeface="Times New Roman" panose="02020603050405020304" pitchFamily="18" charset="0"/>
                <a:cs typeface="Times New Roman" panose="02020603050405020304" pitchFamily="18" charset="0"/>
              </a:rPr>
              <a:t>Grâce</a:t>
            </a:r>
            <a:r>
              <a:rPr lang="fr-FR" dirty="0">
                <a:latin typeface="Times New Roman" panose="02020603050405020304" pitchFamily="18" charset="0"/>
                <a:cs typeface="Times New Roman" panose="02020603050405020304" pitchFamily="18" charset="0"/>
              </a:rPr>
              <a:t> à son langage de </a:t>
            </a:r>
            <a:r>
              <a:rPr lang="fr-FR" dirty="0" err="1">
                <a:latin typeface="Times New Roman" panose="02020603050405020304" pitchFamily="18" charset="0"/>
                <a:cs typeface="Times New Roman" panose="02020603050405020304" pitchFamily="18" charset="0"/>
              </a:rPr>
              <a:t>requête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Cypher</a:t>
            </a:r>
            <a:r>
              <a:rPr lang="fr-FR" dirty="0">
                <a:latin typeface="Times New Roman" panose="02020603050405020304" pitchFamily="18" charset="0"/>
                <a:cs typeface="Times New Roman" panose="02020603050405020304" pitchFamily="18" charset="0"/>
              </a:rPr>
              <a:t>, Neo4j permet aux utilisateurs de poser des questions sur les graphes de </a:t>
            </a:r>
            <a:r>
              <a:rPr lang="fr-FR" dirty="0" err="1">
                <a:latin typeface="Times New Roman" panose="02020603050405020304" pitchFamily="18" charset="0"/>
                <a:cs typeface="Times New Roman" panose="02020603050405020304" pitchFamily="18" charset="0"/>
              </a:rPr>
              <a:t>manière</a:t>
            </a:r>
            <a:r>
              <a:rPr lang="fr-FR" dirty="0">
                <a:latin typeface="Times New Roman" panose="02020603050405020304" pitchFamily="18" charset="0"/>
                <a:cs typeface="Times New Roman" panose="02020603050405020304" pitchFamily="18" charset="0"/>
              </a:rPr>
              <a:t> intuitive, facilitant la </a:t>
            </a:r>
            <a:r>
              <a:rPr lang="fr-FR" dirty="0" err="1">
                <a:latin typeface="Times New Roman" panose="02020603050405020304" pitchFamily="18" charset="0"/>
                <a:cs typeface="Times New Roman" panose="02020603050405020304" pitchFamily="18" charset="0"/>
              </a:rPr>
              <a:t>compréhension</a:t>
            </a:r>
            <a:r>
              <a:rPr lang="fr-FR" dirty="0">
                <a:latin typeface="Times New Roman" panose="02020603050405020304" pitchFamily="18" charset="0"/>
                <a:cs typeface="Times New Roman" panose="02020603050405020304" pitchFamily="18" charset="0"/>
              </a:rPr>
              <a:t> et l'</a:t>
            </a:r>
            <a:r>
              <a:rPr lang="fr-FR" dirty="0" err="1">
                <a:latin typeface="Times New Roman" panose="02020603050405020304" pitchFamily="18" charset="0"/>
                <a:cs typeface="Times New Roman" panose="02020603050405020304" pitchFamily="18" charset="0"/>
              </a:rPr>
              <a:t>exécution</a:t>
            </a:r>
            <a:r>
              <a:rPr lang="fr-FR" dirty="0">
                <a:latin typeface="Times New Roman" panose="02020603050405020304" pitchFamily="18" charset="0"/>
                <a:cs typeface="Times New Roman" panose="02020603050405020304" pitchFamily="18" charset="0"/>
              </a:rPr>
              <a:t> de </a:t>
            </a:r>
            <a:r>
              <a:rPr lang="fr-FR" dirty="0" err="1">
                <a:latin typeface="Times New Roman" panose="02020603050405020304" pitchFamily="18" charset="0"/>
                <a:cs typeface="Times New Roman" panose="02020603050405020304" pitchFamily="18" charset="0"/>
              </a:rPr>
              <a:t>requêtes</a:t>
            </a:r>
            <a:r>
              <a:rPr lang="fr-FR" dirty="0">
                <a:latin typeface="Times New Roman" panose="02020603050405020304" pitchFamily="18" charset="0"/>
                <a:cs typeface="Times New Roman" panose="02020603050405020304" pitchFamily="18" charset="0"/>
              </a:rPr>
              <a:t> complexes sur des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interconnectées</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5</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Scalabilite</a:t>
            </a:r>
            <a:r>
              <a:rPr lang="fr-FR" b="1" dirty="0">
                <a:latin typeface="Times New Roman" panose="02020603050405020304" pitchFamily="18" charset="0"/>
                <a:cs typeface="Times New Roman" panose="02020603050405020304" pitchFamily="18" charset="0"/>
              </a:rPr>
              <a:t>́ et </a:t>
            </a:r>
            <a:r>
              <a:rPr lang="fr-FR" b="1" dirty="0" err="1">
                <a:latin typeface="Times New Roman" panose="02020603050405020304" pitchFamily="18" charset="0"/>
                <a:cs typeface="Times New Roman" panose="02020603050405020304" pitchFamily="18" charset="0"/>
              </a:rPr>
              <a:t>flexibilite</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Neo4j offre des solutions pour </a:t>
            </a:r>
            <a:r>
              <a:rPr lang="fr-FR" dirty="0" err="1">
                <a:latin typeface="Times New Roman" panose="02020603050405020304" pitchFamily="18" charset="0"/>
                <a:cs typeface="Times New Roman" panose="02020603050405020304" pitchFamily="18" charset="0"/>
              </a:rPr>
              <a:t>évoluer</a:t>
            </a:r>
            <a:r>
              <a:rPr lang="fr-FR" dirty="0">
                <a:latin typeface="Times New Roman" panose="02020603050405020304" pitchFamily="18" charset="0"/>
                <a:cs typeface="Times New Roman" panose="02020603050405020304" pitchFamily="18" charset="0"/>
              </a:rPr>
              <a:t> en fonction des besoins de l'entreprise, tout en restant flexible pour </a:t>
            </a:r>
            <a:r>
              <a:rPr lang="fr-FR" dirty="0" err="1">
                <a:latin typeface="Times New Roman" panose="02020603050405020304" pitchFamily="18" charset="0"/>
                <a:cs typeface="Times New Roman" panose="02020603050405020304" pitchFamily="18" charset="0"/>
              </a:rPr>
              <a:t>modéliser</a:t>
            </a:r>
            <a:r>
              <a:rPr lang="fr-FR" dirty="0">
                <a:latin typeface="Times New Roman" panose="02020603050405020304" pitchFamily="18" charset="0"/>
                <a:cs typeface="Times New Roman" panose="02020603050405020304" pitchFamily="18" charset="0"/>
              </a:rPr>
              <a:t> une </a:t>
            </a:r>
            <a:r>
              <a:rPr lang="fr-FR" dirty="0" err="1">
                <a:latin typeface="Times New Roman" panose="02020603050405020304" pitchFamily="18" charset="0"/>
                <a:cs typeface="Times New Roman" panose="02020603050405020304" pitchFamily="18" charset="0"/>
              </a:rPr>
              <a:t>variéte</a:t>
            </a:r>
            <a:r>
              <a:rPr lang="fr-FR" dirty="0">
                <a:latin typeface="Times New Roman" panose="02020603050405020304" pitchFamily="18" charset="0"/>
                <a:cs typeface="Times New Roman" panose="02020603050405020304" pitchFamily="18" charset="0"/>
              </a:rPr>
              <a:t>́ de types de relations et de </a:t>
            </a:r>
            <a:r>
              <a:rPr lang="fr-FR" dirty="0" err="1">
                <a:latin typeface="Times New Roman" panose="02020603050405020304" pitchFamily="18" charset="0"/>
                <a:cs typeface="Times New Roman" panose="02020603050405020304" pitchFamily="18" charset="0"/>
              </a:rPr>
              <a:t>données</a:t>
            </a:r>
            <a:r>
              <a:rPr lang="fr-FR" dirty="0">
                <a:latin typeface="Times New Roman" panose="02020603050405020304" pitchFamily="18" charset="0"/>
                <a:cs typeface="Times New Roman" panose="02020603050405020304" pitchFamily="18" charset="0"/>
              </a:rPr>
              <a:t>. Il est </a:t>
            </a:r>
            <a:r>
              <a:rPr lang="fr-FR" dirty="0" err="1">
                <a:latin typeface="Times New Roman" panose="02020603050405020304" pitchFamily="18" charset="0"/>
                <a:cs typeface="Times New Roman" panose="02020603050405020304" pitchFamily="18" charset="0"/>
              </a:rPr>
              <a:t>conçu</a:t>
            </a:r>
            <a:r>
              <a:rPr lang="fr-FR" dirty="0">
                <a:latin typeface="Times New Roman" panose="02020603050405020304" pitchFamily="18" charset="0"/>
                <a:cs typeface="Times New Roman" panose="02020603050405020304" pitchFamily="18" charset="0"/>
              </a:rPr>
              <a:t> pour travailler avec des graphes de grande taille, offrant des options pour le </a:t>
            </a:r>
            <a:r>
              <a:rPr lang="fr-FR" dirty="0" err="1">
                <a:latin typeface="Times New Roman" panose="02020603050405020304" pitchFamily="18" charset="0"/>
                <a:cs typeface="Times New Roman" panose="02020603050405020304" pitchFamily="18" charset="0"/>
              </a:rPr>
              <a:t>déploiement</a:t>
            </a:r>
            <a:r>
              <a:rPr lang="fr-FR" dirty="0">
                <a:latin typeface="Times New Roman" panose="02020603050405020304" pitchFamily="18" charset="0"/>
                <a:cs typeface="Times New Roman" panose="02020603050405020304" pitchFamily="18" charset="0"/>
              </a:rPr>
              <a:t> sur des infrastructures </a:t>
            </a:r>
            <a:r>
              <a:rPr lang="fr-FR" dirty="0" err="1">
                <a:latin typeface="Times New Roman" panose="02020603050405020304" pitchFamily="18" charset="0"/>
                <a:cs typeface="Times New Roman" panose="02020603050405020304" pitchFamily="18" charset="0"/>
              </a:rPr>
              <a:t>distribuées</a:t>
            </a:r>
            <a:r>
              <a:rPr lang="fr-F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2100843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US" u="sng" dirty="0" err="1" smtClean="0">
                <a:latin typeface="Times New Roman" panose="02020603050405020304" pitchFamily="18" charset="0"/>
                <a:cs typeface="Times New Roman" panose="02020603050405020304" pitchFamily="18" charset="0"/>
              </a:rPr>
              <a:t>Exemples</a:t>
            </a:r>
            <a:r>
              <a:rPr lang="en-US" u="sng" dirty="0" smtClean="0">
                <a:latin typeface="Times New Roman" panose="02020603050405020304" pitchFamily="18" charset="0"/>
                <a:cs typeface="Times New Roman" panose="02020603050405020304" pitchFamily="18" charset="0"/>
              </a:rPr>
              <a:t> des </a:t>
            </a:r>
            <a:r>
              <a:rPr lang="en-US" u="sng" dirty="0" err="1" smtClean="0">
                <a:latin typeface="Times New Roman" panose="02020603050405020304" pitchFamily="18" charset="0"/>
                <a:cs typeface="Times New Roman" panose="02020603050405020304" pitchFamily="18" charset="0"/>
              </a:rPr>
              <a:t>Requettes</a:t>
            </a:r>
            <a:endParaRPr lang="fr-FR" u="sng"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441418" y="1268760"/>
            <a:ext cx="8451062" cy="5400600"/>
          </a:xfrm>
        </p:spPr>
        <p:txBody>
          <a:bodyPr>
            <a:normAutofit fontScale="85000" lnSpcReduction="20000"/>
          </a:bodyPr>
          <a:lstStyle/>
          <a:p>
            <a:pPr marL="0" indent="0">
              <a:buNone/>
            </a:pPr>
            <a:r>
              <a:rPr lang="fr-FR" b="1" dirty="0">
                <a:latin typeface="Times New Roman" panose="02020603050405020304" pitchFamily="18" charset="0"/>
                <a:cs typeface="Times New Roman" panose="02020603050405020304" pitchFamily="18" charset="0"/>
              </a:rPr>
              <a:t>Création de </a:t>
            </a:r>
            <a:r>
              <a:rPr lang="fr-FR" b="1" dirty="0" smtClean="0">
                <a:latin typeface="Times New Roman" panose="02020603050405020304" pitchFamily="18" charset="0"/>
                <a:cs typeface="Times New Roman" panose="02020603050405020304" pitchFamily="18" charset="0"/>
              </a:rPr>
              <a:t>nœuds: </a:t>
            </a:r>
          </a:p>
          <a:p>
            <a:pPr marL="0" indent="0">
              <a:buNone/>
            </a:pPr>
            <a:r>
              <a:rPr lang="en-US" dirty="0" smtClean="0">
                <a:latin typeface="Times New Roman" panose="02020603050405020304" pitchFamily="18" charset="0"/>
                <a:cs typeface="Times New Roman" panose="02020603050405020304" pitchFamily="18" charset="0"/>
              </a:rPr>
              <a:t>CREATE </a:t>
            </a:r>
            <a:r>
              <a:rPr lang="en-US" dirty="0">
                <a:latin typeface="Times New Roman" panose="02020603050405020304" pitchFamily="18" charset="0"/>
                <a:cs typeface="Times New Roman" panose="02020603050405020304" pitchFamily="18" charset="0"/>
              </a:rPr>
              <a:t>(:Person {name: 'Alice', age: 30</a:t>
            </a:r>
            <a:r>
              <a:rPr lang="en-US" dirty="0" smtClean="0">
                <a:latin typeface="Times New Roman" panose="02020603050405020304" pitchFamily="18" charset="0"/>
                <a:cs typeface="Times New Roman" panose="02020603050405020304" pitchFamily="18" charset="0"/>
              </a:rPr>
              <a:t>})</a:t>
            </a:r>
          </a:p>
          <a:p>
            <a:pPr marL="0" indent="0">
              <a:buNone/>
            </a:pPr>
            <a:r>
              <a:rPr lang="fr-FR" b="1" dirty="0">
                <a:latin typeface="Times New Roman" panose="02020603050405020304" pitchFamily="18" charset="0"/>
                <a:cs typeface="Times New Roman" panose="02020603050405020304" pitchFamily="18" charset="0"/>
              </a:rPr>
              <a:t>Création de </a:t>
            </a:r>
            <a:r>
              <a:rPr lang="fr-FR" b="1" dirty="0" smtClean="0">
                <a:latin typeface="Times New Roman" panose="02020603050405020304" pitchFamily="18" charset="0"/>
                <a:cs typeface="Times New Roman" panose="02020603050405020304" pitchFamily="18" charset="0"/>
              </a:rPr>
              <a:t>relations:</a:t>
            </a:r>
          </a:p>
          <a:p>
            <a:pPr marL="0" indent="0">
              <a:buNone/>
            </a:pPr>
            <a:r>
              <a:rPr lang="fr-FR"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MATCH (</a:t>
            </a:r>
            <a:r>
              <a:rPr lang="en-US" dirty="0" err="1">
                <a:latin typeface="Times New Roman" panose="02020603050405020304" pitchFamily="18" charset="0"/>
                <a:cs typeface="Times New Roman" panose="02020603050405020304" pitchFamily="18" charset="0"/>
              </a:rPr>
              <a:t>a:Person</a:t>
            </a:r>
            <a:r>
              <a:rPr lang="en-US" dirty="0">
                <a:latin typeface="Times New Roman" panose="02020603050405020304" pitchFamily="18" charset="0"/>
                <a:cs typeface="Times New Roman" panose="02020603050405020304" pitchFamily="18" charset="0"/>
              </a:rPr>
              <a:t> {name: 'Alice'}), (</a:t>
            </a:r>
            <a:r>
              <a:rPr lang="en-US" dirty="0" err="1">
                <a:latin typeface="Times New Roman" panose="02020603050405020304" pitchFamily="18" charset="0"/>
                <a:cs typeface="Times New Roman" panose="02020603050405020304" pitchFamily="18" charset="0"/>
              </a:rPr>
              <a:t>b:Person</a:t>
            </a:r>
            <a:r>
              <a:rPr lang="en-US" dirty="0">
                <a:latin typeface="Times New Roman" panose="02020603050405020304" pitchFamily="18" charset="0"/>
                <a:cs typeface="Times New Roman" panose="02020603050405020304" pitchFamily="18" charset="0"/>
              </a:rPr>
              <a:t> {name: 'Bob'})</a:t>
            </a:r>
          </a:p>
          <a:p>
            <a:pPr marL="0" indent="0">
              <a:buNone/>
            </a:pPr>
            <a:r>
              <a:rPr lang="en-US" dirty="0">
                <a:latin typeface="Times New Roman" panose="02020603050405020304" pitchFamily="18" charset="0"/>
                <a:cs typeface="Times New Roman" panose="02020603050405020304" pitchFamily="18" charset="0"/>
              </a:rPr>
              <a:t>CREATE (a)-[:FRIEND]-&gt;(b)</a:t>
            </a:r>
          </a:p>
          <a:p>
            <a:pPr marL="0" indent="0">
              <a:buNone/>
            </a:pPr>
            <a:r>
              <a:rPr lang="fr-FR" b="1" dirty="0">
                <a:latin typeface="Times New Roman" panose="02020603050405020304" pitchFamily="18" charset="0"/>
                <a:cs typeface="Times New Roman" panose="02020603050405020304" pitchFamily="18" charset="0"/>
              </a:rPr>
              <a:t>Recherche de nœuds</a:t>
            </a:r>
            <a:r>
              <a:rPr lang="fr-FR" b="1" dirty="0" smtClean="0">
                <a:latin typeface="Times New Roman" panose="02020603050405020304" pitchFamily="18" charset="0"/>
                <a:cs typeface="Times New Roman" panose="02020603050405020304" pitchFamily="18" charset="0"/>
              </a:rPr>
              <a:t>:</a:t>
            </a:r>
          </a:p>
          <a:p>
            <a:pPr marL="0" indent="0">
              <a:buNone/>
            </a:pPr>
            <a:r>
              <a:rPr lang="fr-FR"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MATCH (</a:t>
            </a:r>
            <a:r>
              <a:rPr lang="fr-FR" dirty="0" err="1">
                <a:latin typeface="Times New Roman" panose="02020603050405020304" pitchFamily="18" charset="0"/>
                <a:cs typeface="Times New Roman" panose="02020603050405020304" pitchFamily="18" charset="0"/>
              </a:rPr>
              <a:t>p:Person</a:t>
            </a:r>
            <a:r>
              <a:rPr lang="fr-FR" dirty="0">
                <a:latin typeface="Times New Roman" panose="02020603050405020304" pitchFamily="18" charset="0"/>
                <a:cs typeface="Times New Roman" panose="02020603050405020304" pitchFamily="18" charset="0"/>
              </a:rPr>
              <a:t>) RETURN p</a:t>
            </a:r>
          </a:p>
          <a:p>
            <a:pPr marL="0" indent="0">
              <a:buNone/>
            </a:pPr>
            <a:r>
              <a:rPr lang="fr-FR" b="1" dirty="0">
                <a:latin typeface="Times New Roman" panose="02020603050405020304" pitchFamily="18" charset="0"/>
                <a:cs typeface="Times New Roman" panose="02020603050405020304" pitchFamily="18" charset="0"/>
              </a:rPr>
              <a:t>Recherche avec </a:t>
            </a:r>
            <a:r>
              <a:rPr lang="fr-FR" b="1" dirty="0" smtClean="0">
                <a:latin typeface="Times New Roman" panose="02020603050405020304" pitchFamily="18" charset="0"/>
                <a:cs typeface="Times New Roman" panose="02020603050405020304" pitchFamily="18" charset="0"/>
              </a:rPr>
              <a:t>condition:</a:t>
            </a:r>
          </a:p>
          <a:p>
            <a:pPr marL="0" indent="0">
              <a:buNone/>
            </a:pPr>
            <a:r>
              <a:rPr lang="fr-FR"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MATCH (</a:t>
            </a:r>
            <a:r>
              <a:rPr lang="en-US" dirty="0" err="1">
                <a:latin typeface="Times New Roman" panose="02020603050405020304" pitchFamily="18" charset="0"/>
                <a:cs typeface="Times New Roman" panose="02020603050405020304" pitchFamily="18" charset="0"/>
              </a:rPr>
              <a:t>p:Person</a:t>
            </a:r>
            <a:r>
              <a:rPr lang="en-US" dirty="0">
                <a:latin typeface="Times New Roman" panose="02020603050405020304" pitchFamily="18" charset="0"/>
                <a:cs typeface="Times New Roman" panose="02020603050405020304" pitchFamily="18" charset="0"/>
              </a:rPr>
              <a:t> {name: 'Alice'}) RETURN p</a:t>
            </a:r>
          </a:p>
          <a:p>
            <a:pPr marL="0" indent="0">
              <a:buNone/>
            </a:pPr>
            <a:r>
              <a:rPr lang="fr-FR" b="1" dirty="0">
                <a:latin typeface="Times New Roman" panose="02020603050405020304" pitchFamily="18" charset="0"/>
                <a:cs typeface="Times New Roman" panose="02020603050405020304" pitchFamily="18" charset="0"/>
              </a:rPr>
              <a:t>Mise à jour des </a:t>
            </a:r>
            <a:r>
              <a:rPr lang="fr-FR" b="1" dirty="0" smtClean="0">
                <a:latin typeface="Times New Roman" panose="02020603050405020304" pitchFamily="18" charset="0"/>
                <a:cs typeface="Times New Roman" panose="02020603050405020304" pitchFamily="18" charset="0"/>
              </a:rPr>
              <a:t>propriétés: </a:t>
            </a:r>
          </a:p>
          <a:p>
            <a:pPr marL="0" indent="0">
              <a:buNone/>
            </a:pPr>
            <a:r>
              <a:rPr lang="en-US" dirty="0" smtClean="0">
                <a:latin typeface="Times New Roman" panose="02020603050405020304" pitchFamily="18" charset="0"/>
                <a:cs typeface="Times New Roman" panose="02020603050405020304" pitchFamily="18" charset="0"/>
              </a:rPr>
              <a:t>MATCH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p:Person</a:t>
            </a:r>
            <a:r>
              <a:rPr lang="en-US" dirty="0">
                <a:latin typeface="Times New Roman" panose="02020603050405020304" pitchFamily="18" charset="0"/>
                <a:cs typeface="Times New Roman" panose="02020603050405020304" pitchFamily="18" charset="0"/>
              </a:rPr>
              <a:t> {name: 'Alice'})</a:t>
            </a:r>
          </a:p>
          <a:p>
            <a:pPr marL="0" indent="0">
              <a:buNone/>
            </a:pPr>
            <a:r>
              <a:rPr lang="en-US" dirty="0">
                <a:latin typeface="Times New Roman" panose="02020603050405020304" pitchFamily="18" charset="0"/>
                <a:cs typeface="Times New Roman" panose="02020603050405020304" pitchFamily="18" charset="0"/>
              </a:rPr>
              <a:t>SET </a:t>
            </a:r>
            <a:r>
              <a:rPr lang="en-US" dirty="0" err="1">
                <a:latin typeface="Times New Roman" panose="02020603050405020304" pitchFamily="18" charset="0"/>
                <a:cs typeface="Times New Roman" panose="02020603050405020304" pitchFamily="18" charset="0"/>
              </a:rPr>
              <a:t>p.age</a:t>
            </a:r>
            <a:r>
              <a:rPr lang="en-US" dirty="0">
                <a:latin typeface="Times New Roman" panose="02020603050405020304" pitchFamily="18" charset="0"/>
                <a:cs typeface="Times New Roman" panose="02020603050405020304" pitchFamily="18" charset="0"/>
              </a:rPr>
              <a:t> = </a:t>
            </a:r>
            <a:r>
              <a:rPr lang="en-US" dirty="0" smtClean="0">
                <a:latin typeface="Times New Roman" panose="02020603050405020304" pitchFamily="18" charset="0"/>
                <a:cs typeface="Times New Roman" panose="02020603050405020304" pitchFamily="18" charset="0"/>
              </a:rPr>
              <a:t>31</a:t>
            </a:r>
          </a:p>
          <a:p>
            <a:pPr marL="0" indent="0">
              <a:buNone/>
            </a:pPr>
            <a:endParaRPr lang="fr-FR" dirty="0" smtClean="0"/>
          </a:p>
          <a:p>
            <a:pPr marL="0" indent="0">
              <a:buNone/>
            </a:pPr>
            <a:endParaRPr lang="fr-FR" dirty="0"/>
          </a:p>
          <a:p>
            <a:pPr marL="0" indent="0">
              <a:buNone/>
            </a:pPr>
            <a:endParaRPr lang="fr-FR" dirty="0"/>
          </a:p>
          <a:p>
            <a:pPr marL="0" indent="0">
              <a:buNone/>
            </a:pPr>
            <a:endParaRPr lang="en-US" dirty="0"/>
          </a:p>
          <a:p>
            <a:pPr marL="0" indent="0">
              <a:buNone/>
            </a:pPr>
            <a:endParaRPr lang="fr-FR" dirty="0"/>
          </a:p>
        </p:txBody>
      </p:sp>
    </p:spTree>
    <p:extLst>
      <p:ext uri="{BB962C8B-B14F-4D97-AF65-F5344CB8AC3E}">
        <p14:creationId xmlns:p14="http://schemas.microsoft.com/office/powerpoint/2010/main" val="259225062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1393" y="116632"/>
            <a:ext cx="8973351" cy="5884118"/>
          </a:xfrm>
        </p:spPr>
        <p:txBody>
          <a:bodyPr>
            <a:normAutofit fontScale="92500" lnSpcReduction="10000"/>
          </a:bodyPr>
          <a:lstStyle/>
          <a:p>
            <a:pPr marL="0" indent="0">
              <a:buNone/>
            </a:pPr>
            <a:r>
              <a:rPr lang="fr-FR" b="1" dirty="0">
                <a:latin typeface="Times New Roman" panose="02020603050405020304" pitchFamily="18" charset="0"/>
                <a:cs typeface="Times New Roman" panose="02020603050405020304" pitchFamily="18" charset="0"/>
              </a:rPr>
              <a:t>Suppression de relations: </a:t>
            </a:r>
            <a:endParaRPr lang="fr-FR" b="1"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MATCH </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a:Person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 'Alice'})-[</a:t>
            </a:r>
            <a:r>
              <a:rPr lang="fr-FR" dirty="0" err="1">
                <a:latin typeface="Times New Roman" panose="02020603050405020304" pitchFamily="18" charset="0"/>
                <a:cs typeface="Times New Roman" panose="02020603050405020304" pitchFamily="18" charset="0"/>
              </a:rPr>
              <a:t>r:FRIEND</a:t>
            </a:r>
            <a:r>
              <a:rPr lang="fr-FR" dirty="0">
                <a:latin typeface="Times New Roman" panose="02020603050405020304" pitchFamily="18" charset="0"/>
                <a:cs typeface="Times New Roman" panose="02020603050405020304" pitchFamily="18" charset="0"/>
              </a:rPr>
              <a:t>]-&gt;(</a:t>
            </a:r>
            <a:r>
              <a:rPr lang="fr-FR" dirty="0" err="1">
                <a:latin typeface="Times New Roman" panose="02020603050405020304" pitchFamily="18" charset="0"/>
                <a:cs typeface="Times New Roman" panose="02020603050405020304" pitchFamily="18" charset="0"/>
              </a:rPr>
              <a:t>b:Person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 'Bob'})</a:t>
            </a:r>
          </a:p>
          <a:p>
            <a:pPr marL="0" indent="0">
              <a:buNone/>
            </a:pPr>
            <a:r>
              <a:rPr lang="fr-FR" dirty="0">
                <a:latin typeface="Times New Roman" panose="02020603050405020304" pitchFamily="18" charset="0"/>
                <a:cs typeface="Times New Roman" panose="02020603050405020304" pitchFamily="18" charset="0"/>
              </a:rPr>
              <a:t>DELETE r</a:t>
            </a:r>
          </a:p>
          <a:p>
            <a:pPr marL="0" indent="0">
              <a:buNone/>
            </a:pPr>
            <a:r>
              <a:rPr lang="fr-FR" b="1" dirty="0">
                <a:latin typeface="Times New Roman" panose="02020603050405020304" pitchFamily="18" charset="0"/>
                <a:cs typeface="Times New Roman" panose="02020603050405020304" pitchFamily="18" charset="0"/>
              </a:rPr>
              <a:t>Création d'un index</a:t>
            </a:r>
            <a:r>
              <a:rPr lang="fr-FR" b="1"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CREATE INDEX FOR (</a:t>
            </a:r>
            <a:r>
              <a:rPr lang="en-US" dirty="0" err="1">
                <a:latin typeface="Times New Roman" panose="02020603050405020304" pitchFamily="18" charset="0"/>
                <a:cs typeface="Times New Roman" panose="02020603050405020304" pitchFamily="18" charset="0"/>
              </a:rPr>
              <a:t>p:Person</a:t>
            </a:r>
            <a:r>
              <a:rPr lang="en-US" dirty="0">
                <a:latin typeface="Times New Roman" panose="02020603050405020304" pitchFamily="18" charset="0"/>
                <a:cs typeface="Times New Roman" panose="02020603050405020304" pitchFamily="18" charset="0"/>
              </a:rPr>
              <a:t>) ON (p.name)</a:t>
            </a:r>
          </a:p>
          <a:p>
            <a:pPr marL="0" indent="0">
              <a:buNone/>
            </a:pPr>
            <a:r>
              <a:rPr lang="fr-FR" b="1" dirty="0">
                <a:latin typeface="Times New Roman" panose="02020603050405020304" pitchFamily="18" charset="0"/>
                <a:cs typeface="Times New Roman" panose="02020603050405020304" pitchFamily="18" charset="0"/>
              </a:rPr>
              <a:t>Requête avec tri</a:t>
            </a:r>
            <a:r>
              <a:rPr lang="fr-FR" b="1"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MATCH (</a:t>
            </a:r>
            <a:r>
              <a:rPr lang="en-US" dirty="0" err="1" smtClean="0">
                <a:latin typeface="Times New Roman" panose="02020603050405020304" pitchFamily="18" charset="0"/>
                <a:cs typeface="Times New Roman" panose="02020603050405020304" pitchFamily="18" charset="0"/>
              </a:rPr>
              <a:t>p:Person</a:t>
            </a:r>
            <a:r>
              <a:rPr lang="en-US" dirty="0" smtClean="0">
                <a:latin typeface="Times New Roman" panose="02020603050405020304" pitchFamily="18" charset="0"/>
                <a:cs typeface="Times New Roman" panose="02020603050405020304" pitchFamily="18" charset="0"/>
              </a:rPr>
              <a:t>)  RETURN </a:t>
            </a:r>
            <a:r>
              <a:rPr lang="en-US" dirty="0">
                <a:latin typeface="Times New Roman" panose="02020603050405020304" pitchFamily="18" charset="0"/>
                <a:cs typeface="Times New Roman" panose="02020603050405020304" pitchFamily="18" charset="0"/>
              </a:rPr>
              <a:t>p.name, </a:t>
            </a:r>
            <a:r>
              <a:rPr lang="en-US" dirty="0" err="1">
                <a:latin typeface="Times New Roman" panose="02020603050405020304" pitchFamily="18" charset="0"/>
                <a:cs typeface="Times New Roman" panose="02020603050405020304" pitchFamily="18" charset="0"/>
              </a:rPr>
              <a:t>p.age</a:t>
            </a:r>
            <a:r>
              <a:rPr lang="en-US" dirty="0">
                <a:latin typeface="Times New Roman" panose="02020603050405020304" pitchFamily="18" charset="0"/>
                <a:cs typeface="Times New Roman" panose="02020603050405020304" pitchFamily="18" charset="0"/>
              </a:rPr>
              <a:t> ORDER BY </a:t>
            </a:r>
            <a:r>
              <a:rPr lang="en-US" dirty="0" err="1">
                <a:latin typeface="Times New Roman" panose="02020603050405020304" pitchFamily="18" charset="0"/>
                <a:cs typeface="Times New Roman" panose="02020603050405020304" pitchFamily="18" charset="0"/>
              </a:rPr>
              <a:t>p.age</a:t>
            </a:r>
            <a:r>
              <a:rPr lang="en-US" dirty="0">
                <a:latin typeface="Times New Roman" panose="02020603050405020304" pitchFamily="18" charset="0"/>
                <a:cs typeface="Times New Roman" panose="02020603050405020304" pitchFamily="18" charset="0"/>
              </a:rPr>
              <a:t> DESC</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fr-FR" b="1" dirty="0">
                <a:latin typeface="Times New Roman" panose="02020603050405020304" pitchFamily="18" charset="0"/>
                <a:cs typeface="Times New Roman" panose="02020603050405020304" pitchFamily="18" charset="0"/>
              </a:rPr>
              <a:t>Compter les nœuds</a:t>
            </a:r>
            <a:r>
              <a:rPr lang="fr-FR" b="1"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MATCH (</a:t>
            </a:r>
            <a:r>
              <a:rPr lang="fr-FR" dirty="0" err="1">
                <a:latin typeface="Times New Roman" panose="02020603050405020304" pitchFamily="18" charset="0"/>
                <a:cs typeface="Times New Roman" panose="02020603050405020304" pitchFamily="18" charset="0"/>
              </a:rPr>
              <a:t>p:Person</a:t>
            </a:r>
            <a:r>
              <a:rPr lang="fr-FR" dirty="0">
                <a:latin typeface="Times New Roman" panose="02020603050405020304" pitchFamily="18" charset="0"/>
                <a:cs typeface="Times New Roman" panose="02020603050405020304" pitchFamily="18" charset="0"/>
              </a:rPr>
              <a:t>) RETURN count(p)</a:t>
            </a:r>
          </a:p>
        </p:txBody>
      </p:sp>
    </p:spTree>
    <p:extLst>
      <p:ext uri="{BB962C8B-B14F-4D97-AF65-F5344CB8AC3E}">
        <p14:creationId xmlns:p14="http://schemas.microsoft.com/office/powerpoint/2010/main" val="173915196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2393" y="188640"/>
            <a:ext cx="8854103" cy="6441315"/>
          </a:xfrm>
        </p:spPr>
        <p:txBody>
          <a:bodyPr>
            <a:normAutofit fontScale="85000" lnSpcReduction="10000"/>
          </a:bodyPr>
          <a:lstStyle/>
          <a:p>
            <a:pPr marL="0" indent="0">
              <a:buNone/>
            </a:pPr>
            <a:r>
              <a:rPr lang="fr-FR" dirty="0" smtClean="0">
                <a:latin typeface="Times New Roman" panose="02020603050405020304" pitchFamily="18" charset="0"/>
                <a:cs typeface="Times New Roman" panose="02020603050405020304" pitchFamily="18" charset="0"/>
              </a:rPr>
              <a:t>Neo4j </a:t>
            </a:r>
            <a:r>
              <a:rPr lang="fr-FR" dirty="0">
                <a:latin typeface="Times New Roman" panose="02020603050405020304" pitchFamily="18" charset="0"/>
                <a:cs typeface="Times New Roman" panose="02020603050405020304" pitchFamily="18" charset="0"/>
              </a:rPr>
              <a:t>se distingue comme une base de données graphique puissante et flexible, spécialement </a:t>
            </a:r>
            <a:endParaRPr lang="fr-FR"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conçue </a:t>
            </a:r>
            <a:r>
              <a:rPr lang="fr-FR" dirty="0">
                <a:latin typeface="Times New Roman" panose="02020603050405020304" pitchFamily="18" charset="0"/>
                <a:cs typeface="Times New Roman" panose="02020603050405020304" pitchFamily="18" charset="0"/>
              </a:rPr>
              <a:t>pour gérer des données interconnectées et effectuer des analyses </a:t>
            </a:r>
            <a:r>
              <a:rPr lang="fr-FR" dirty="0" smtClean="0">
                <a:latin typeface="Times New Roman" panose="02020603050405020304" pitchFamily="18" charset="0"/>
                <a:cs typeface="Times New Roman" panose="02020603050405020304" pitchFamily="18" charset="0"/>
              </a:rPr>
              <a:t>complexes  </a:t>
            </a:r>
            <a:r>
              <a:rPr lang="fr-FR" dirty="0">
                <a:latin typeface="Times New Roman" panose="02020603050405020304" pitchFamily="18" charset="0"/>
                <a:cs typeface="Times New Roman" panose="02020603050405020304" pitchFamily="18" charset="0"/>
              </a:rPr>
              <a:t>sur les relations entre les entités. Grâce à son modèle de données basé sur les graphes et </a:t>
            </a:r>
            <a:r>
              <a:rPr lang="fr-FR" dirty="0" smtClean="0">
                <a:latin typeface="Times New Roman" panose="02020603050405020304" pitchFamily="18" charset="0"/>
                <a:cs typeface="Times New Roman" panose="02020603050405020304" pitchFamily="18" charset="0"/>
              </a:rPr>
              <a:t> son </a:t>
            </a:r>
            <a:r>
              <a:rPr lang="fr-FR" dirty="0">
                <a:latin typeface="Times New Roman" panose="02020603050405020304" pitchFamily="18" charset="0"/>
                <a:cs typeface="Times New Roman" panose="02020603050405020304" pitchFamily="18" charset="0"/>
              </a:rPr>
              <a:t>langage de requête </a:t>
            </a:r>
            <a:r>
              <a:rPr lang="fr-FR" dirty="0" err="1">
                <a:latin typeface="Times New Roman" panose="02020603050405020304" pitchFamily="18" charset="0"/>
                <a:cs typeface="Times New Roman" panose="02020603050405020304" pitchFamily="18" charset="0"/>
              </a:rPr>
              <a:t>Cypher</a:t>
            </a:r>
            <a:r>
              <a:rPr lang="fr-FR" dirty="0">
                <a:latin typeface="Times New Roman" panose="02020603050405020304" pitchFamily="18" charset="0"/>
                <a:cs typeface="Times New Roman" panose="02020603050405020304" pitchFamily="18" charset="0"/>
              </a:rPr>
              <a:t>, Neo4j offre des performances exceptionnelles pour des cas </a:t>
            </a:r>
            <a:endParaRPr lang="fr-FR" dirty="0" smtClean="0">
              <a:latin typeface="Times New Roman" panose="02020603050405020304" pitchFamily="18" charset="0"/>
              <a:cs typeface="Times New Roman" panose="02020603050405020304" pitchFamily="18" charset="0"/>
            </a:endParaRPr>
          </a:p>
          <a:p>
            <a:pPr marL="0" indent="0">
              <a:buNone/>
            </a:pPr>
            <a:r>
              <a:rPr lang="fr-FR" dirty="0" smtClean="0">
                <a:latin typeface="Times New Roman" panose="02020603050405020304" pitchFamily="18" charset="0"/>
                <a:cs typeface="Times New Roman" panose="02020603050405020304" pitchFamily="18" charset="0"/>
              </a:rPr>
              <a:t>d’utilisation </a:t>
            </a:r>
            <a:r>
              <a:rPr lang="fr-FR" dirty="0">
                <a:latin typeface="Times New Roman" panose="02020603050405020304" pitchFamily="18" charset="0"/>
                <a:cs typeface="Times New Roman" panose="02020603050405020304" pitchFamily="18" charset="0"/>
              </a:rPr>
              <a:t>tels que l’analyse de réseaux sociaux, les systèmes de recommandation, et la détection de fraudes</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Son efficacité pour explorer des relations profondes et complexes le rend idéal pour </a:t>
            </a:r>
            <a:r>
              <a:rPr lang="fr-FR" dirty="0" smtClean="0">
                <a:latin typeface="Times New Roman" panose="02020603050405020304" pitchFamily="18" charset="0"/>
                <a:cs typeface="Times New Roman" panose="02020603050405020304" pitchFamily="18" charset="0"/>
              </a:rPr>
              <a:t>des  </a:t>
            </a:r>
            <a:r>
              <a:rPr lang="fr-FR" dirty="0">
                <a:latin typeface="Times New Roman" panose="02020603050405020304" pitchFamily="18" charset="0"/>
                <a:cs typeface="Times New Roman" panose="02020603050405020304" pitchFamily="18" charset="0"/>
              </a:rPr>
              <a:t>applications nécessitant une compréhension approfondie des connexions entre les données</a:t>
            </a:r>
            <a:r>
              <a:rPr lang="fr-FR" dirty="0" smtClean="0">
                <a:latin typeface="Times New Roman" panose="02020603050405020304" pitchFamily="18" charset="0"/>
                <a:cs typeface="Times New Roman" panose="02020603050405020304" pitchFamily="18" charset="0"/>
              </a:rPr>
              <a:t>.</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Avec sa </a:t>
            </a:r>
            <a:r>
              <a:rPr lang="fr-FR" dirty="0" err="1">
                <a:latin typeface="Times New Roman" panose="02020603050405020304" pitchFamily="18" charset="0"/>
                <a:cs typeface="Times New Roman" panose="02020603050405020304" pitchFamily="18" charset="0"/>
              </a:rPr>
              <a:t>scalabilité</a:t>
            </a:r>
            <a:r>
              <a:rPr lang="fr-FR" dirty="0">
                <a:latin typeface="Times New Roman" panose="02020603050405020304" pitchFamily="18" charset="0"/>
                <a:cs typeface="Times New Roman" panose="02020603050405020304" pitchFamily="18" charset="0"/>
              </a:rPr>
              <a:t> et sa capacité à évoluer, Neo4j est un </a:t>
            </a:r>
            <a:r>
              <a:rPr lang="fr-FR">
                <a:latin typeface="Times New Roman" panose="02020603050405020304" pitchFamily="18" charset="0"/>
                <a:cs typeface="Times New Roman" panose="02020603050405020304" pitchFamily="18" charset="0"/>
              </a:rPr>
              <a:t>choix </a:t>
            </a:r>
            <a:r>
              <a:rPr lang="fr-FR" smtClean="0">
                <a:latin typeface="Times New Roman" panose="02020603050405020304" pitchFamily="18" charset="0"/>
                <a:cs typeface="Times New Roman" panose="02020603050405020304" pitchFamily="18" charset="0"/>
              </a:rPr>
              <a:t>incontournable  </a:t>
            </a:r>
            <a:r>
              <a:rPr lang="fr-FR" dirty="0">
                <a:latin typeface="Times New Roman" panose="02020603050405020304" pitchFamily="18" charset="0"/>
                <a:cs typeface="Times New Roman" panose="02020603050405020304" pitchFamily="18" charset="0"/>
              </a:rPr>
              <a:t>pour les entreprises et développeurs qui cherchent à exploiter la puissance des </a:t>
            </a:r>
            <a:r>
              <a:rPr lang="fr-FR" dirty="0" smtClean="0">
                <a:latin typeface="Times New Roman" panose="02020603050405020304" pitchFamily="18" charset="0"/>
                <a:cs typeface="Times New Roman" panose="02020603050405020304" pitchFamily="18" charset="0"/>
              </a:rPr>
              <a:t>graphes</a:t>
            </a:r>
          </a:p>
          <a:p>
            <a:pPr marL="0" indent="0">
              <a:buNone/>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pour résoudre des problèmes de données </a:t>
            </a:r>
            <a:r>
              <a:rPr lang="fr-FR" dirty="0" smtClean="0">
                <a:latin typeface="Times New Roman" panose="02020603050405020304" pitchFamily="18" charset="0"/>
                <a:cs typeface="Times New Roman" panose="02020603050405020304" pitchFamily="18" charset="0"/>
              </a:rPr>
              <a:t>complexes</a:t>
            </a:r>
          </a:p>
          <a:p>
            <a:pPr marL="0" indent="0">
              <a:buNone/>
            </a:pPr>
            <a:endParaRPr lang="fr-FR" dirty="0">
              <a:latin typeface="Times New Roman" panose="02020603050405020304" pitchFamily="18" charset="0"/>
              <a:cs typeface="Times New Roman" panose="02020603050405020304" pitchFamily="18" charset="0"/>
            </a:endParaRPr>
          </a:p>
          <a:p>
            <a:pPr marL="0" indent="0">
              <a:buNone/>
            </a:pP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418627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79712" y="332656"/>
            <a:ext cx="6624736" cy="581297"/>
          </a:xfrm>
        </p:spPr>
        <p:txBody>
          <a:bodyPr>
            <a:normAutofit fontScale="90000"/>
          </a:bodyPr>
          <a:lstStyle/>
          <a:p>
            <a:pPr algn="ctr"/>
            <a:r>
              <a:rPr lang="fr-FR" dirty="0"/>
              <a:t>Présentation de Firebase</a:t>
            </a:r>
          </a:p>
        </p:txBody>
      </p:sp>
      <p:sp>
        <p:nvSpPr>
          <p:cNvPr id="3" name="Espace réservé du contenu 2"/>
          <p:cNvSpPr>
            <a:spLocks noGrp="1"/>
          </p:cNvSpPr>
          <p:nvPr>
            <p:ph idx="1"/>
          </p:nvPr>
        </p:nvSpPr>
        <p:spPr>
          <a:xfrm>
            <a:off x="0" y="913952"/>
            <a:ext cx="8921931" cy="5611391"/>
          </a:xfrm>
        </p:spPr>
        <p:txBody>
          <a:bodyPr>
            <a:normAutofit fontScale="85000" lnSpcReduction="20000"/>
          </a:bodyPr>
          <a:lstStyle/>
          <a:p>
            <a:pPr marL="0" indent="0" algn="just">
              <a:buNone/>
            </a:pPr>
            <a:r>
              <a:rPr lang="fr-FR" sz="2600" dirty="0"/>
              <a:t>Firebase est une plateforme de développement d’applications qui fournit une gamme complète d’outils pour aider les développeurs à créer des applications performantes et évolutives. Racheté par Google en 2014, Firebase s’est imposé comme une solution incontournable, notamment grâce à ses services de </a:t>
            </a:r>
            <a:r>
              <a:rPr lang="fr-FR" sz="2600" b="1" dirty="0"/>
              <a:t>base de données, d’authentification, d’hébergement, de notifications push et d’analyse des performances</a:t>
            </a:r>
            <a:r>
              <a:rPr lang="fr-FR" sz="2600" dirty="0"/>
              <a:t>.</a:t>
            </a:r>
          </a:p>
          <a:p>
            <a:pPr marL="0" indent="0" algn="just">
              <a:buNone/>
            </a:pPr>
            <a:r>
              <a:rPr lang="fr-FR" sz="2600" dirty="0"/>
              <a:t>Parmi ses principaux composants, on retrouve :</a:t>
            </a:r>
          </a:p>
          <a:p>
            <a:pPr algn="just"/>
            <a:r>
              <a:rPr lang="fr-FR" sz="2600" b="1" dirty="0"/>
              <a:t>Firebase </a:t>
            </a:r>
            <a:r>
              <a:rPr lang="fr-FR" sz="2600" b="1" dirty="0" err="1"/>
              <a:t>Authentication</a:t>
            </a:r>
            <a:r>
              <a:rPr lang="fr-FR" sz="2600" dirty="0"/>
              <a:t> : un service d’authentification permettant de gérer les utilisateurs via des comptes Google, Facebook, Twitter, email, etc.</a:t>
            </a:r>
          </a:p>
          <a:p>
            <a:pPr algn="just"/>
            <a:r>
              <a:rPr lang="fr-FR" sz="2600" b="1" dirty="0"/>
              <a:t>Cloud Firestore et Firebase </a:t>
            </a:r>
            <a:r>
              <a:rPr lang="fr-FR" sz="2600" b="1" dirty="0" err="1"/>
              <a:t>Realtime</a:t>
            </a:r>
            <a:r>
              <a:rPr lang="fr-FR" sz="2600" b="1" dirty="0"/>
              <a:t> </a:t>
            </a:r>
            <a:r>
              <a:rPr lang="fr-FR" sz="2600" b="1" dirty="0" err="1"/>
              <a:t>Database</a:t>
            </a:r>
            <a:r>
              <a:rPr lang="fr-FR" sz="2600" dirty="0"/>
              <a:t> : des solutions de base de données </a:t>
            </a:r>
            <a:r>
              <a:rPr lang="fr-FR" sz="2600" dirty="0" err="1"/>
              <a:t>NoSQL</a:t>
            </a:r>
            <a:r>
              <a:rPr lang="fr-FR" sz="2600" dirty="0"/>
              <a:t> pour stocker et synchroniser des données.</a:t>
            </a:r>
          </a:p>
          <a:p>
            <a:pPr algn="just"/>
            <a:r>
              <a:rPr lang="fr-FR" sz="2600" b="1" dirty="0"/>
              <a:t>Firebase </a:t>
            </a:r>
            <a:r>
              <a:rPr lang="fr-FR" sz="2600" b="1" dirty="0" err="1"/>
              <a:t>Hosting</a:t>
            </a:r>
            <a:r>
              <a:rPr lang="fr-FR" sz="2600" dirty="0"/>
              <a:t> : un service d’hébergement pour les applications web.</a:t>
            </a:r>
          </a:p>
          <a:p>
            <a:pPr algn="just"/>
            <a:r>
              <a:rPr lang="fr-FR" sz="2600" b="1" dirty="0"/>
              <a:t>Firebase Cloud </a:t>
            </a:r>
            <a:r>
              <a:rPr lang="fr-FR" sz="2600" b="1" dirty="0" err="1"/>
              <a:t>Functions</a:t>
            </a:r>
            <a:r>
              <a:rPr lang="fr-FR" sz="2600" dirty="0"/>
              <a:t> : une plateforme </a:t>
            </a:r>
            <a:r>
              <a:rPr lang="fr-FR" sz="2600" dirty="0" err="1"/>
              <a:t>serverless</a:t>
            </a:r>
            <a:r>
              <a:rPr lang="fr-FR" sz="2600" dirty="0"/>
              <a:t> pour exécuter du code </a:t>
            </a:r>
            <a:r>
              <a:rPr lang="fr-FR" sz="2600" dirty="0" err="1"/>
              <a:t>backend</a:t>
            </a:r>
            <a:r>
              <a:rPr lang="fr-FR" sz="2600" dirty="0"/>
              <a:t> en réponse à des événements déclenchés par Firebase.</a:t>
            </a:r>
          </a:p>
          <a:p>
            <a:pPr algn="just"/>
            <a:r>
              <a:rPr lang="fr-FR" sz="2600" b="1" dirty="0"/>
              <a:t>Firebase Cloud Messaging (FCM)</a:t>
            </a:r>
            <a:r>
              <a:rPr lang="fr-FR" sz="2600" dirty="0"/>
              <a:t> : un service permettant l’envoi de notifications push sur Android, iOS et le web.</a:t>
            </a:r>
          </a:p>
          <a:p>
            <a:pPr marL="0" indent="0">
              <a:buNone/>
            </a:pPr>
            <a:endParaRPr lang="fr-FR" dirty="0"/>
          </a:p>
        </p:txBody>
      </p:sp>
    </p:spTree>
    <p:extLst>
      <p:ext uri="{BB962C8B-B14F-4D97-AF65-F5344CB8AC3E}">
        <p14:creationId xmlns:p14="http://schemas.microsoft.com/office/powerpoint/2010/main" val="5430965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39752" y="260648"/>
            <a:ext cx="6192688" cy="568235"/>
          </a:xfrm>
        </p:spPr>
        <p:txBody>
          <a:bodyPr>
            <a:normAutofit fontScale="90000"/>
          </a:bodyPr>
          <a:lstStyle/>
          <a:p>
            <a:r>
              <a:rPr lang="fr-FR" dirty="0"/>
              <a:t>Présentation de Firebase</a:t>
            </a:r>
          </a:p>
        </p:txBody>
      </p:sp>
      <p:sp>
        <p:nvSpPr>
          <p:cNvPr id="3" name="Espace réservé du contenu 2"/>
          <p:cNvSpPr>
            <a:spLocks noGrp="1"/>
          </p:cNvSpPr>
          <p:nvPr>
            <p:ph idx="1"/>
          </p:nvPr>
        </p:nvSpPr>
        <p:spPr>
          <a:xfrm>
            <a:off x="107504" y="980728"/>
            <a:ext cx="8814427" cy="4840408"/>
          </a:xfrm>
        </p:spPr>
        <p:txBody>
          <a:bodyPr>
            <a:noAutofit/>
          </a:bodyPr>
          <a:lstStyle/>
          <a:p>
            <a:pPr marL="0" indent="0" algn="just">
              <a:buNone/>
            </a:pPr>
            <a:r>
              <a:rPr lang="fr-FR" sz="2800" dirty="0"/>
              <a:t>Dans son livre </a:t>
            </a:r>
            <a:r>
              <a:rPr lang="fr-FR" sz="2800" i="1" dirty="0"/>
              <a:t>Building Applications </a:t>
            </a:r>
            <a:r>
              <a:rPr lang="fr-FR" sz="2800" i="1" dirty="0" err="1"/>
              <a:t>with</a:t>
            </a:r>
            <a:r>
              <a:rPr lang="fr-FR" sz="2800" i="1" dirty="0"/>
              <a:t> Firebase</a:t>
            </a:r>
            <a:r>
              <a:rPr lang="fr-FR" sz="2800" dirty="0"/>
              <a:t>, Raj V. Patel explique :</a:t>
            </a:r>
          </a:p>
          <a:p>
            <a:pPr marL="0" indent="0" algn="just">
              <a:buNone/>
            </a:pPr>
            <a:r>
              <a:rPr lang="fr-FR" sz="2800" dirty="0"/>
              <a:t>« Firebase n'est pas simplement une base de données, c'est un écosystème complet qui réduit la complexité du développement d’applications en fournissant une infrastructure entièrement managée. »</a:t>
            </a:r>
          </a:p>
          <a:p>
            <a:pPr marL="0" indent="0" algn="just">
              <a:buNone/>
            </a:pPr>
            <a:endParaRPr lang="fr-BE" sz="2800" dirty="0"/>
          </a:p>
          <a:p>
            <a:pPr marL="0" indent="0" algn="just">
              <a:buNone/>
            </a:pPr>
            <a:r>
              <a:rPr lang="fr-FR" sz="2800" dirty="0"/>
              <a:t>Firebase est particulièrement apprécié pour sa simplicité de mise en œuvre et son intégration native avec l’écosystème Google et Android.</a:t>
            </a:r>
          </a:p>
        </p:txBody>
      </p:sp>
    </p:spTree>
    <p:extLst>
      <p:ext uri="{BB962C8B-B14F-4D97-AF65-F5344CB8AC3E}">
        <p14:creationId xmlns:p14="http://schemas.microsoft.com/office/powerpoint/2010/main" val="344668109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7817" y="857250"/>
            <a:ext cx="7532189" cy="990600"/>
          </a:xfrm>
        </p:spPr>
        <p:txBody>
          <a:bodyPr>
            <a:normAutofit fontScale="90000"/>
          </a:bodyPr>
          <a:lstStyle/>
          <a:p>
            <a:pPr algn="ctr"/>
            <a:r>
              <a:rPr lang="fr-FR" dirty="0"/>
              <a:t>Cloud Firestore : Une Base de Données </a:t>
            </a:r>
            <a:r>
              <a:rPr lang="fr-FR" dirty="0" err="1"/>
              <a:t>NoSQL</a:t>
            </a:r>
            <a:r>
              <a:rPr lang="fr-FR" dirty="0"/>
              <a:t> Puissante</a:t>
            </a:r>
          </a:p>
        </p:txBody>
      </p:sp>
      <p:sp>
        <p:nvSpPr>
          <p:cNvPr id="3" name="Espace réservé du contenu 2"/>
          <p:cNvSpPr>
            <a:spLocks noGrp="1"/>
          </p:cNvSpPr>
          <p:nvPr>
            <p:ph idx="1"/>
          </p:nvPr>
        </p:nvSpPr>
        <p:spPr>
          <a:xfrm>
            <a:off x="107504" y="1847850"/>
            <a:ext cx="8853616" cy="4012475"/>
          </a:xfrm>
        </p:spPr>
        <p:txBody>
          <a:bodyPr>
            <a:normAutofit/>
          </a:bodyPr>
          <a:lstStyle/>
          <a:p>
            <a:pPr marL="0" indent="0" algn="just">
              <a:buNone/>
            </a:pPr>
            <a:r>
              <a:rPr lang="fr-FR" sz="2800" dirty="0"/>
              <a:t>Firestore est l’une des bases de données proposées par Firebase, conçue pour stocker des </a:t>
            </a:r>
            <a:r>
              <a:rPr lang="fr-FR" sz="2800" b="1" dirty="0"/>
              <a:t>données semi-structurées sous forme de documents et de collections</a:t>
            </a:r>
            <a:r>
              <a:rPr lang="fr-FR" sz="2800" dirty="0"/>
              <a:t>. Contrairement à une base SQL traditionnelle, Firestore ne fonctionne pas avec des tables et des relations, mais avec un modèle orienté-documents similaire à </a:t>
            </a:r>
            <a:r>
              <a:rPr lang="fr-FR" sz="2800" b="1" dirty="0" err="1"/>
              <a:t>MongoDB</a:t>
            </a:r>
            <a:r>
              <a:rPr lang="fr-FR" sz="2800" dirty="0"/>
              <a:t>.</a:t>
            </a:r>
          </a:p>
        </p:txBody>
      </p:sp>
    </p:spTree>
    <p:extLst>
      <p:ext uri="{BB962C8B-B14F-4D97-AF65-F5344CB8AC3E}">
        <p14:creationId xmlns:p14="http://schemas.microsoft.com/office/powerpoint/2010/main" val="429245629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15616" y="289016"/>
            <a:ext cx="7632848" cy="568235"/>
          </a:xfrm>
        </p:spPr>
        <p:txBody>
          <a:bodyPr>
            <a:normAutofit fontScale="90000"/>
          </a:bodyPr>
          <a:lstStyle/>
          <a:p>
            <a:pPr algn="ctr"/>
            <a:r>
              <a:rPr lang="fr-FR" dirty="0"/>
              <a:t>Fonctionnement de Firestore</a:t>
            </a:r>
          </a:p>
        </p:txBody>
      </p:sp>
      <p:sp>
        <p:nvSpPr>
          <p:cNvPr id="3" name="Espace réservé du contenu 2"/>
          <p:cNvSpPr>
            <a:spLocks noGrp="1"/>
          </p:cNvSpPr>
          <p:nvPr>
            <p:ph idx="1"/>
          </p:nvPr>
        </p:nvSpPr>
        <p:spPr>
          <a:xfrm>
            <a:off x="113548" y="980728"/>
            <a:ext cx="9030452" cy="5877272"/>
          </a:xfrm>
        </p:spPr>
        <p:txBody>
          <a:bodyPr>
            <a:normAutofit fontScale="47500" lnSpcReduction="20000"/>
          </a:bodyPr>
          <a:lstStyle/>
          <a:p>
            <a:pPr marL="0" indent="0" algn="just">
              <a:buNone/>
            </a:pPr>
            <a:r>
              <a:rPr lang="fr-FR" sz="4500" dirty="0"/>
              <a:t>Dans </a:t>
            </a:r>
            <a:r>
              <a:rPr lang="fr-FR" sz="4500" i="1" dirty="0"/>
              <a:t>Cloud </a:t>
            </a:r>
            <a:r>
              <a:rPr lang="fr-FR" sz="4500" i="1" dirty="0" err="1"/>
              <a:t>Computing</a:t>
            </a:r>
            <a:r>
              <a:rPr lang="fr-FR" sz="4500" i="1" dirty="0"/>
              <a:t>: </a:t>
            </a:r>
            <a:r>
              <a:rPr lang="fr-FR" sz="4500" i="1" dirty="0" err="1"/>
              <a:t>Principles</a:t>
            </a:r>
            <a:r>
              <a:rPr lang="fr-FR" sz="4500" i="1" dirty="0"/>
              <a:t> and </a:t>
            </a:r>
            <a:r>
              <a:rPr lang="fr-FR" sz="4500" i="1" dirty="0" err="1"/>
              <a:t>Paradigms</a:t>
            </a:r>
            <a:r>
              <a:rPr lang="fr-FR" sz="4500" dirty="0"/>
              <a:t>, </a:t>
            </a:r>
            <a:r>
              <a:rPr lang="fr-FR" sz="4500" dirty="0" err="1"/>
              <a:t>Rajkumar</a:t>
            </a:r>
            <a:r>
              <a:rPr lang="fr-FR" sz="4500" dirty="0"/>
              <a:t> </a:t>
            </a:r>
            <a:r>
              <a:rPr lang="fr-FR" sz="4500" dirty="0" err="1"/>
              <a:t>Buyya</a:t>
            </a:r>
            <a:r>
              <a:rPr lang="fr-FR" sz="4500" dirty="0"/>
              <a:t> explique l’intérêt des bases de données cloud comme Firestore :</a:t>
            </a:r>
          </a:p>
          <a:p>
            <a:pPr marL="0" indent="0" algn="just">
              <a:buNone/>
            </a:pPr>
            <a:r>
              <a:rPr lang="fr-FR" sz="4500" dirty="0"/>
              <a:t>« La gestion distribuée des données dans le cloud permet une haute disponibilité et une récupération rapide en cas de panne, ce qui rend les solutions </a:t>
            </a:r>
            <a:r>
              <a:rPr lang="fr-FR" sz="4500" dirty="0" err="1"/>
              <a:t>NoSQL</a:t>
            </a:r>
            <a:r>
              <a:rPr lang="fr-FR" sz="4500" dirty="0"/>
              <a:t> idéales pour les applications modernes. » Voici les axes sur lesquels tournent son fonctionnement:</a:t>
            </a:r>
          </a:p>
          <a:p>
            <a:pPr algn="just">
              <a:buFont typeface="Wingdings" panose="05000000000000000000" pitchFamily="2" charset="2"/>
              <a:buChar char="Ø"/>
            </a:pPr>
            <a:r>
              <a:rPr lang="fr-FR" sz="4500" b="1" dirty="0"/>
              <a:t>Structure de données</a:t>
            </a:r>
            <a:r>
              <a:rPr lang="fr-FR" sz="4500" dirty="0"/>
              <a:t> : Firestore organise les données en </a:t>
            </a:r>
            <a:r>
              <a:rPr lang="fr-FR" sz="4500" b="1" dirty="0"/>
              <a:t>collections</a:t>
            </a:r>
            <a:r>
              <a:rPr lang="fr-FR" sz="4500" dirty="0"/>
              <a:t> contenant des </a:t>
            </a:r>
            <a:r>
              <a:rPr lang="fr-FR" sz="4500" b="1" dirty="0"/>
              <a:t>documents</a:t>
            </a:r>
            <a:r>
              <a:rPr lang="fr-FR" sz="4500" dirty="0"/>
              <a:t>. Chaque document est un ensemble de paires clé-valeur et peut contenir des sous-collections.</a:t>
            </a:r>
          </a:p>
          <a:p>
            <a:pPr algn="just">
              <a:buFont typeface="Wingdings" panose="05000000000000000000" pitchFamily="2" charset="2"/>
              <a:buChar char="Ø"/>
            </a:pPr>
            <a:r>
              <a:rPr lang="fr-FR" sz="4500" b="1" dirty="0"/>
              <a:t>Requêtes flexibles</a:t>
            </a:r>
            <a:r>
              <a:rPr lang="fr-FR" sz="4500" dirty="0"/>
              <a:t> : Firestore prend en charge des requêtes complexes avec filtrage et tri avancés.</a:t>
            </a:r>
          </a:p>
          <a:p>
            <a:pPr algn="just">
              <a:buFont typeface="Wingdings" panose="05000000000000000000" pitchFamily="2" charset="2"/>
              <a:buChar char="Ø"/>
            </a:pPr>
            <a:r>
              <a:rPr lang="fr-FR" sz="4500" b="1" dirty="0"/>
              <a:t>Mode hors ligne</a:t>
            </a:r>
            <a:r>
              <a:rPr lang="fr-FR" sz="4500" dirty="0"/>
              <a:t> : Les données peuvent être mises en cache localement et synchronisées avec le cloud dès qu’une connexion est rétablie.</a:t>
            </a:r>
          </a:p>
          <a:p>
            <a:pPr algn="just">
              <a:buFont typeface="Wingdings" panose="05000000000000000000" pitchFamily="2" charset="2"/>
              <a:buChar char="Ø"/>
            </a:pPr>
            <a:r>
              <a:rPr lang="fr-FR" sz="4500" b="1" dirty="0"/>
              <a:t>Intégration avec Firebase</a:t>
            </a:r>
            <a:r>
              <a:rPr lang="fr-FR" sz="4500" dirty="0"/>
              <a:t> : Firestore est nativement intégré avec d’autres services Firebase comme </a:t>
            </a:r>
            <a:r>
              <a:rPr lang="fr-FR" sz="4500" b="1" dirty="0" err="1"/>
              <a:t>Authentication</a:t>
            </a:r>
            <a:r>
              <a:rPr lang="fr-FR" sz="4500" b="1" dirty="0"/>
              <a:t>, Cloud </a:t>
            </a:r>
            <a:r>
              <a:rPr lang="fr-FR" sz="4500" b="1" dirty="0" err="1"/>
              <a:t>Functions</a:t>
            </a:r>
            <a:r>
              <a:rPr lang="fr-FR" sz="4500" b="1" dirty="0"/>
              <a:t> et </a:t>
            </a:r>
            <a:r>
              <a:rPr lang="fr-FR" sz="4500" b="1" dirty="0" err="1"/>
              <a:t>Analytics</a:t>
            </a:r>
            <a:r>
              <a:rPr lang="fr-FR" sz="4500" dirty="0"/>
              <a:t>.</a:t>
            </a:r>
          </a:p>
          <a:p>
            <a:pPr algn="just">
              <a:buFont typeface="Wingdings" panose="05000000000000000000" pitchFamily="2" charset="2"/>
              <a:buChar char="Ø"/>
            </a:pPr>
            <a:r>
              <a:rPr lang="fr-FR" sz="4500" b="1" dirty="0"/>
              <a:t>Sécurité</a:t>
            </a:r>
            <a:r>
              <a:rPr lang="fr-FR" sz="4500" dirty="0"/>
              <a:t> : Les règles de sécurité Firestore permettent de définir des accès précis pour chaque utilisateur ou groupe d’utilisateurs.</a:t>
            </a:r>
          </a:p>
          <a:p>
            <a:pPr marL="0" indent="0">
              <a:buNone/>
            </a:pPr>
            <a:endParaRPr lang="fr-FR" dirty="0"/>
          </a:p>
        </p:txBody>
      </p:sp>
    </p:spTree>
    <p:extLst>
      <p:ext uri="{BB962C8B-B14F-4D97-AF65-F5344CB8AC3E}">
        <p14:creationId xmlns:p14="http://schemas.microsoft.com/office/powerpoint/2010/main" val="323917031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31640" y="0"/>
            <a:ext cx="6912768" cy="555172"/>
          </a:xfrm>
        </p:spPr>
        <p:txBody>
          <a:bodyPr>
            <a:normAutofit fontScale="90000"/>
          </a:bodyPr>
          <a:lstStyle/>
          <a:p>
            <a:r>
              <a:rPr lang="fr-FR" dirty="0"/>
              <a:t>Points forts de Firestore</a:t>
            </a:r>
          </a:p>
        </p:txBody>
      </p:sp>
      <p:sp>
        <p:nvSpPr>
          <p:cNvPr id="3" name="Espace réservé du contenu 2"/>
          <p:cNvSpPr>
            <a:spLocks noGrp="1"/>
          </p:cNvSpPr>
          <p:nvPr>
            <p:ph idx="1"/>
          </p:nvPr>
        </p:nvSpPr>
        <p:spPr>
          <a:xfrm>
            <a:off x="0" y="404664"/>
            <a:ext cx="9144000" cy="6042180"/>
          </a:xfrm>
        </p:spPr>
        <p:txBody>
          <a:bodyPr>
            <a:noAutofit/>
          </a:bodyPr>
          <a:lstStyle/>
          <a:p>
            <a:pPr marL="0" indent="0" algn="just">
              <a:buNone/>
            </a:pPr>
            <a:r>
              <a:rPr lang="fr-FR" sz="2300" dirty="0"/>
              <a:t>Dans </a:t>
            </a:r>
            <a:r>
              <a:rPr lang="fr-FR" sz="2300" i="1" dirty="0" err="1"/>
              <a:t>Designing</a:t>
            </a:r>
            <a:r>
              <a:rPr lang="fr-FR" sz="2300" i="1" dirty="0"/>
              <a:t> Data-Intensive Applications</a:t>
            </a:r>
            <a:r>
              <a:rPr lang="fr-FR" sz="2300" dirty="0"/>
              <a:t>, Martin </a:t>
            </a:r>
            <a:r>
              <a:rPr lang="fr-FR" sz="2300" dirty="0" err="1"/>
              <a:t>Kleppmann</a:t>
            </a:r>
            <a:r>
              <a:rPr lang="fr-FR" sz="2300" dirty="0"/>
              <a:t> insiste sur l’importance de la </a:t>
            </a:r>
            <a:r>
              <a:rPr lang="fr-FR" sz="2300" dirty="0" err="1"/>
              <a:t>scalabilité</a:t>
            </a:r>
            <a:r>
              <a:rPr lang="fr-FR" sz="2300" dirty="0"/>
              <a:t> dans les bases </a:t>
            </a:r>
            <a:r>
              <a:rPr lang="fr-FR" sz="2300" dirty="0" err="1"/>
              <a:t>NoSQL</a:t>
            </a:r>
            <a:r>
              <a:rPr lang="fr-FR" sz="2300" dirty="0"/>
              <a:t> comme Firestore : « Une base de données bien conçue doit être capable de gérer la montée en charge sans compromettre la latence ou la disponibilité. » Ceci montre certains points forts: </a:t>
            </a:r>
          </a:p>
          <a:p>
            <a:pPr algn="just">
              <a:buFont typeface="Wingdings" panose="05000000000000000000" pitchFamily="2" charset="2"/>
              <a:buChar char="v"/>
            </a:pPr>
            <a:r>
              <a:rPr lang="fr-FR" sz="2300" b="1" dirty="0"/>
              <a:t>Synchronisation en temps réel</a:t>
            </a:r>
            <a:r>
              <a:rPr lang="fr-FR" sz="2300" dirty="0"/>
              <a:t> : Firestore met à jour les données instantanément sur tous les appareils connectés.</a:t>
            </a:r>
          </a:p>
          <a:p>
            <a:pPr algn="just">
              <a:buFont typeface="Wingdings" panose="05000000000000000000" pitchFamily="2" charset="2"/>
              <a:buChar char="v"/>
            </a:pPr>
            <a:r>
              <a:rPr lang="fr-FR" sz="2300" b="1" dirty="0"/>
              <a:t>Scalabilité automatique</a:t>
            </a:r>
            <a:r>
              <a:rPr lang="fr-FR" sz="2300" dirty="0"/>
              <a:t> : Il est conçu pour gérer des millions d’utilisateurs sans intervention humaine.</a:t>
            </a:r>
          </a:p>
          <a:p>
            <a:pPr algn="just">
              <a:buFont typeface="Wingdings" panose="05000000000000000000" pitchFamily="2" charset="2"/>
              <a:buChar char="v"/>
            </a:pPr>
            <a:r>
              <a:rPr lang="fr-FR" sz="2300" b="1" dirty="0"/>
              <a:t>Haute disponibilité et fiabilité</a:t>
            </a:r>
            <a:r>
              <a:rPr lang="fr-FR" sz="2300" dirty="0"/>
              <a:t> : Firestore est hébergé sur l’infrastructure Google Cloud, garantissant une haute disponibilité.</a:t>
            </a:r>
          </a:p>
          <a:p>
            <a:pPr algn="just">
              <a:buFont typeface="Wingdings" panose="05000000000000000000" pitchFamily="2" charset="2"/>
              <a:buChar char="v"/>
            </a:pPr>
            <a:r>
              <a:rPr lang="fr-FR" sz="2300" b="1" dirty="0"/>
              <a:t>Facilité d’utilisation</a:t>
            </a:r>
            <a:r>
              <a:rPr lang="fr-FR" sz="2300" dirty="0"/>
              <a:t> : Son API est simple et bien documentée, avec des SDK disponibles pour plusieurs plateformes (Android, iOS, Web).</a:t>
            </a:r>
          </a:p>
          <a:p>
            <a:pPr algn="just">
              <a:buFont typeface="Wingdings" panose="05000000000000000000" pitchFamily="2" charset="2"/>
              <a:buChar char="v"/>
            </a:pPr>
            <a:r>
              <a:rPr lang="fr-FR" sz="2300" b="1" dirty="0"/>
              <a:t>Sécurité avancée</a:t>
            </a:r>
            <a:r>
              <a:rPr lang="fr-FR" sz="2300" dirty="0"/>
              <a:t> : Les règles de sécurité permettent un contrôle fin sur les accès et modifications des données.</a:t>
            </a:r>
          </a:p>
          <a:p>
            <a:pPr algn="just">
              <a:buFont typeface="Wingdings" panose="05000000000000000000" pitchFamily="2" charset="2"/>
              <a:buChar char="v"/>
            </a:pPr>
            <a:r>
              <a:rPr lang="fr-FR" sz="2300" b="1" dirty="0"/>
              <a:t>Mode hors ligne</a:t>
            </a:r>
            <a:r>
              <a:rPr lang="fr-FR" sz="2300" dirty="0"/>
              <a:t> : Les applications continuent de fonctionner même sans connexion Internet, ce qui est un avantage majeur pour les applications mobiles.</a:t>
            </a:r>
          </a:p>
        </p:txBody>
      </p:sp>
    </p:spTree>
    <p:extLst>
      <p:ext uri="{BB962C8B-B14F-4D97-AF65-F5344CB8AC3E}">
        <p14:creationId xmlns:p14="http://schemas.microsoft.com/office/powerpoint/2010/main" val="394453753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03648" y="0"/>
            <a:ext cx="5095966" cy="561703"/>
          </a:xfrm>
        </p:spPr>
        <p:txBody>
          <a:bodyPr>
            <a:normAutofit fontScale="90000"/>
          </a:bodyPr>
          <a:lstStyle/>
          <a:p>
            <a:r>
              <a:rPr lang="fr-FR" dirty="0"/>
              <a:t>Limites de Firestore</a:t>
            </a:r>
          </a:p>
        </p:txBody>
      </p:sp>
      <p:sp>
        <p:nvSpPr>
          <p:cNvPr id="3" name="Espace réservé du contenu 2"/>
          <p:cNvSpPr>
            <a:spLocks noGrp="1"/>
          </p:cNvSpPr>
          <p:nvPr>
            <p:ph idx="1"/>
          </p:nvPr>
        </p:nvSpPr>
        <p:spPr>
          <a:xfrm>
            <a:off x="586377" y="561702"/>
            <a:ext cx="8374743" cy="6035649"/>
          </a:xfrm>
        </p:spPr>
        <p:txBody>
          <a:bodyPr>
            <a:normAutofit fontScale="47500" lnSpcReduction="20000"/>
          </a:bodyPr>
          <a:lstStyle/>
          <a:p>
            <a:pPr marL="0" indent="0" algn="just">
              <a:buNone/>
            </a:pPr>
            <a:r>
              <a:rPr lang="fr-FR" sz="4500" dirty="0"/>
              <a:t>Dans </a:t>
            </a:r>
            <a:r>
              <a:rPr lang="fr-FR" sz="4500" i="1" dirty="0" err="1"/>
              <a:t>Database</a:t>
            </a:r>
            <a:r>
              <a:rPr lang="fr-FR" sz="4500" i="1" dirty="0"/>
              <a:t> </a:t>
            </a:r>
            <a:r>
              <a:rPr lang="fr-FR" sz="4500" i="1" dirty="0" err="1"/>
              <a:t>Internals</a:t>
            </a:r>
            <a:r>
              <a:rPr lang="fr-FR" sz="4500" i="1" dirty="0"/>
              <a:t>: A </a:t>
            </a:r>
            <a:r>
              <a:rPr lang="fr-FR" sz="4500" i="1" dirty="0" err="1"/>
              <a:t>Deep</a:t>
            </a:r>
            <a:r>
              <a:rPr lang="fr-FR" sz="4500" i="1" dirty="0"/>
              <a:t> Dive </a:t>
            </a:r>
            <a:r>
              <a:rPr lang="fr-FR" sz="4500" i="1" dirty="0" err="1"/>
              <a:t>into</a:t>
            </a:r>
            <a:r>
              <a:rPr lang="fr-FR" sz="4500" i="1" dirty="0"/>
              <a:t> How </a:t>
            </a:r>
            <a:r>
              <a:rPr lang="fr-FR" sz="4500" i="1" dirty="0" err="1"/>
              <a:t>Distributed</a:t>
            </a:r>
            <a:r>
              <a:rPr lang="fr-FR" sz="4500" i="1" dirty="0"/>
              <a:t> Data </a:t>
            </a:r>
            <a:r>
              <a:rPr lang="fr-FR" sz="4500" i="1" dirty="0" err="1"/>
              <a:t>Systems</a:t>
            </a:r>
            <a:r>
              <a:rPr lang="fr-FR" sz="4500" i="1" dirty="0"/>
              <a:t> </a:t>
            </a:r>
            <a:r>
              <a:rPr lang="fr-FR" sz="4500" i="1" dirty="0" err="1"/>
              <a:t>Work</a:t>
            </a:r>
            <a:r>
              <a:rPr lang="fr-FR" sz="4500" dirty="0"/>
              <a:t>, Alex Petrov met en garde contre les limites des bases </a:t>
            </a:r>
            <a:r>
              <a:rPr lang="fr-FR" sz="4500" dirty="0" err="1"/>
              <a:t>NoSQL</a:t>
            </a:r>
            <a:r>
              <a:rPr lang="fr-FR" sz="4500" dirty="0"/>
              <a:t> : « Bien que les bases </a:t>
            </a:r>
            <a:r>
              <a:rPr lang="fr-FR" sz="4500" dirty="0" err="1"/>
              <a:t>NoSQL</a:t>
            </a:r>
            <a:r>
              <a:rPr lang="fr-FR" sz="4500" dirty="0"/>
              <a:t> offrent une grande flexibilité, elles exigent une réflexion approfondie sur la structuration des données pour éviter les inefficacités et les coûts cachés. » Voici certaines limites:</a:t>
            </a:r>
          </a:p>
          <a:p>
            <a:pPr algn="just">
              <a:buFont typeface="Wingdings" panose="05000000000000000000" pitchFamily="2" charset="2"/>
              <a:buChar char="ü"/>
            </a:pPr>
            <a:r>
              <a:rPr lang="fr-FR" sz="4500" b="1" dirty="0"/>
              <a:t>Coût potentiellement élevé</a:t>
            </a:r>
            <a:r>
              <a:rPr lang="fr-FR" sz="4500" dirty="0"/>
              <a:t> : Firestore facture en fonction du nombre de lectures, écritures et suppressions de documents, ce qui peut devenir coûteux pour les applications ayant un fort volume de requêtes.</a:t>
            </a:r>
          </a:p>
          <a:p>
            <a:pPr algn="just">
              <a:buFont typeface="Wingdings" panose="05000000000000000000" pitchFamily="2" charset="2"/>
              <a:buChar char="ü"/>
            </a:pPr>
            <a:r>
              <a:rPr lang="fr-FR" sz="4500" b="1" dirty="0"/>
              <a:t>Limitations des requêtes</a:t>
            </a:r>
            <a:r>
              <a:rPr lang="fr-FR" sz="4500" dirty="0"/>
              <a:t> : Contrairement aux bases SQL, Firestore ne permet pas les </a:t>
            </a:r>
            <a:r>
              <a:rPr lang="fr-FR" sz="4500" b="1" dirty="0"/>
              <a:t>jointures complexes</a:t>
            </a:r>
            <a:r>
              <a:rPr lang="fr-FR" sz="4500" dirty="0"/>
              <a:t>, ce qui peut nécessiter une structuration différente des données.</a:t>
            </a:r>
          </a:p>
          <a:p>
            <a:pPr algn="just">
              <a:buFont typeface="Wingdings" panose="05000000000000000000" pitchFamily="2" charset="2"/>
              <a:buChar char="ü"/>
            </a:pPr>
            <a:r>
              <a:rPr lang="fr-FR" sz="4500" b="1" dirty="0"/>
              <a:t>Latence accrue par rapport aux bases SQL</a:t>
            </a:r>
            <a:r>
              <a:rPr lang="fr-FR" sz="4500" dirty="0"/>
              <a:t> : Bien que Firestore soit performant, certaines requêtes peuvent être plus lentes comparées aux bases de données relationnelles optimisées.</a:t>
            </a:r>
          </a:p>
          <a:p>
            <a:pPr algn="just">
              <a:buFont typeface="Wingdings" panose="05000000000000000000" pitchFamily="2" charset="2"/>
              <a:buChar char="ü"/>
            </a:pPr>
            <a:r>
              <a:rPr lang="fr-FR" sz="4500" b="1" dirty="0"/>
              <a:t>Règles de sécurité complexes</a:t>
            </a:r>
            <a:r>
              <a:rPr lang="fr-FR" sz="4500" dirty="0"/>
              <a:t> : Une mauvaise configuration des règles de sécurité peut compromettre l’intégrité des données ou restreindre excessivement l’accès aux utilisateurs.</a:t>
            </a:r>
          </a:p>
          <a:p>
            <a:pPr algn="just">
              <a:buFont typeface="Wingdings" panose="05000000000000000000" pitchFamily="2" charset="2"/>
              <a:buChar char="ü"/>
            </a:pPr>
            <a:r>
              <a:rPr lang="fr-FR" sz="4500" b="1" dirty="0"/>
              <a:t>Écriture limitée par transaction</a:t>
            </a:r>
            <a:r>
              <a:rPr lang="fr-FR" sz="4500" dirty="0"/>
              <a:t> : Firestore impose une limite sur le nombre d’opérations effectuées dans une transaction, ce qui peut poser problème pour certaines applications nécessitant des mises à jour complexes.</a:t>
            </a:r>
          </a:p>
          <a:p>
            <a:pPr>
              <a:buFont typeface="Wingdings" panose="05000000000000000000" pitchFamily="2" charset="2"/>
              <a:buChar char="ü"/>
            </a:pPr>
            <a:endParaRPr lang="fr-FR" dirty="0"/>
          </a:p>
        </p:txBody>
      </p:sp>
    </p:spTree>
    <p:extLst>
      <p:ext uri="{BB962C8B-B14F-4D97-AF65-F5344CB8AC3E}">
        <p14:creationId xmlns:p14="http://schemas.microsoft.com/office/powerpoint/2010/main" val="93625662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83212" y="857251"/>
            <a:ext cx="5834017" cy="587828"/>
          </a:xfrm>
        </p:spPr>
        <p:txBody>
          <a:bodyPr>
            <a:normAutofit fontScale="90000"/>
          </a:bodyPr>
          <a:lstStyle/>
          <a:p>
            <a:r>
              <a:rPr lang="fr-FR" dirty="0"/>
              <a:t>Comparaison avec d’autres solutions</a:t>
            </a:r>
          </a:p>
        </p:txBody>
      </p:sp>
      <p:graphicFrame>
        <p:nvGraphicFramePr>
          <p:cNvPr id="11" name="Espace réservé du contenu 10"/>
          <p:cNvGraphicFramePr>
            <a:graphicFrameLocks noGrp="1"/>
          </p:cNvGraphicFramePr>
          <p:nvPr>
            <p:ph idx="1"/>
            <p:extLst/>
          </p:nvPr>
        </p:nvGraphicFramePr>
        <p:xfrm>
          <a:off x="253671" y="1667146"/>
          <a:ext cx="8720511" cy="4180117"/>
        </p:xfrm>
        <a:graphic>
          <a:graphicData uri="http://schemas.openxmlformats.org/drawingml/2006/table">
            <a:tbl>
              <a:tblPr firstRow="1" bandRow="1">
                <a:tableStyleId>{5C22544A-7EE6-4342-B048-85BDC9FD1C3A}</a:tableStyleId>
              </a:tblPr>
              <a:tblGrid>
                <a:gridCol w="1706220">
                  <a:extLst>
                    <a:ext uri="{9D8B030D-6E8A-4147-A177-3AD203B41FA5}">
                      <a16:colId xmlns:a16="http://schemas.microsoft.com/office/drawing/2014/main" val="3989438558"/>
                    </a:ext>
                  </a:extLst>
                </a:gridCol>
                <a:gridCol w="1706220">
                  <a:extLst>
                    <a:ext uri="{9D8B030D-6E8A-4147-A177-3AD203B41FA5}">
                      <a16:colId xmlns:a16="http://schemas.microsoft.com/office/drawing/2014/main" val="1492522884"/>
                    </a:ext>
                  </a:extLst>
                </a:gridCol>
                <a:gridCol w="1706220">
                  <a:extLst>
                    <a:ext uri="{9D8B030D-6E8A-4147-A177-3AD203B41FA5}">
                      <a16:colId xmlns:a16="http://schemas.microsoft.com/office/drawing/2014/main" val="4061787541"/>
                    </a:ext>
                  </a:extLst>
                </a:gridCol>
                <a:gridCol w="1851429">
                  <a:extLst>
                    <a:ext uri="{9D8B030D-6E8A-4147-A177-3AD203B41FA5}">
                      <a16:colId xmlns:a16="http://schemas.microsoft.com/office/drawing/2014/main" val="2383506022"/>
                    </a:ext>
                  </a:extLst>
                </a:gridCol>
                <a:gridCol w="1750422">
                  <a:extLst>
                    <a:ext uri="{9D8B030D-6E8A-4147-A177-3AD203B41FA5}">
                      <a16:colId xmlns:a16="http://schemas.microsoft.com/office/drawing/2014/main" val="3696718977"/>
                    </a:ext>
                  </a:extLst>
                </a:gridCol>
              </a:tblGrid>
              <a:tr h="694615">
                <a:tc>
                  <a:txBody>
                    <a:bodyPr/>
                    <a:lstStyle/>
                    <a:p>
                      <a:pPr algn="ctr"/>
                      <a:r>
                        <a:rPr lang="fr-FR" sz="1400" dirty="0" smtClean="0"/>
                        <a:t>Fonctionnalité</a:t>
                      </a:r>
                      <a:endParaRPr lang="fr-FR" sz="1400" dirty="0"/>
                    </a:p>
                  </a:txBody>
                  <a:tcPr marL="68580" marR="68580" marT="34290" marB="34290"/>
                </a:tc>
                <a:tc>
                  <a:txBody>
                    <a:bodyPr/>
                    <a:lstStyle/>
                    <a:p>
                      <a:pPr algn="ctr"/>
                      <a:r>
                        <a:rPr lang="fr-FR" sz="1400" dirty="0" smtClean="0"/>
                        <a:t>Firestore</a:t>
                      </a:r>
                      <a:endParaRPr lang="fr-FR" sz="1400" dirty="0"/>
                    </a:p>
                  </a:txBody>
                  <a:tcPr marL="68580" marR="68580" marT="34290" marB="34290"/>
                </a:tc>
                <a:tc>
                  <a:txBody>
                    <a:bodyPr/>
                    <a:lstStyle/>
                    <a:p>
                      <a:pPr algn="ctr"/>
                      <a:r>
                        <a:rPr lang="fr-FR" sz="1400" dirty="0" err="1" smtClean="0"/>
                        <a:t>Realtime</a:t>
                      </a:r>
                      <a:r>
                        <a:rPr lang="fr-FR" sz="1400" dirty="0" smtClean="0"/>
                        <a:t> </a:t>
                      </a:r>
                      <a:r>
                        <a:rPr lang="fr-FR" sz="1400" dirty="0" err="1" smtClean="0"/>
                        <a:t>Database</a:t>
                      </a:r>
                      <a:endParaRPr lang="fr-FR" sz="1400" dirty="0"/>
                    </a:p>
                  </a:txBody>
                  <a:tcPr marL="68580" marR="68580" marT="34290" marB="34290"/>
                </a:tc>
                <a:tc>
                  <a:txBody>
                    <a:bodyPr/>
                    <a:lstStyle/>
                    <a:p>
                      <a:pPr algn="ctr"/>
                      <a:r>
                        <a:rPr lang="fr-FR" sz="1400" dirty="0" err="1" smtClean="0"/>
                        <a:t>MongoDB</a:t>
                      </a:r>
                      <a:endParaRPr lang="fr-FR" sz="1400" dirty="0"/>
                    </a:p>
                  </a:txBody>
                  <a:tcPr marL="68580" marR="68580" marT="34290" marB="34290"/>
                </a:tc>
                <a:tc>
                  <a:txBody>
                    <a:bodyPr/>
                    <a:lstStyle/>
                    <a:p>
                      <a:pPr algn="ctr"/>
                      <a:r>
                        <a:rPr lang="fr-FR" sz="1400" dirty="0" smtClean="0"/>
                        <a:t>MySQL/PostgreSQL</a:t>
                      </a:r>
                      <a:endParaRPr lang="fr-FR" sz="1400" dirty="0"/>
                    </a:p>
                  </a:txBody>
                  <a:tcPr marL="68580" marR="68580" marT="34290" marB="34290"/>
                </a:tc>
                <a:extLst>
                  <a:ext uri="{0D108BD9-81ED-4DB2-BD59-A6C34878D82A}">
                    <a16:rowId xmlns:a16="http://schemas.microsoft.com/office/drawing/2014/main" val="1420077954"/>
                  </a:ext>
                </a:extLst>
              </a:tr>
              <a:tr h="661063">
                <a:tc>
                  <a:txBody>
                    <a:bodyPr/>
                    <a:lstStyle/>
                    <a:p>
                      <a:pPr algn="ctr"/>
                      <a:r>
                        <a:rPr lang="fr-FR" sz="1400" dirty="0" smtClean="0"/>
                        <a:t>Modèle de données</a:t>
                      </a:r>
                      <a:endParaRPr lang="fr-FR" sz="1400" dirty="0"/>
                    </a:p>
                  </a:txBody>
                  <a:tcPr marL="68580" marR="68580" marT="34290" marB="34290"/>
                </a:tc>
                <a:tc>
                  <a:txBody>
                    <a:bodyPr/>
                    <a:lstStyle/>
                    <a:p>
                      <a:pPr algn="ctr"/>
                      <a:r>
                        <a:rPr lang="fr-FR" sz="1400" dirty="0" smtClean="0"/>
                        <a:t>Documents et collections</a:t>
                      </a:r>
                      <a:endParaRPr lang="fr-FR" sz="1400" dirty="0"/>
                    </a:p>
                  </a:txBody>
                  <a:tcPr marL="68580" marR="68580" marT="34290" marB="34290"/>
                </a:tc>
                <a:tc>
                  <a:txBody>
                    <a:bodyPr/>
                    <a:lstStyle/>
                    <a:p>
                      <a:pPr algn="ctr"/>
                      <a:r>
                        <a:rPr lang="fr-FR" sz="1400" dirty="0" smtClean="0"/>
                        <a:t>JSON hiérarchique</a:t>
                      </a:r>
                      <a:endParaRPr lang="fr-FR" sz="1400" dirty="0"/>
                    </a:p>
                  </a:txBody>
                  <a:tcPr marL="68580" marR="68580" marT="34290" marB="34290"/>
                </a:tc>
                <a:tc>
                  <a:txBody>
                    <a:bodyPr/>
                    <a:lstStyle/>
                    <a:p>
                      <a:pPr algn="ctr"/>
                      <a:r>
                        <a:rPr lang="fr-FR" sz="1400" dirty="0" smtClean="0"/>
                        <a:t>Documents et collections</a:t>
                      </a:r>
                      <a:endParaRPr lang="fr-FR" sz="1400" dirty="0"/>
                    </a:p>
                  </a:txBody>
                  <a:tcPr marL="68580" marR="68580" marT="34290" marB="34290"/>
                </a:tc>
                <a:tc>
                  <a:txBody>
                    <a:bodyPr/>
                    <a:lstStyle/>
                    <a:p>
                      <a:pPr algn="ctr"/>
                      <a:r>
                        <a:rPr lang="fr-FR" sz="1400" dirty="0" smtClean="0"/>
                        <a:t>Tables et relations</a:t>
                      </a:r>
                      <a:endParaRPr lang="fr-FR" sz="1400" dirty="0"/>
                    </a:p>
                  </a:txBody>
                  <a:tcPr marL="68580" marR="68580" marT="34290" marB="34290"/>
                </a:tc>
                <a:extLst>
                  <a:ext uri="{0D108BD9-81ED-4DB2-BD59-A6C34878D82A}">
                    <a16:rowId xmlns:a16="http://schemas.microsoft.com/office/drawing/2014/main" val="2165016036"/>
                  </a:ext>
                </a:extLst>
              </a:tr>
              <a:tr h="500771">
                <a:tc>
                  <a:txBody>
                    <a:bodyPr/>
                    <a:lstStyle/>
                    <a:p>
                      <a:pPr algn="ctr"/>
                      <a:r>
                        <a:rPr lang="fr-FR" sz="1400" dirty="0" smtClean="0"/>
                        <a:t>Requêtes complexes</a:t>
                      </a:r>
                      <a:endParaRPr lang="fr-FR" sz="1400" dirty="0"/>
                    </a:p>
                  </a:txBody>
                  <a:tcPr marL="68580" marR="68580" marT="34290" marB="34290"/>
                </a:tc>
                <a:tc>
                  <a:txBody>
                    <a:bodyPr/>
                    <a:lstStyle/>
                    <a:p>
                      <a:pPr algn="ctr"/>
                      <a:r>
                        <a:rPr lang="fr-FR" sz="1400" dirty="0" smtClean="0"/>
                        <a:t>Oui, mais limitées</a:t>
                      </a:r>
                      <a:endParaRPr lang="fr-FR" sz="1400" dirty="0"/>
                    </a:p>
                  </a:txBody>
                  <a:tcPr marL="68580" marR="68580" marT="34290" marB="34290"/>
                </a:tc>
                <a:tc>
                  <a:txBody>
                    <a:bodyPr/>
                    <a:lstStyle/>
                    <a:p>
                      <a:pPr algn="ctr"/>
                      <a:r>
                        <a:rPr lang="fr-FR" sz="1400" dirty="0" smtClean="0"/>
                        <a:t>Non</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extLst>
                  <a:ext uri="{0D108BD9-81ED-4DB2-BD59-A6C34878D82A}">
                    <a16:rowId xmlns:a16="http://schemas.microsoft.com/office/drawing/2014/main" val="3704357145"/>
                  </a:ext>
                </a:extLst>
              </a:tr>
              <a:tr h="661063">
                <a:tc>
                  <a:txBody>
                    <a:bodyPr/>
                    <a:lstStyle/>
                    <a:p>
                      <a:pPr algn="ctr"/>
                      <a:r>
                        <a:rPr lang="fr-FR" sz="1400" dirty="0" smtClean="0"/>
                        <a:t>Synchronisation en temps réel</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tc>
                  <a:txBody>
                    <a:bodyPr/>
                    <a:lstStyle/>
                    <a:p>
                      <a:pPr algn="ctr"/>
                      <a:r>
                        <a:rPr lang="fr-FR" sz="1400" dirty="0" smtClean="0"/>
                        <a:t>Non</a:t>
                      </a:r>
                      <a:endParaRPr lang="fr-FR" sz="1400" dirty="0"/>
                    </a:p>
                  </a:txBody>
                  <a:tcPr marL="68580" marR="68580" marT="34290" marB="34290"/>
                </a:tc>
                <a:tc>
                  <a:txBody>
                    <a:bodyPr/>
                    <a:lstStyle/>
                    <a:p>
                      <a:pPr algn="ctr"/>
                      <a:r>
                        <a:rPr lang="fr-FR" sz="1400" dirty="0" smtClean="0"/>
                        <a:t>Non</a:t>
                      </a:r>
                      <a:endParaRPr lang="fr-FR" sz="1400" dirty="0"/>
                    </a:p>
                  </a:txBody>
                  <a:tcPr marL="68580" marR="68580" marT="34290" marB="34290"/>
                </a:tc>
                <a:extLst>
                  <a:ext uri="{0D108BD9-81ED-4DB2-BD59-A6C34878D82A}">
                    <a16:rowId xmlns:a16="http://schemas.microsoft.com/office/drawing/2014/main" val="1055238618"/>
                  </a:ext>
                </a:extLst>
              </a:tr>
              <a:tr h="500771">
                <a:tc>
                  <a:txBody>
                    <a:bodyPr/>
                    <a:lstStyle/>
                    <a:p>
                      <a:pPr algn="ctr"/>
                      <a:r>
                        <a:rPr lang="fr-FR" sz="1400" dirty="0" smtClean="0"/>
                        <a:t>Scalabilité</a:t>
                      </a:r>
                      <a:endParaRPr lang="fr-FR" sz="1400" dirty="0"/>
                    </a:p>
                  </a:txBody>
                  <a:tcPr marL="68580" marR="68580" marT="34290" marB="34290"/>
                </a:tc>
                <a:tc>
                  <a:txBody>
                    <a:bodyPr/>
                    <a:lstStyle/>
                    <a:p>
                      <a:pPr algn="ctr"/>
                      <a:r>
                        <a:rPr lang="fr-FR" sz="1400" dirty="0" smtClean="0"/>
                        <a:t>Excellente</a:t>
                      </a:r>
                      <a:endParaRPr lang="fr-FR" sz="1400" dirty="0"/>
                    </a:p>
                  </a:txBody>
                  <a:tcPr marL="68580" marR="68580" marT="34290" marB="34290"/>
                </a:tc>
                <a:tc>
                  <a:txBody>
                    <a:bodyPr/>
                    <a:lstStyle/>
                    <a:p>
                      <a:pPr algn="ctr"/>
                      <a:r>
                        <a:rPr lang="fr-FR" sz="1400" dirty="0" smtClean="0"/>
                        <a:t>Moyenne</a:t>
                      </a:r>
                      <a:endParaRPr lang="fr-FR" sz="1400" dirty="0"/>
                    </a:p>
                  </a:txBody>
                  <a:tcPr marL="68580" marR="68580" marT="34290" marB="34290"/>
                </a:tc>
                <a:tc>
                  <a:txBody>
                    <a:bodyPr/>
                    <a:lstStyle/>
                    <a:p>
                      <a:pPr algn="ctr"/>
                      <a:r>
                        <a:rPr lang="fr-FR" sz="1400" dirty="0" smtClean="0"/>
                        <a:t>Excellente</a:t>
                      </a:r>
                      <a:endParaRPr lang="fr-FR" sz="1400" dirty="0"/>
                    </a:p>
                  </a:txBody>
                  <a:tcPr marL="68580" marR="68580" marT="34290" marB="34290"/>
                </a:tc>
                <a:tc>
                  <a:txBody>
                    <a:bodyPr/>
                    <a:lstStyle/>
                    <a:p>
                      <a:pPr algn="ctr"/>
                      <a:r>
                        <a:rPr lang="fr-FR" sz="1400" dirty="0" smtClean="0"/>
                        <a:t>Moyenne</a:t>
                      </a:r>
                      <a:endParaRPr lang="fr-FR" sz="1400" dirty="0"/>
                    </a:p>
                  </a:txBody>
                  <a:tcPr marL="68580" marR="68580" marT="34290" marB="34290"/>
                </a:tc>
                <a:extLst>
                  <a:ext uri="{0D108BD9-81ED-4DB2-BD59-A6C34878D82A}">
                    <a16:rowId xmlns:a16="http://schemas.microsoft.com/office/drawing/2014/main" val="3540261724"/>
                  </a:ext>
                </a:extLst>
              </a:tr>
              <a:tr h="500771">
                <a:tc>
                  <a:txBody>
                    <a:bodyPr/>
                    <a:lstStyle/>
                    <a:p>
                      <a:pPr algn="ctr"/>
                      <a:r>
                        <a:rPr lang="fr-FR" sz="1400" dirty="0" smtClean="0"/>
                        <a:t>Mode hors ligne</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tc>
                  <a:txBody>
                    <a:bodyPr/>
                    <a:lstStyle/>
                    <a:p>
                      <a:pPr algn="ctr"/>
                      <a:r>
                        <a:rPr lang="fr-FR" sz="1400" dirty="0" smtClean="0"/>
                        <a:t>Partiel</a:t>
                      </a:r>
                      <a:endParaRPr lang="fr-FR" sz="1400" dirty="0"/>
                    </a:p>
                  </a:txBody>
                  <a:tcPr marL="68580" marR="68580" marT="34290" marB="34290"/>
                </a:tc>
                <a:tc>
                  <a:txBody>
                    <a:bodyPr/>
                    <a:lstStyle/>
                    <a:p>
                      <a:pPr algn="ctr"/>
                      <a:r>
                        <a:rPr lang="fr-FR" sz="1400" dirty="0" smtClean="0"/>
                        <a:t>Oui</a:t>
                      </a:r>
                      <a:endParaRPr lang="fr-FR" sz="1400" dirty="0"/>
                    </a:p>
                  </a:txBody>
                  <a:tcPr marL="68580" marR="68580" marT="34290" marB="34290"/>
                </a:tc>
                <a:tc>
                  <a:txBody>
                    <a:bodyPr/>
                    <a:lstStyle/>
                    <a:p>
                      <a:pPr algn="ctr"/>
                      <a:r>
                        <a:rPr lang="fr-FR" sz="1400" dirty="0" smtClean="0"/>
                        <a:t>Non</a:t>
                      </a:r>
                      <a:endParaRPr lang="fr-FR" sz="1400" dirty="0"/>
                    </a:p>
                  </a:txBody>
                  <a:tcPr marL="68580" marR="68580" marT="34290" marB="34290"/>
                </a:tc>
                <a:extLst>
                  <a:ext uri="{0D108BD9-81ED-4DB2-BD59-A6C34878D82A}">
                    <a16:rowId xmlns:a16="http://schemas.microsoft.com/office/drawing/2014/main" val="3374463360"/>
                  </a:ext>
                </a:extLst>
              </a:tr>
              <a:tr h="661063">
                <a:tc>
                  <a:txBody>
                    <a:bodyPr/>
                    <a:lstStyle/>
                    <a:p>
                      <a:pPr algn="ctr"/>
                      <a:r>
                        <a:rPr lang="fr-FR" sz="1400" dirty="0" smtClean="0"/>
                        <a:t>Coût</a:t>
                      </a:r>
                      <a:endParaRPr lang="fr-FR" sz="1400" dirty="0"/>
                    </a:p>
                  </a:txBody>
                  <a:tcPr marL="68580" marR="68580" marT="34290" marB="34290"/>
                </a:tc>
                <a:tc>
                  <a:txBody>
                    <a:bodyPr/>
                    <a:lstStyle/>
                    <a:p>
                      <a:pPr algn="ctr"/>
                      <a:r>
                        <a:rPr lang="fr-FR" sz="1400" dirty="0" smtClean="0"/>
                        <a:t>Facturation par opération</a:t>
                      </a:r>
                      <a:endParaRPr lang="fr-FR" sz="1400" dirty="0"/>
                    </a:p>
                  </a:txBody>
                  <a:tcPr marL="68580" marR="68580" marT="34290" marB="34290"/>
                </a:tc>
                <a:tc>
                  <a:txBody>
                    <a:bodyPr/>
                    <a:lstStyle/>
                    <a:p>
                      <a:pPr algn="ctr"/>
                      <a:r>
                        <a:rPr lang="fr-FR" sz="1400" dirty="0" smtClean="0"/>
                        <a:t>Facturation par volume</a:t>
                      </a:r>
                      <a:endParaRPr lang="fr-FR" sz="1400" dirty="0"/>
                    </a:p>
                  </a:txBody>
                  <a:tcPr marL="68580" marR="68580" marT="34290" marB="34290"/>
                </a:tc>
                <a:tc>
                  <a:txBody>
                    <a:bodyPr/>
                    <a:lstStyle/>
                    <a:p>
                      <a:pPr algn="ctr"/>
                      <a:r>
                        <a:rPr lang="fr-FR" sz="1400" dirty="0" smtClean="0"/>
                        <a:t>Coût flexible</a:t>
                      </a:r>
                      <a:endParaRPr lang="fr-FR" sz="1400" dirty="0"/>
                    </a:p>
                  </a:txBody>
                  <a:tcPr marL="68580" marR="68580" marT="34290" marB="34290"/>
                </a:tc>
                <a:tc>
                  <a:txBody>
                    <a:bodyPr/>
                    <a:lstStyle/>
                    <a:p>
                      <a:pPr algn="ctr"/>
                      <a:r>
                        <a:rPr lang="fr-FR" sz="1400" dirty="0" smtClean="0"/>
                        <a:t>Dépend du serveur</a:t>
                      </a:r>
                      <a:endParaRPr lang="fr-FR" sz="1400" dirty="0"/>
                    </a:p>
                  </a:txBody>
                  <a:tcPr marL="68580" marR="68580" marT="34290" marB="34290"/>
                </a:tc>
                <a:extLst>
                  <a:ext uri="{0D108BD9-81ED-4DB2-BD59-A6C34878D82A}">
                    <a16:rowId xmlns:a16="http://schemas.microsoft.com/office/drawing/2014/main" val="1221946045"/>
                  </a:ext>
                </a:extLst>
              </a:tr>
            </a:tbl>
          </a:graphicData>
        </a:graphic>
      </p:graphicFrame>
    </p:spTree>
    <p:extLst>
      <p:ext uri="{BB962C8B-B14F-4D97-AF65-F5344CB8AC3E}">
        <p14:creationId xmlns:p14="http://schemas.microsoft.com/office/powerpoint/2010/main" val="325983756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81247" y="188640"/>
            <a:ext cx="5339283" cy="548640"/>
          </a:xfrm>
        </p:spPr>
        <p:txBody>
          <a:bodyPr>
            <a:normAutofit fontScale="90000"/>
          </a:bodyPr>
          <a:lstStyle/>
          <a:p>
            <a:r>
              <a:rPr lang="fr-BE" dirty="0" smtClean="0"/>
              <a:t>Conclusion</a:t>
            </a:r>
            <a:endParaRPr lang="fr-FR" dirty="0"/>
          </a:p>
        </p:txBody>
      </p:sp>
      <p:sp>
        <p:nvSpPr>
          <p:cNvPr id="3" name="Espace réservé du contenu 2"/>
          <p:cNvSpPr>
            <a:spLocks noGrp="1"/>
          </p:cNvSpPr>
          <p:nvPr>
            <p:ph idx="1"/>
          </p:nvPr>
        </p:nvSpPr>
        <p:spPr>
          <a:xfrm>
            <a:off x="107504" y="737280"/>
            <a:ext cx="9036495" cy="5932080"/>
          </a:xfrm>
        </p:spPr>
        <p:txBody>
          <a:bodyPr>
            <a:noAutofit/>
          </a:bodyPr>
          <a:lstStyle/>
          <a:p>
            <a:pPr marL="0" indent="0" algn="just">
              <a:buNone/>
            </a:pPr>
            <a:r>
              <a:rPr lang="fr-FR" sz="2400" dirty="0"/>
              <a:t>Firebase est une plateforme robuste et bien intégrée qui simplifie grandement le développement d’applications, notamment grâce à Firestore, sa base de données </a:t>
            </a:r>
            <a:r>
              <a:rPr lang="fr-FR" sz="2400" dirty="0" err="1"/>
              <a:t>NoSQL</a:t>
            </a:r>
            <a:r>
              <a:rPr lang="fr-FR" sz="2400" dirty="0"/>
              <a:t> moderne. Avec sa synchronisation en temps réel, son évolutivité et son intégration avec l’écosystème Google, Firestore représente une solution puissante pour les applications nécessitant des interactions rapides et fluides entre les utilisateurs.</a:t>
            </a:r>
          </a:p>
          <a:p>
            <a:pPr marL="0" indent="0" algn="just">
              <a:buNone/>
            </a:pPr>
            <a:r>
              <a:rPr lang="fr-FR" sz="2400" dirty="0"/>
              <a:t>Cependant, Firestore n’est pas exempt de limites. Son coût basé sur le nombre de requêtes peut devenir un facteur contraignant pour les grandes applications, et son absence de relations entre les collections peut compliquer certaines structures de données</a:t>
            </a:r>
            <a:r>
              <a:rPr lang="fr-FR" sz="2400" dirty="0" smtClean="0"/>
              <a:t>.</a:t>
            </a:r>
            <a:endParaRPr lang="fr-FR" sz="2400" dirty="0"/>
          </a:p>
        </p:txBody>
      </p:sp>
    </p:spTree>
    <p:extLst>
      <p:ext uri="{BB962C8B-B14F-4D97-AF65-F5344CB8AC3E}">
        <p14:creationId xmlns:p14="http://schemas.microsoft.com/office/powerpoint/2010/main" val="223090322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686800" cy="6126163"/>
          </a:xfrm>
        </p:spPr>
        <p:txBody>
          <a:bodyPr/>
          <a:lstStyle/>
          <a:p>
            <a:pPr marL="0" indent="0">
              <a:buNone/>
            </a:pPr>
            <a:endParaRPr lang="fr-FR" dirty="0"/>
          </a:p>
        </p:txBody>
      </p:sp>
      <p:sp>
        <p:nvSpPr>
          <p:cNvPr id="5" name="Rectangle 4"/>
          <p:cNvSpPr/>
          <p:nvPr/>
        </p:nvSpPr>
        <p:spPr>
          <a:xfrm>
            <a:off x="142151" y="216148"/>
            <a:ext cx="8568952" cy="5693866"/>
          </a:xfrm>
          <a:prstGeom prst="rect">
            <a:avLst/>
          </a:prstGeom>
        </p:spPr>
        <p:txBody>
          <a:bodyPr wrap="square">
            <a:spAutoFit/>
          </a:bodyPr>
          <a:lstStyle/>
          <a:p>
            <a:pPr algn="just"/>
            <a:r>
              <a:rPr lang="en-US" sz="2800" dirty="0" err="1"/>
              <a:t>Comme</a:t>
            </a:r>
            <a:r>
              <a:rPr lang="en-US" sz="2800" dirty="0"/>
              <a:t> </a:t>
            </a:r>
            <a:r>
              <a:rPr lang="en-US" sz="2800" dirty="0" err="1"/>
              <a:t>l’affirme</a:t>
            </a:r>
            <a:r>
              <a:rPr lang="en-US" sz="2800" dirty="0"/>
              <a:t> Michael </a:t>
            </a:r>
            <a:r>
              <a:rPr lang="en-US" sz="2800" dirty="0" err="1"/>
              <a:t>Stonebraker</a:t>
            </a:r>
            <a:r>
              <a:rPr lang="en-US" sz="2800" dirty="0"/>
              <a:t> </a:t>
            </a:r>
            <a:r>
              <a:rPr lang="en-US" sz="2800" dirty="0" err="1"/>
              <a:t>dans</a:t>
            </a:r>
            <a:r>
              <a:rPr lang="en-US" sz="2800" dirty="0"/>
              <a:t> </a:t>
            </a:r>
            <a:r>
              <a:rPr lang="en-US" sz="2800" i="1" dirty="0"/>
              <a:t>The End of an Architectural Era (It’s Time for a Complete Rewrite)</a:t>
            </a:r>
            <a:r>
              <a:rPr lang="en-US" sz="2800" dirty="0"/>
              <a:t> : </a:t>
            </a:r>
            <a:r>
              <a:rPr lang="fr-FR" sz="2800" dirty="0"/>
              <a:t>« Aucune base de données ne peut répondre à tous les besoins. Le choix d’un système doit être dicté par les contraintes spécifiques du projet et les objectifs à long terme. »</a:t>
            </a:r>
          </a:p>
          <a:p>
            <a:pPr algn="just"/>
            <a:r>
              <a:rPr lang="fr-FR" sz="2800" dirty="0"/>
              <a:t>En définitive, </a:t>
            </a:r>
            <a:r>
              <a:rPr lang="fr-FR" sz="2800" dirty="0" err="1"/>
              <a:t>Firestore</a:t>
            </a:r>
            <a:r>
              <a:rPr lang="fr-FR" sz="2800" dirty="0"/>
              <a:t> convient parfaitement aux applications qui nécessitent une synchronisation en temps réel, une </a:t>
            </a:r>
            <a:r>
              <a:rPr lang="fr-FR" sz="2800" dirty="0" err="1"/>
              <a:t>scalabilité</a:t>
            </a:r>
            <a:r>
              <a:rPr lang="fr-FR" sz="2800" dirty="0"/>
              <a:t> automatique et un déploiement rapide. Mais pour des besoins plus complexes impliquant des relations de données avancées et des coûts optimisés, une base de données relationnelle traditionnelle pourrait être un meilleur choix.</a:t>
            </a:r>
          </a:p>
        </p:txBody>
      </p:sp>
    </p:spTree>
    <p:extLst>
      <p:ext uri="{BB962C8B-B14F-4D97-AF65-F5344CB8AC3E}">
        <p14:creationId xmlns:p14="http://schemas.microsoft.com/office/powerpoint/2010/main" val="199759018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87624" y="0"/>
            <a:ext cx="5698976" cy="692696"/>
          </a:xfrm>
        </p:spPr>
        <p:txBody>
          <a:bodyPr>
            <a:normAutofit fontScale="90000"/>
          </a:bodyPr>
          <a:lstStyle/>
          <a:p>
            <a:r>
              <a:rPr lang="fr-FR" dirty="0"/>
              <a:t>Les </a:t>
            </a:r>
            <a:r>
              <a:rPr lang="fr-FR" dirty="0" smtClean="0"/>
              <a:t>inconvénients</a:t>
            </a:r>
            <a:endParaRPr lang="fr-FR" dirty="0"/>
          </a:p>
        </p:txBody>
      </p:sp>
      <p:sp>
        <p:nvSpPr>
          <p:cNvPr id="3" name="Espace réservé du contenu 2"/>
          <p:cNvSpPr>
            <a:spLocks noGrp="1"/>
          </p:cNvSpPr>
          <p:nvPr>
            <p:ph idx="1"/>
          </p:nvPr>
        </p:nvSpPr>
        <p:spPr>
          <a:xfrm>
            <a:off x="28135" y="548680"/>
            <a:ext cx="9144000" cy="6309320"/>
          </a:xfrm>
        </p:spPr>
        <p:txBody>
          <a:bodyPr>
            <a:normAutofit fontScale="92500"/>
          </a:bodyPr>
          <a:lstStyle/>
          <a:p>
            <a:pPr marL="0" indent="0" algn="just">
              <a:buNone/>
            </a:pPr>
            <a:r>
              <a:rPr lang="fr-FR" dirty="0" smtClean="0">
                <a:latin typeface="Times New Roman" panose="02020603050405020304" pitchFamily="18" charset="0"/>
                <a:cs typeface="Times New Roman" panose="02020603050405020304" pitchFamily="18" charset="0"/>
              </a:rPr>
              <a:t>Les </a:t>
            </a:r>
            <a:r>
              <a:rPr lang="fr-FR" dirty="0">
                <a:latin typeface="Times New Roman" panose="02020603050405020304" pitchFamily="18" charset="0"/>
                <a:cs typeface="Times New Roman" panose="02020603050405020304" pitchFamily="18" charset="0"/>
              </a:rPr>
              <a:t>avantages </a:t>
            </a:r>
            <a:r>
              <a:rPr lang="fr-FR" dirty="0" smtClean="0">
                <a:latin typeface="Times New Roman" panose="02020603050405020304" pitchFamily="18" charset="0"/>
                <a:cs typeface="Times New Roman" panose="02020603050405020304" pitchFamily="18" charset="0"/>
              </a:rPr>
              <a:t>apportes </a:t>
            </a:r>
            <a:r>
              <a:rPr lang="fr-FR" dirty="0">
                <a:latin typeface="Times New Roman" panose="02020603050405020304" pitchFamily="18" charset="0"/>
                <a:cs typeface="Times New Roman" panose="02020603050405020304" pitchFamily="18" charset="0"/>
              </a:rPr>
              <a:t>par les bases de </a:t>
            </a:r>
            <a:r>
              <a:rPr lang="fr-FR" dirty="0" smtClean="0">
                <a:latin typeface="Times New Roman" panose="02020603050405020304" pitchFamily="18" charset="0"/>
                <a:cs typeface="Times New Roman" panose="02020603050405020304" pitchFamily="18" charset="0"/>
              </a:rPr>
              <a:t>données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ne sont pas sans contreparties. En effet comme toute </a:t>
            </a:r>
            <a:r>
              <a:rPr lang="fr-FR" dirty="0" smtClean="0">
                <a:latin typeface="Times New Roman" panose="02020603050405020304" pitchFamily="18" charset="0"/>
                <a:cs typeface="Times New Roman" panose="02020603050405020304" pitchFamily="18" charset="0"/>
              </a:rPr>
              <a:t>avancée </a:t>
            </a:r>
            <a:r>
              <a:rPr lang="fr-FR" dirty="0">
                <a:latin typeface="Times New Roman" panose="02020603050405020304" pitchFamily="18" charset="0"/>
                <a:cs typeface="Times New Roman" panose="02020603050405020304" pitchFamily="18" charset="0"/>
              </a:rPr>
              <a:t>technologique les bases de </a:t>
            </a:r>
            <a:r>
              <a:rPr lang="fr-FR" dirty="0" smtClean="0">
                <a:latin typeface="Times New Roman" panose="02020603050405020304" pitchFamily="18" charset="0"/>
                <a:cs typeface="Times New Roman" panose="02020603050405020304" pitchFamily="18" charset="0"/>
              </a:rPr>
              <a:t>données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ont aussi des </a:t>
            </a:r>
            <a:r>
              <a:rPr lang="fr-FR" dirty="0" smtClean="0">
                <a:latin typeface="Times New Roman" panose="02020603050405020304" pitchFamily="18" charset="0"/>
                <a:cs typeface="Times New Roman" panose="02020603050405020304" pitchFamily="18" charset="0"/>
              </a:rPr>
              <a:t>inconvénients, </a:t>
            </a:r>
            <a:r>
              <a:rPr lang="fr-FR" dirty="0">
                <a:latin typeface="Times New Roman" panose="02020603050405020304" pitchFamily="18" charset="0"/>
                <a:cs typeface="Times New Roman" panose="02020603050405020304" pitchFamily="18" charset="0"/>
              </a:rPr>
              <a:t>on en citera </a:t>
            </a:r>
            <a:r>
              <a:rPr lang="fr-FR" dirty="0" smtClean="0">
                <a:latin typeface="Times New Roman" panose="02020603050405020304" pitchFamily="18" charset="0"/>
                <a:cs typeface="Times New Roman" panose="02020603050405020304" pitchFamily="18" charset="0"/>
              </a:rPr>
              <a:t>:</a:t>
            </a:r>
          </a:p>
          <a:p>
            <a:pPr marL="0" indent="0" algn="just">
              <a:buNone/>
            </a:pPr>
            <a:r>
              <a:rPr lang="fr-FR" b="1" dirty="0">
                <a:latin typeface="Times New Roman" panose="02020603050405020304" pitchFamily="18" charset="0"/>
                <a:cs typeface="Times New Roman" panose="02020603050405020304" pitchFamily="18" charset="0"/>
              </a:rPr>
              <a:t>La </a:t>
            </a:r>
            <a:r>
              <a:rPr lang="fr-FR" b="1" dirty="0" smtClean="0">
                <a:latin typeface="Times New Roman" panose="02020603050405020304" pitchFamily="18" charset="0"/>
                <a:cs typeface="Times New Roman" panose="02020603050405020304" pitchFamily="18" charset="0"/>
              </a:rPr>
              <a:t>maturité </a:t>
            </a:r>
            <a:r>
              <a:rPr lang="fr-FR" dirty="0">
                <a:latin typeface="Times New Roman" panose="02020603050405020304" pitchFamily="18" charset="0"/>
                <a:cs typeface="Times New Roman" panose="02020603050405020304" pitchFamily="18" charset="0"/>
              </a:rPr>
              <a:t>: Les SGBD relationnels sont </a:t>
            </a:r>
            <a:r>
              <a:rPr lang="fr-FR" dirty="0" smtClean="0">
                <a:latin typeface="Times New Roman" panose="02020603050405020304" pitchFamily="18" charset="0"/>
                <a:cs typeface="Times New Roman" panose="02020603050405020304" pitchFamily="18" charset="0"/>
              </a:rPr>
              <a:t>la </a:t>
            </a:r>
            <a:r>
              <a:rPr lang="fr-FR" dirty="0">
                <a:latin typeface="Times New Roman" panose="02020603050405020304" pitchFamily="18" charset="0"/>
                <a:cs typeface="Times New Roman" panose="02020603050405020304" pitchFamily="18" charset="0"/>
              </a:rPr>
              <a:t>depuis plus de 30 ans, ainsi, cette </a:t>
            </a:r>
            <a:r>
              <a:rPr lang="fr-FR" dirty="0" smtClean="0">
                <a:latin typeface="Times New Roman" panose="02020603050405020304" pitchFamily="18" charset="0"/>
                <a:cs typeface="Times New Roman" panose="02020603050405020304" pitchFamily="18" charset="0"/>
              </a:rPr>
              <a:t>pérennité </a:t>
            </a:r>
            <a:r>
              <a:rPr lang="fr-FR" dirty="0">
                <a:latin typeface="Times New Roman" panose="02020603050405020304" pitchFamily="18" charset="0"/>
                <a:cs typeface="Times New Roman" panose="02020603050405020304" pitchFamily="18" charset="0"/>
              </a:rPr>
              <a:t>est un signe de </a:t>
            </a:r>
            <a:r>
              <a:rPr lang="fr-FR" b="1" dirty="0" smtClean="0">
                <a:latin typeface="Times New Roman" panose="02020603050405020304" pitchFamily="18" charset="0"/>
                <a:cs typeface="Times New Roman" panose="02020603050405020304" pitchFamily="18" charset="0"/>
              </a:rPr>
              <a:t>réconfort </a:t>
            </a:r>
            <a:r>
              <a:rPr lang="fr-FR" b="1" dirty="0">
                <a:latin typeface="Times New Roman" panose="02020603050405020304" pitchFamily="18" charset="0"/>
                <a:cs typeface="Times New Roman" panose="02020603050405020304" pitchFamily="18" charset="0"/>
              </a:rPr>
              <a:t>pour les responsables </a:t>
            </a:r>
            <a:r>
              <a:rPr lang="fr-FR" dirty="0">
                <a:latin typeface="Times New Roman" panose="02020603050405020304" pitchFamily="18" charset="0"/>
                <a:cs typeface="Times New Roman" panose="02020603050405020304" pitchFamily="18" charset="0"/>
              </a:rPr>
              <a:t>vu qu’ils sont de nature </a:t>
            </a:r>
            <a:r>
              <a:rPr lang="fr-FR" b="1" dirty="0">
                <a:latin typeface="Times New Roman" panose="02020603050405020304" pitchFamily="18" charset="0"/>
                <a:cs typeface="Times New Roman" panose="02020603050405020304" pitchFamily="18" charset="0"/>
              </a:rPr>
              <a:t>stable et riche </a:t>
            </a:r>
            <a:r>
              <a:rPr lang="fr-FR" dirty="0">
                <a:latin typeface="Times New Roman" panose="02020603050405020304" pitchFamily="18" charset="0"/>
                <a:cs typeface="Times New Roman" panose="02020603050405020304" pitchFamily="18" charset="0"/>
              </a:rPr>
              <a:t>en </a:t>
            </a:r>
            <a:r>
              <a:rPr lang="fr-FR" dirty="0" smtClean="0">
                <a:latin typeface="Times New Roman" panose="02020603050405020304" pitchFamily="18" charset="0"/>
                <a:cs typeface="Times New Roman" panose="02020603050405020304" pitchFamily="18" charset="0"/>
              </a:rPr>
              <a:t>fonctionnalités. </a:t>
            </a:r>
            <a:r>
              <a:rPr lang="fr-FR" dirty="0">
                <a:latin typeface="Times New Roman" panose="02020603050405020304" pitchFamily="18" charset="0"/>
                <a:cs typeface="Times New Roman" panose="02020603050405020304" pitchFamily="18" charset="0"/>
              </a:rPr>
              <a:t>En comparaison, la plupart des SGBD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sont en </a:t>
            </a:r>
            <a:r>
              <a:rPr lang="fr-FR" dirty="0" err="1" smtClean="0">
                <a:latin typeface="Times New Roman" panose="02020603050405020304" pitchFamily="18" charset="0"/>
                <a:cs typeface="Times New Roman" panose="02020603050405020304" pitchFamily="18" charset="0"/>
              </a:rPr>
              <a:t>pre</a:t>
            </a:r>
            <a:r>
              <a:rPr lang="fr-FR" dirty="0" smtClean="0">
                <a:latin typeface="Times New Roman" panose="02020603050405020304" pitchFamily="18" charset="0"/>
                <a:cs typeface="Times New Roman" panose="02020603050405020304" pitchFamily="18" charset="0"/>
              </a:rPr>
              <a:t>-production </a:t>
            </a:r>
            <a:r>
              <a:rPr lang="fr-FR" dirty="0">
                <a:latin typeface="Times New Roman" panose="02020603050405020304" pitchFamily="18" charset="0"/>
                <a:cs typeface="Times New Roman" panose="02020603050405020304" pitchFamily="18" charset="0"/>
              </a:rPr>
              <a:t>et ont encore beaucoup de </a:t>
            </a:r>
            <a:r>
              <a:rPr lang="fr-FR" dirty="0" smtClean="0">
                <a:latin typeface="Times New Roman" panose="02020603050405020304" pitchFamily="18" charset="0"/>
                <a:cs typeface="Times New Roman" panose="02020603050405020304" pitchFamily="18" charset="0"/>
              </a:rPr>
              <a:t>fonctionnalités </a:t>
            </a:r>
            <a:r>
              <a:rPr lang="fr-FR" dirty="0">
                <a:latin typeface="Times New Roman" panose="02020603050405020304" pitchFamily="18" charset="0"/>
                <a:cs typeface="Times New Roman" panose="02020603050405020304" pitchFamily="18" charset="0"/>
              </a:rPr>
              <a:t>futures `a </a:t>
            </a:r>
            <a:r>
              <a:rPr lang="fr-FR" dirty="0" smtClean="0">
                <a:latin typeface="Times New Roman" panose="02020603050405020304" pitchFamily="18" charset="0"/>
                <a:cs typeface="Times New Roman" panose="02020603050405020304" pitchFamily="18" charset="0"/>
              </a:rPr>
              <a:t>implémenter.</a:t>
            </a:r>
          </a:p>
          <a:p>
            <a:pPr marL="0" indent="0" algn="just">
              <a:buNone/>
            </a:pPr>
            <a:r>
              <a:rPr lang="fr-FR" b="1" dirty="0" smtClean="0">
                <a:latin typeface="Times New Roman" panose="02020603050405020304" pitchFamily="18" charset="0"/>
                <a:cs typeface="Times New Roman" panose="02020603050405020304" pitchFamily="18" charset="0"/>
              </a:rPr>
              <a:t>Fonctionnalités réduites </a:t>
            </a:r>
            <a:r>
              <a:rPr lang="fr-FR" dirty="0">
                <a:latin typeface="Times New Roman" panose="02020603050405020304" pitchFamily="18" charset="0"/>
                <a:cs typeface="Times New Roman" panose="02020603050405020304" pitchFamily="18" charset="0"/>
              </a:rPr>
              <a:t>: Les bases de </a:t>
            </a:r>
            <a:r>
              <a:rPr lang="fr-FR" dirty="0" smtClean="0">
                <a:latin typeface="Times New Roman" panose="02020603050405020304" pitchFamily="18" charset="0"/>
                <a:cs typeface="Times New Roman" panose="02020603050405020304" pitchFamily="18" charset="0"/>
              </a:rPr>
              <a:t>données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sont principalement </a:t>
            </a:r>
            <a:r>
              <a:rPr lang="fr-FR" dirty="0" smtClean="0">
                <a:latin typeface="Times New Roman" panose="02020603050405020304" pitchFamily="18" charset="0"/>
                <a:cs typeface="Times New Roman" panose="02020603050405020304" pitchFamily="18" charset="0"/>
              </a:rPr>
              <a:t>conçues </a:t>
            </a:r>
            <a:r>
              <a:rPr lang="fr-FR" dirty="0">
                <a:latin typeface="Times New Roman" panose="02020603050405020304" pitchFamily="18" charset="0"/>
                <a:cs typeface="Times New Roman" panose="02020603050405020304" pitchFamily="18" charset="0"/>
              </a:rPr>
              <a:t>pour stocker des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et offrent </a:t>
            </a:r>
            <a:r>
              <a:rPr lang="fr-FR" dirty="0" smtClean="0">
                <a:latin typeface="Times New Roman" panose="02020603050405020304" pitchFamily="18" charset="0"/>
                <a:cs typeface="Times New Roman" panose="02020603050405020304" pitchFamily="18" charset="0"/>
              </a:rPr>
              <a:t>très </a:t>
            </a:r>
            <a:r>
              <a:rPr lang="fr-FR" dirty="0">
                <a:latin typeface="Times New Roman" panose="02020603050405020304" pitchFamily="18" charset="0"/>
                <a:cs typeface="Times New Roman" panose="02020603050405020304" pitchFamily="18" charset="0"/>
              </a:rPr>
              <a:t>peu de </a:t>
            </a:r>
            <a:r>
              <a:rPr lang="fr-FR" dirty="0" smtClean="0">
                <a:latin typeface="Times New Roman" panose="02020603050405020304" pitchFamily="18" charset="0"/>
                <a:cs typeface="Times New Roman" panose="02020603050405020304" pitchFamily="18" charset="0"/>
              </a:rPr>
              <a:t>fonctionnalités </a:t>
            </a:r>
            <a:r>
              <a:rPr lang="fr-FR" dirty="0">
                <a:latin typeface="Times New Roman" panose="02020603050405020304" pitchFamily="18" charset="0"/>
                <a:cs typeface="Times New Roman" panose="02020603050405020304" pitchFamily="18" charset="0"/>
              </a:rPr>
              <a:t>autres que </a:t>
            </a:r>
            <a:r>
              <a:rPr lang="fr-FR" dirty="0" err="1" smtClean="0">
                <a:latin typeface="Times New Roman" panose="02020603050405020304" pitchFamily="18" charset="0"/>
                <a:cs typeface="Times New Roman" panose="02020603050405020304" pitchFamily="18" charset="0"/>
              </a:rPr>
              <a:t>celle-la</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80233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036496" cy="6858000"/>
          </a:xfrm>
        </p:spPr>
        <p:txBody>
          <a:bodyPr>
            <a:normAutofit fontScale="92500" lnSpcReduction="20000"/>
          </a:bodyPr>
          <a:lstStyle/>
          <a:p>
            <a:pPr marL="0" indent="0" algn="just">
              <a:buNone/>
            </a:pPr>
            <a:r>
              <a:rPr lang="fr-FR" dirty="0">
                <a:latin typeface="Times New Roman" panose="02020603050405020304" pitchFamily="18" charset="0"/>
                <a:cs typeface="Times New Roman" panose="02020603050405020304" pitchFamily="18" charset="0"/>
              </a:rPr>
              <a:t>Lorsque les transactions entrent dans </a:t>
            </a:r>
            <a:r>
              <a:rPr lang="fr-FR" dirty="0" smtClean="0">
                <a:latin typeface="Times New Roman" panose="02020603050405020304" pitchFamily="18" charset="0"/>
                <a:cs typeface="Times New Roman" panose="02020603050405020304" pitchFamily="18" charset="0"/>
              </a:rPr>
              <a:t>l’</a:t>
            </a:r>
            <a:r>
              <a:rPr lang="fr-FR" dirty="0" err="1" smtClean="0">
                <a:latin typeface="Times New Roman" panose="02020603050405020304" pitchFamily="18" charset="0"/>
                <a:cs typeface="Times New Roman" panose="02020603050405020304" pitchFamily="18" charset="0"/>
              </a:rPr>
              <a:t>equation</a:t>
            </a:r>
            <a:r>
              <a:rPr lang="fr-FR" dirty="0">
                <a:latin typeface="Times New Roman" panose="02020603050405020304" pitchFamily="18" charset="0"/>
                <a:cs typeface="Times New Roman" panose="02020603050405020304" pitchFamily="18" charset="0"/>
              </a:rPr>
              <a:t>, les bases de </a:t>
            </a:r>
            <a:r>
              <a:rPr lang="fr-FR" dirty="0" smtClean="0">
                <a:latin typeface="Times New Roman" panose="02020603050405020304" pitchFamily="18" charset="0"/>
                <a:cs typeface="Times New Roman" panose="02020603050405020304" pitchFamily="18" charset="0"/>
              </a:rPr>
              <a:t>données relationnelles </a:t>
            </a:r>
            <a:r>
              <a:rPr lang="fr-FR" dirty="0">
                <a:latin typeface="Times New Roman" panose="02020603050405020304" pitchFamily="18" charset="0"/>
                <a:cs typeface="Times New Roman" panose="02020603050405020304" pitchFamily="18" charset="0"/>
              </a:rPr>
              <a:t>restent le meilleur choix. </a:t>
            </a:r>
            <a:r>
              <a:rPr lang="fr-FR" dirty="0" smtClean="0">
                <a:latin typeface="Times New Roman" panose="02020603050405020304" pitchFamily="18" charset="0"/>
                <a:cs typeface="Times New Roman" panose="02020603050405020304" pitchFamily="18" charset="0"/>
              </a:rPr>
              <a:t>Voila </a:t>
            </a:r>
            <a:r>
              <a:rPr lang="fr-FR" dirty="0">
                <a:latin typeface="Times New Roman" panose="02020603050405020304" pitchFamily="18" charset="0"/>
                <a:cs typeface="Times New Roman" panose="02020603050405020304" pitchFamily="18" charset="0"/>
              </a:rPr>
              <a:t>pourquoi les bases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ne pourront jamais remplacer entièrement SQL.</a:t>
            </a:r>
          </a:p>
          <a:p>
            <a:pPr marL="0" indent="0" algn="just">
              <a:buNone/>
            </a:pPr>
            <a:r>
              <a:rPr lang="fr-FR" b="1" dirty="0">
                <a:latin typeface="Times New Roman" panose="02020603050405020304" pitchFamily="18" charset="0"/>
                <a:cs typeface="Times New Roman" panose="02020603050405020304" pitchFamily="18" charset="0"/>
              </a:rPr>
              <a:t>L’administration</a:t>
            </a:r>
            <a:r>
              <a:rPr lang="fr-FR" dirty="0">
                <a:latin typeface="Times New Roman" panose="02020603050405020304" pitchFamily="18" charset="0"/>
                <a:cs typeface="Times New Roman" panose="02020603050405020304" pitchFamily="18" charset="0"/>
              </a:rPr>
              <a:t> : Un des buts des bases de </a:t>
            </a:r>
            <a:r>
              <a:rPr lang="fr-FR" dirty="0" smtClean="0">
                <a:latin typeface="Times New Roman" panose="02020603050405020304" pitchFamily="18" charset="0"/>
                <a:cs typeface="Times New Roman" panose="02020603050405020304" pitchFamily="18" charset="0"/>
              </a:rPr>
              <a:t>données </a:t>
            </a:r>
            <a:r>
              <a:rPr lang="fr-FR" dirty="0" err="1" smtClean="0">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était </a:t>
            </a:r>
            <a:r>
              <a:rPr lang="fr-FR" dirty="0">
                <a:latin typeface="Times New Roman" panose="02020603050405020304" pitchFamily="18" charset="0"/>
                <a:cs typeface="Times New Roman" panose="02020603050405020304" pitchFamily="18" charset="0"/>
              </a:rPr>
              <a:t>d’en </a:t>
            </a:r>
            <a:r>
              <a:rPr lang="fr-FR" dirty="0" smtClean="0">
                <a:latin typeface="Times New Roman" panose="02020603050405020304" pitchFamily="18" charset="0"/>
                <a:cs typeface="Times New Roman" panose="02020603050405020304" pitchFamily="18" charset="0"/>
              </a:rPr>
              <a:t>simplifier </a:t>
            </a:r>
            <a:r>
              <a:rPr lang="fr-FR" dirty="0">
                <a:latin typeface="Times New Roman" panose="02020603050405020304" pitchFamily="18" charset="0"/>
                <a:cs typeface="Times New Roman" panose="02020603050405020304" pitchFamily="18" charset="0"/>
              </a:rPr>
              <a:t>l’administration, mais la </a:t>
            </a:r>
            <a:r>
              <a:rPr lang="fr-FR" dirty="0" smtClean="0">
                <a:latin typeface="Times New Roman" panose="02020603050405020304" pitchFamily="18" charset="0"/>
                <a:cs typeface="Times New Roman" panose="02020603050405020304" pitchFamily="18" charset="0"/>
              </a:rPr>
              <a:t>réalité </a:t>
            </a:r>
            <a:r>
              <a:rPr lang="fr-FR" dirty="0">
                <a:latin typeface="Times New Roman" panose="02020603050405020304" pitchFamily="18" charset="0"/>
                <a:cs typeface="Times New Roman" panose="02020603050405020304" pitchFamily="18" charset="0"/>
              </a:rPr>
              <a:t>est </a:t>
            </a:r>
            <a:r>
              <a:rPr lang="fr-FR" dirty="0" smtClean="0">
                <a:latin typeface="Times New Roman" panose="02020603050405020304" pitchFamily="18" charset="0"/>
                <a:cs typeface="Times New Roman" panose="02020603050405020304" pitchFamily="18" charset="0"/>
              </a:rPr>
              <a:t>différente. </a:t>
            </a:r>
            <a:r>
              <a:rPr lang="fr-FR" dirty="0">
                <a:latin typeface="Times New Roman" panose="02020603050405020304" pitchFamily="18" charset="0"/>
                <a:cs typeface="Times New Roman" panose="02020603050405020304" pitchFamily="18" charset="0"/>
              </a:rPr>
              <a:t>Aujourd’hui, les solutions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demandent beaucoup de </a:t>
            </a:r>
            <a:r>
              <a:rPr lang="fr-FR" dirty="0" smtClean="0">
                <a:latin typeface="Times New Roman" panose="02020603050405020304" pitchFamily="18" charset="0"/>
                <a:cs typeface="Times New Roman" panose="02020603050405020304" pitchFamily="18" charset="0"/>
              </a:rPr>
              <a:t>compétences </a:t>
            </a:r>
            <a:r>
              <a:rPr lang="fr-FR" dirty="0">
                <a:latin typeface="Times New Roman" panose="02020603050405020304" pitchFamily="18" charset="0"/>
                <a:cs typeface="Times New Roman" panose="02020603050405020304" pitchFamily="18" charset="0"/>
              </a:rPr>
              <a:t>pour leur installation ainsi que des efforts conséquents lors de leur maintenance.</a:t>
            </a:r>
          </a:p>
          <a:p>
            <a:pPr marL="0" indent="0" algn="just">
              <a:buNone/>
            </a:pPr>
            <a:r>
              <a:rPr lang="fr-FR" b="1" dirty="0">
                <a:latin typeface="Times New Roman" panose="02020603050405020304" pitchFamily="18" charset="0"/>
                <a:cs typeface="Times New Roman" panose="02020603050405020304" pitchFamily="18" charset="0"/>
              </a:rPr>
              <a:t>L’expertise : </a:t>
            </a:r>
            <a:r>
              <a:rPr lang="fr-FR" dirty="0">
                <a:latin typeface="Times New Roman" panose="02020603050405020304" pitchFamily="18" charset="0"/>
                <a:cs typeface="Times New Roman" panose="02020603050405020304" pitchFamily="18" charset="0"/>
              </a:rPr>
              <a:t>On retrouve dans le monde des millions de </a:t>
            </a:r>
            <a:r>
              <a:rPr lang="fr-FR" dirty="0" smtClean="0">
                <a:latin typeface="Times New Roman" panose="02020603050405020304" pitchFamily="18" charset="0"/>
                <a:cs typeface="Times New Roman" panose="02020603050405020304" pitchFamily="18" charset="0"/>
              </a:rPr>
              <a:t>développeurs, opérant, </a:t>
            </a:r>
            <a:r>
              <a:rPr lang="fr-FR" dirty="0">
                <a:latin typeface="Times New Roman" panose="02020603050405020304" pitchFamily="18" charset="0"/>
                <a:cs typeface="Times New Roman" panose="02020603050405020304" pitchFamily="18" charset="0"/>
              </a:rPr>
              <a:t>dans </a:t>
            </a:r>
            <a:r>
              <a:rPr lang="fr-FR" dirty="0" smtClean="0">
                <a:latin typeface="Times New Roman" panose="02020603050405020304" pitchFamily="18" charset="0"/>
                <a:cs typeface="Times New Roman" panose="02020603050405020304" pitchFamily="18" charset="0"/>
              </a:rPr>
              <a:t>différents </a:t>
            </a:r>
            <a:r>
              <a:rPr lang="fr-FR" dirty="0">
                <a:latin typeface="Times New Roman" panose="02020603050405020304" pitchFamily="18" charset="0"/>
                <a:cs typeface="Times New Roman" panose="02020603050405020304" pitchFamily="18" charset="0"/>
              </a:rPr>
              <a:t>businesses, qui sont familiers des concepts ainsi que de la programmation dans un environnement de bases de </a:t>
            </a:r>
            <a:r>
              <a:rPr lang="fr-FR" dirty="0" smtClean="0">
                <a:latin typeface="Times New Roman" panose="02020603050405020304" pitchFamily="18" charset="0"/>
                <a:cs typeface="Times New Roman" panose="02020603050405020304" pitchFamily="18" charset="0"/>
              </a:rPr>
              <a:t>données </a:t>
            </a:r>
            <a:r>
              <a:rPr lang="fr-FR" dirty="0">
                <a:latin typeface="Times New Roman" panose="02020603050405020304" pitchFamily="18" charset="0"/>
                <a:cs typeface="Times New Roman" panose="02020603050405020304" pitchFamily="18" charset="0"/>
              </a:rPr>
              <a:t>relationnelles. Dans le monde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presque tous les </a:t>
            </a:r>
            <a:r>
              <a:rPr lang="fr-FR" dirty="0" smtClean="0">
                <a:latin typeface="Times New Roman" panose="02020603050405020304" pitchFamily="18" charset="0"/>
                <a:cs typeface="Times New Roman" panose="02020603050405020304" pitchFamily="18" charset="0"/>
              </a:rPr>
              <a:t>développeurs </a:t>
            </a:r>
            <a:r>
              <a:rPr lang="fr-FR" dirty="0">
                <a:latin typeface="Times New Roman" panose="02020603050405020304" pitchFamily="18" charset="0"/>
                <a:cs typeface="Times New Roman" panose="02020603050405020304" pitchFamily="18" charset="0"/>
              </a:rPr>
              <a:t>sont en apprentissage avec la </a:t>
            </a:r>
            <a:r>
              <a:rPr lang="fr-FR" dirty="0" smtClean="0">
                <a:latin typeface="Times New Roman" panose="02020603050405020304" pitchFamily="18" charset="0"/>
                <a:cs typeface="Times New Roman" panose="02020603050405020304" pitchFamily="18" charset="0"/>
              </a:rPr>
              <a:t>technologie.</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55181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143000"/>
          </a:xfrm>
        </p:spPr>
        <p:txBody>
          <a:bodyPr>
            <a:noAutofit/>
          </a:bodyPr>
          <a:lstStyle/>
          <a:p>
            <a:r>
              <a:rPr lang="fr-FR" sz="3600" b="1" dirty="0" smtClean="0">
                <a:latin typeface="Times New Roman" panose="02020603050405020304" pitchFamily="18" charset="0"/>
                <a:cs typeface="Times New Roman" panose="02020603050405020304" pitchFamily="18" charset="0"/>
              </a:rPr>
              <a:t>Comparaison </a:t>
            </a:r>
            <a:r>
              <a:rPr lang="fr-FR" sz="3600" b="1" dirty="0">
                <a:latin typeface="Times New Roman" panose="02020603050405020304" pitchFamily="18" charset="0"/>
                <a:cs typeface="Times New Roman" panose="02020603050405020304" pitchFamily="18" charset="0"/>
              </a:rPr>
              <a:t>entre SGBDR et les bases de </a:t>
            </a:r>
            <a:r>
              <a:rPr lang="fr-FR" sz="3600" b="1" dirty="0" smtClean="0">
                <a:latin typeface="Times New Roman" panose="02020603050405020304" pitchFamily="18" charset="0"/>
                <a:cs typeface="Times New Roman" panose="02020603050405020304" pitchFamily="18" charset="0"/>
              </a:rPr>
              <a:t>données </a:t>
            </a:r>
            <a:r>
              <a:rPr lang="fr-FR" sz="3600" b="1" dirty="0" err="1">
                <a:latin typeface="Times New Roman" panose="02020603050405020304" pitchFamily="18" charset="0"/>
                <a:cs typeface="Times New Roman" panose="02020603050405020304" pitchFamily="18" charset="0"/>
              </a:rPr>
              <a:t>Nosql</a:t>
            </a:r>
            <a:endParaRPr lang="fr-FR" sz="3600" b="1" dirty="0">
              <a:latin typeface="Times New Roman" panose="02020603050405020304" pitchFamily="18" charset="0"/>
              <a:cs typeface="Times New Roman" panose="02020603050405020304" pitchFamily="18" charset="0"/>
            </a:endParaRPr>
          </a:p>
        </p:txBody>
      </p:sp>
      <p:pic>
        <p:nvPicPr>
          <p:cNvPr id="4" name="Espace réservé du contenu 3"/>
          <p:cNvPicPr>
            <a:picLocks noGrp="1" noChangeAspect="1"/>
          </p:cNvPicPr>
          <p:nvPr>
            <p:ph idx="1"/>
          </p:nvPr>
        </p:nvPicPr>
        <p:blipFill>
          <a:blip r:embed="rId2"/>
          <a:stretch>
            <a:fillRect/>
          </a:stretch>
        </p:blipFill>
        <p:spPr>
          <a:xfrm>
            <a:off x="107504" y="1268760"/>
            <a:ext cx="9036496" cy="5472608"/>
          </a:xfrm>
          <a:prstGeom prst="rect">
            <a:avLst/>
          </a:prstGeom>
        </p:spPr>
      </p:pic>
    </p:spTree>
    <p:extLst>
      <p:ext uri="{BB962C8B-B14F-4D97-AF65-F5344CB8AC3E}">
        <p14:creationId xmlns:p14="http://schemas.microsoft.com/office/powerpoint/2010/main" val="29088989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0" y="0"/>
            <a:ext cx="9036496" cy="3501008"/>
          </a:xfrm>
          <a:prstGeom prst="rect">
            <a:avLst/>
          </a:prstGeom>
        </p:spPr>
      </p:pic>
      <p:pic>
        <p:nvPicPr>
          <p:cNvPr id="5" name="Image 4"/>
          <p:cNvPicPr>
            <a:picLocks noChangeAspect="1"/>
          </p:cNvPicPr>
          <p:nvPr/>
        </p:nvPicPr>
        <p:blipFill>
          <a:blip r:embed="rId3"/>
          <a:stretch>
            <a:fillRect/>
          </a:stretch>
        </p:blipFill>
        <p:spPr>
          <a:xfrm>
            <a:off x="2381" y="3717032"/>
            <a:ext cx="9141619" cy="2952328"/>
          </a:xfrm>
          <a:prstGeom prst="rect">
            <a:avLst/>
          </a:prstGeom>
        </p:spPr>
      </p:pic>
    </p:spTree>
    <p:extLst>
      <p:ext uri="{BB962C8B-B14F-4D97-AF65-F5344CB8AC3E}">
        <p14:creationId xmlns:p14="http://schemas.microsoft.com/office/powerpoint/2010/main" val="69834080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0" y="0"/>
            <a:ext cx="9252520" cy="6741368"/>
          </a:xfrm>
          <a:prstGeom prst="rect">
            <a:avLst/>
          </a:prstGeom>
        </p:spPr>
      </p:pic>
    </p:spTree>
    <p:extLst>
      <p:ext uri="{BB962C8B-B14F-4D97-AF65-F5344CB8AC3E}">
        <p14:creationId xmlns:p14="http://schemas.microsoft.com/office/powerpoint/2010/main" val="224546298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18612" y="0"/>
            <a:ext cx="9162612" cy="4005064"/>
          </a:xfrm>
          <a:prstGeom prst="rect">
            <a:avLst/>
          </a:prstGeom>
        </p:spPr>
      </p:pic>
      <p:pic>
        <p:nvPicPr>
          <p:cNvPr id="5" name="Image 4"/>
          <p:cNvPicPr>
            <a:picLocks noChangeAspect="1"/>
          </p:cNvPicPr>
          <p:nvPr/>
        </p:nvPicPr>
        <p:blipFill>
          <a:blip r:embed="rId3"/>
          <a:stretch>
            <a:fillRect/>
          </a:stretch>
        </p:blipFill>
        <p:spPr>
          <a:xfrm>
            <a:off x="8100" y="3976998"/>
            <a:ext cx="9028395" cy="2881002"/>
          </a:xfrm>
          <a:prstGeom prst="rect">
            <a:avLst/>
          </a:prstGeom>
        </p:spPr>
      </p:pic>
    </p:spTree>
    <p:extLst>
      <p:ext uri="{BB962C8B-B14F-4D97-AF65-F5344CB8AC3E}">
        <p14:creationId xmlns:p14="http://schemas.microsoft.com/office/powerpoint/2010/main" val="211961537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0" y="0"/>
            <a:ext cx="9144000" cy="4175342"/>
          </a:xfrm>
          <a:prstGeom prst="rect">
            <a:avLst/>
          </a:prstGeom>
        </p:spPr>
      </p:pic>
      <p:sp>
        <p:nvSpPr>
          <p:cNvPr id="5" name="Rectangle 4"/>
          <p:cNvSpPr/>
          <p:nvPr/>
        </p:nvSpPr>
        <p:spPr>
          <a:xfrm>
            <a:off x="-4544" y="4175342"/>
            <a:ext cx="9004557" cy="2677656"/>
          </a:xfrm>
          <a:prstGeom prst="rect">
            <a:avLst/>
          </a:prstGeom>
        </p:spPr>
        <p:txBody>
          <a:bodyPr wrap="square">
            <a:spAutoFit/>
          </a:bodyPr>
          <a:lstStyle/>
          <a:p>
            <a:pPr algn="just"/>
            <a:r>
              <a:rPr lang="fr-FR" sz="2400" b="1" dirty="0">
                <a:latin typeface="Times New Roman" panose="02020603050405020304" pitchFamily="18" charset="0"/>
                <a:cs typeface="Times New Roman" panose="02020603050405020304" pitchFamily="18" charset="0"/>
              </a:rPr>
              <a:t>En conclusion, </a:t>
            </a:r>
            <a:r>
              <a:rPr lang="fr-FR" sz="2400" dirty="0">
                <a:latin typeface="Times New Roman" panose="02020603050405020304" pitchFamily="18" charset="0"/>
                <a:cs typeface="Times New Roman" panose="02020603050405020304" pitchFamily="18" charset="0"/>
              </a:rPr>
              <a:t>nous pouvons dire que le </a:t>
            </a:r>
            <a:r>
              <a:rPr lang="fr-FR" sz="2400" dirty="0" err="1">
                <a:latin typeface="Times New Roman" panose="02020603050405020304" pitchFamily="18" charset="0"/>
                <a:cs typeface="Times New Roman" panose="02020603050405020304" pitchFamily="18" charset="0"/>
              </a:rPr>
              <a:t>NoSQL</a:t>
            </a:r>
            <a:r>
              <a:rPr lang="fr-FR" sz="2400" dirty="0">
                <a:latin typeface="Times New Roman" panose="02020603050405020304" pitchFamily="18" charset="0"/>
                <a:cs typeface="Times New Roman" panose="02020603050405020304" pitchFamily="18" charset="0"/>
              </a:rPr>
              <a:t> est une technologie en plein essor qui, en plus de ses performances techniques </a:t>
            </a:r>
            <a:r>
              <a:rPr lang="fr-FR" sz="2400" dirty="0" smtClean="0">
                <a:latin typeface="Times New Roman" panose="02020603050405020304" pitchFamily="18" charset="0"/>
                <a:cs typeface="Times New Roman" panose="02020603050405020304" pitchFamily="18" charset="0"/>
              </a:rPr>
              <a:t>avérées, </a:t>
            </a:r>
            <a:r>
              <a:rPr lang="fr-FR" sz="2400" dirty="0">
                <a:latin typeface="Times New Roman" panose="02020603050405020304" pitchFamily="18" charset="0"/>
                <a:cs typeface="Times New Roman" panose="02020603050405020304" pitchFamily="18" charset="0"/>
              </a:rPr>
              <a:t>constitue un </a:t>
            </a:r>
            <a:r>
              <a:rPr lang="fr-FR" sz="2400" dirty="0" smtClean="0">
                <a:latin typeface="Times New Roman" panose="02020603050405020304" pitchFamily="18" charset="0"/>
                <a:cs typeface="Times New Roman" panose="02020603050405020304" pitchFamily="18" charset="0"/>
              </a:rPr>
              <a:t>véritable marche </a:t>
            </a:r>
            <a:r>
              <a:rPr lang="fr-FR" sz="2400" dirty="0">
                <a:latin typeface="Times New Roman" panose="02020603050405020304" pitchFamily="18" charset="0"/>
                <a:cs typeface="Times New Roman" panose="02020603050405020304" pitchFamily="18" charset="0"/>
              </a:rPr>
              <a:t>qui profite aux entreprises du secteur. Il est important de noter que le </a:t>
            </a:r>
            <a:r>
              <a:rPr lang="fr-FR" sz="2400" dirty="0" err="1">
                <a:latin typeface="Times New Roman" panose="02020603050405020304" pitchFamily="18" charset="0"/>
                <a:cs typeface="Times New Roman" panose="02020603050405020304" pitchFamily="18" charset="0"/>
              </a:rPr>
              <a:t>NoSQL</a:t>
            </a:r>
            <a:r>
              <a:rPr lang="fr-FR" sz="2400" dirty="0">
                <a:latin typeface="Times New Roman" panose="02020603050405020304" pitchFamily="18" charset="0"/>
                <a:cs typeface="Times New Roman" panose="02020603050405020304" pitchFamily="18" charset="0"/>
              </a:rPr>
              <a:t> n’est en aucun cas une </a:t>
            </a:r>
            <a:r>
              <a:rPr lang="fr-FR" sz="2400" dirty="0" smtClean="0">
                <a:latin typeface="Times New Roman" panose="02020603050405020304" pitchFamily="18" charset="0"/>
                <a:cs typeface="Times New Roman" panose="02020603050405020304" pitchFamily="18" charset="0"/>
              </a:rPr>
              <a:t>négation </a:t>
            </a:r>
            <a:r>
              <a:rPr lang="fr-FR" sz="2400" dirty="0">
                <a:latin typeface="Times New Roman" panose="02020603050405020304" pitchFamily="18" charset="0"/>
                <a:cs typeface="Times New Roman" panose="02020603050405020304" pitchFamily="18" charset="0"/>
              </a:rPr>
              <a:t>du SQL, ni un </a:t>
            </a:r>
            <a:r>
              <a:rPr lang="fr-FR" sz="2400" dirty="0" smtClean="0">
                <a:latin typeface="Times New Roman" panose="02020603050405020304" pitchFamily="18" charset="0"/>
                <a:cs typeface="Times New Roman" panose="02020603050405020304" pitchFamily="18" charset="0"/>
              </a:rPr>
              <a:t>remplaçant </a:t>
            </a:r>
            <a:r>
              <a:rPr lang="fr-FR" sz="2400" dirty="0">
                <a:latin typeface="Times New Roman" panose="02020603050405020304" pitchFamily="18" charset="0"/>
                <a:cs typeface="Times New Roman" panose="02020603050405020304" pitchFamily="18" charset="0"/>
              </a:rPr>
              <a:t>du SQL. En ce qui concerne l’avenir du </a:t>
            </a:r>
            <a:r>
              <a:rPr lang="fr-FR" sz="2400" dirty="0" err="1">
                <a:latin typeface="Times New Roman" panose="02020603050405020304" pitchFamily="18" charset="0"/>
                <a:cs typeface="Times New Roman" panose="02020603050405020304" pitchFamily="18" charset="0"/>
              </a:rPr>
              <a:t>NoSQL</a:t>
            </a:r>
            <a:r>
              <a:rPr lang="fr-FR" sz="2400" dirty="0">
                <a:latin typeface="Times New Roman" panose="02020603050405020304" pitchFamily="18" charset="0"/>
                <a:cs typeface="Times New Roman" panose="02020603050405020304" pitchFamily="18" charset="0"/>
              </a:rPr>
              <a:t> nous pouvons affirmer que cette technologie cohabitera avec le SQL qui demeure pour l’heure le langage le plus </a:t>
            </a:r>
            <a:r>
              <a:rPr lang="fr-FR" sz="2400" dirty="0" smtClean="0">
                <a:latin typeface="Times New Roman" panose="02020603050405020304" pitchFamily="18" charset="0"/>
                <a:cs typeface="Times New Roman" panose="02020603050405020304" pitchFamily="18" charset="0"/>
              </a:rPr>
              <a:t>utilise</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063798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96950"/>
          </a:xfrm>
        </p:spPr>
        <p:txBody>
          <a:bodyPr>
            <a:normAutofit/>
          </a:bodyPr>
          <a:lstStyle/>
          <a:p>
            <a:r>
              <a:rPr lang="fr-FR" sz="3600" b="1" dirty="0" smtClean="0">
                <a:latin typeface="Times New Roman" panose="02020603050405020304" pitchFamily="18" charset="0"/>
                <a:cs typeface="Times New Roman" panose="02020603050405020304" pitchFamily="18" charset="0"/>
              </a:rPr>
              <a:t>Chap.3.Traitement des données avec Python</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0" y="796950"/>
            <a:ext cx="9144000" cy="6061050"/>
          </a:xfrm>
        </p:spPr>
        <p:txBody>
          <a:bodyPr/>
          <a:lstStyle/>
          <a:p>
            <a:pPr marL="0" indent="0">
              <a:buNone/>
            </a:pPr>
            <a:r>
              <a:rPr lang="fr-FR" b="1" dirty="0">
                <a:latin typeface="Times New Roman" panose="02020603050405020304" pitchFamily="18" charset="0"/>
                <a:cs typeface="Times New Roman" panose="02020603050405020304" pitchFamily="18" charset="0"/>
              </a:rPr>
              <a:t>3.1. Les </a:t>
            </a:r>
            <a:r>
              <a:rPr lang="fr-FR" b="1" dirty="0" smtClean="0">
                <a:latin typeface="Times New Roman" panose="02020603050405020304" pitchFamily="18" charset="0"/>
                <a:cs typeface="Times New Roman" panose="02020603050405020304" pitchFamily="18" charset="0"/>
              </a:rPr>
              <a:t>listes</a:t>
            </a:r>
          </a:p>
          <a:p>
            <a:pPr marL="0" indent="0">
              <a:buNone/>
            </a:pPr>
            <a:r>
              <a:rPr lang="fr-FR" dirty="0">
                <a:solidFill>
                  <a:srgbClr val="000000"/>
                </a:solidFill>
                <a:latin typeface="Times New Roman" panose="02020603050405020304" pitchFamily="18" charset="0"/>
                <a:cs typeface="Times New Roman" panose="02020603050405020304" pitchFamily="18" charset="0"/>
              </a:rPr>
              <a:t>Une liste possède un identificateur et chaque élément du tableau est repéré par un indice précisant sa position au sein du tableau</a:t>
            </a:r>
            <a:r>
              <a:rPr lang="fr-FR" dirty="0" smtClean="0">
                <a:solidFill>
                  <a:srgbClr val="000000"/>
                </a:solidFill>
                <a:latin typeface="Times New Roman" panose="02020603050405020304" pitchFamily="18" charset="0"/>
                <a:cs typeface="Times New Roman" panose="02020603050405020304" pitchFamily="18" charset="0"/>
              </a:rPr>
              <a:t>.</a:t>
            </a:r>
          </a:p>
          <a:p>
            <a:pPr marL="0" indent="0">
              <a:buNone/>
            </a:pPr>
            <a:endParaRPr lang="fr-FR" dirty="0">
              <a:latin typeface="Times New Roman" panose="02020603050405020304" pitchFamily="18" charset="0"/>
              <a:cs typeface="Times New Roman" panose="02020603050405020304" pitchFamily="18" charset="0"/>
            </a:endParaRPr>
          </a:p>
          <a:p>
            <a:pPr marL="0" indent="0">
              <a:buNone/>
            </a:pPr>
            <a:endParaRPr lang="fr-FR" dirty="0"/>
          </a:p>
        </p:txBody>
      </p:sp>
      <p:pic>
        <p:nvPicPr>
          <p:cNvPr id="4" name="Image 3"/>
          <p:cNvPicPr>
            <a:picLocks noChangeAspect="1"/>
          </p:cNvPicPr>
          <p:nvPr/>
        </p:nvPicPr>
        <p:blipFill>
          <a:blip r:embed="rId2"/>
          <a:stretch>
            <a:fillRect/>
          </a:stretch>
        </p:blipFill>
        <p:spPr>
          <a:xfrm>
            <a:off x="467544" y="2952618"/>
            <a:ext cx="7272808" cy="1693088"/>
          </a:xfrm>
          <a:prstGeom prst="rect">
            <a:avLst/>
          </a:prstGeom>
        </p:spPr>
      </p:pic>
      <p:sp>
        <p:nvSpPr>
          <p:cNvPr id="5" name="Rectangle 4"/>
          <p:cNvSpPr/>
          <p:nvPr/>
        </p:nvSpPr>
        <p:spPr>
          <a:xfrm>
            <a:off x="18830" y="4509120"/>
            <a:ext cx="9125170" cy="1569660"/>
          </a:xfrm>
          <a:prstGeom prst="rect">
            <a:avLst/>
          </a:prstGeom>
        </p:spPr>
        <p:txBody>
          <a:bodyPr wrap="square">
            <a:spAutoFit/>
          </a:bodyPr>
          <a:lstStyle/>
          <a:p>
            <a:r>
              <a:rPr lang="fr-FR" sz="2400" dirty="0">
                <a:solidFill>
                  <a:srgbClr val="000000"/>
                </a:solidFill>
                <a:latin typeface="Times New Roman" panose="02020603050405020304" pitchFamily="18" charset="0"/>
                <a:cs typeface="Times New Roman" panose="02020603050405020304" pitchFamily="18" charset="0"/>
              </a:rPr>
              <a:t>On notera un élément i du tableau T de la manière suivante T[i]</a:t>
            </a:r>
          </a:p>
          <a:p>
            <a:r>
              <a:rPr lang="fr-FR" sz="2400" dirty="0">
                <a:solidFill>
                  <a:srgbClr val="000000"/>
                </a:solidFill>
                <a:latin typeface="Times New Roman" panose="02020603050405020304" pitchFamily="18" charset="0"/>
                <a:cs typeface="Times New Roman" panose="02020603050405020304" pitchFamily="18" charset="0"/>
              </a:rPr>
              <a:t>1</a:t>
            </a:r>
            <a:r>
              <a:rPr lang="fr-FR" sz="2400" baseline="30000" dirty="0">
                <a:solidFill>
                  <a:srgbClr val="000000"/>
                </a:solidFill>
                <a:latin typeface="Times New Roman" panose="02020603050405020304" pitchFamily="18" charset="0"/>
                <a:cs typeface="Times New Roman" panose="02020603050405020304" pitchFamily="18" charset="0"/>
              </a:rPr>
              <a:t>er</a:t>
            </a:r>
            <a:r>
              <a:rPr lang="fr-FR" sz="2400" dirty="0">
                <a:solidFill>
                  <a:srgbClr val="000000"/>
                </a:solidFill>
                <a:latin typeface="Times New Roman" panose="02020603050405020304" pitchFamily="18" charset="0"/>
                <a:cs typeface="Times New Roman" panose="02020603050405020304" pitchFamily="18" charset="0"/>
              </a:rPr>
              <a:t>élément : T[0]</a:t>
            </a:r>
          </a:p>
          <a:p>
            <a:r>
              <a:rPr lang="fr-FR" sz="2400" dirty="0">
                <a:solidFill>
                  <a:srgbClr val="000000"/>
                </a:solidFill>
                <a:latin typeface="Times New Roman" panose="02020603050405020304" pitchFamily="18" charset="0"/>
                <a:cs typeface="Times New Roman" panose="02020603050405020304" pitchFamily="18" charset="0"/>
              </a:rPr>
              <a:t>2</a:t>
            </a:r>
            <a:r>
              <a:rPr lang="fr-FR" sz="2400" baseline="30000" dirty="0">
                <a:solidFill>
                  <a:srgbClr val="000000"/>
                </a:solidFill>
                <a:latin typeface="Times New Roman" panose="02020603050405020304" pitchFamily="18" charset="0"/>
                <a:cs typeface="Times New Roman" panose="02020603050405020304" pitchFamily="18" charset="0"/>
              </a:rPr>
              <a:t>ième</a:t>
            </a:r>
            <a:r>
              <a:rPr lang="fr-FR" sz="2400" dirty="0">
                <a:solidFill>
                  <a:srgbClr val="000000"/>
                </a:solidFill>
                <a:latin typeface="Times New Roman" panose="02020603050405020304" pitchFamily="18" charset="0"/>
                <a:cs typeface="Times New Roman" panose="02020603050405020304" pitchFamily="18" charset="0"/>
              </a:rPr>
              <a:t>élément T[1]</a:t>
            </a:r>
          </a:p>
          <a:p>
            <a:r>
              <a:rPr lang="fr-FR" sz="2400" dirty="0">
                <a:solidFill>
                  <a:srgbClr val="000000"/>
                </a:solidFill>
                <a:latin typeface="Times New Roman" panose="02020603050405020304" pitchFamily="18" charset="0"/>
                <a:cs typeface="Times New Roman" panose="02020603050405020304" pitchFamily="18" charset="0"/>
              </a:rPr>
              <a:t>3</a:t>
            </a:r>
            <a:r>
              <a:rPr lang="fr-FR" sz="2400" baseline="30000" dirty="0">
                <a:solidFill>
                  <a:srgbClr val="000000"/>
                </a:solidFill>
                <a:latin typeface="Times New Roman" panose="02020603050405020304" pitchFamily="18" charset="0"/>
                <a:cs typeface="Times New Roman" panose="02020603050405020304" pitchFamily="18" charset="0"/>
              </a:rPr>
              <a:t>ième</a:t>
            </a:r>
            <a:r>
              <a:rPr lang="fr-FR" sz="2400" dirty="0">
                <a:solidFill>
                  <a:srgbClr val="000000"/>
                </a:solidFill>
                <a:latin typeface="Times New Roman" panose="02020603050405020304" pitchFamily="18" charset="0"/>
                <a:cs typeface="Times New Roman" panose="02020603050405020304" pitchFamily="18" charset="0"/>
              </a:rPr>
              <a:t>élément T[2] etc.</a:t>
            </a:r>
            <a:endParaRPr lang="fr-FR"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0" y="6003285"/>
            <a:ext cx="8928992" cy="954107"/>
          </a:xfrm>
          <a:prstGeom prst="rect">
            <a:avLst/>
          </a:prstGeom>
        </p:spPr>
        <p:txBody>
          <a:bodyPr wrap="square">
            <a:spAutoFit/>
          </a:bodyPr>
          <a:lstStyle/>
          <a:p>
            <a:r>
              <a:rPr lang="fr-FR" sz="2800" dirty="0">
                <a:solidFill>
                  <a:srgbClr val="000000"/>
                </a:solidFill>
                <a:latin typeface="Times New Roman" panose="02020603050405020304" pitchFamily="18" charset="0"/>
                <a:cs typeface="Times New Roman" panose="02020603050405020304" pitchFamily="18" charset="0"/>
              </a:rPr>
              <a:t>Un indice peut être une expression arithmétique par exemple : NOTE[i+2], NOTE[2*</a:t>
            </a:r>
            <a:r>
              <a:rPr lang="fr-FR" sz="2800" dirty="0" err="1">
                <a:solidFill>
                  <a:srgbClr val="000000"/>
                </a:solidFill>
                <a:latin typeface="Times New Roman" panose="02020603050405020304" pitchFamily="18" charset="0"/>
                <a:cs typeface="Times New Roman" panose="02020603050405020304" pitchFamily="18" charset="0"/>
              </a:rPr>
              <a:t>i+j</a:t>
            </a:r>
            <a:r>
              <a:rPr lang="fr-FR" sz="2800" dirty="0">
                <a:solidFill>
                  <a:srgbClr val="000000"/>
                </a:solidFill>
                <a:latin typeface="Times New Roman" panose="02020603050405020304" pitchFamily="18" charset="0"/>
                <a:cs typeface="Times New Roman" panose="02020603050405020304" pitchFamily="18" charset="0"/>
              </a:rPr>
              <a:t>]</a:t>
            </a:r>
            <a:endParaRPr lang="fr-F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0611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93</a:t>
            </a:fld>
            <a:endParaRPr lang="fr-BE"/>
          </a:p>
        </p:txBody>
      </p:sp>
      <p:sp>
        <p:nvSpPr>
          <p:cNvPr id="4" name="Rectangle 3"/>
          <p:cNvSpPr/>
          <p:nvPr/>
        </p:nvSpPr>
        <p:spPr>
          <a:xfrm>
            <a:off x="0" y="0"/>
            <a:ext cx="9036496" cy="6001643"/>
          </a:xfrm>
          <a:prstGeom prst="rect">
            <a:avLst/>
          </a:prstGeom>
        </p:spPr>
        <p:txBody>
          <a:bodyPr wrap="square">
            <a:spAutoFit/>
          </a:bodyPr>
          <a:lstStyle/>
          <a:p>
            <a:pPr indent="450215" algn="just">
              <a:lnSpc>
                <a:spcPct val="150000"/>
              </a:lnSpc>
              <a:spcAft>
                <a:spcPts val="0"/>
              </a:spcAft>
            </a:pPr>
            <a:r>
              <a:rPr lang="fr-FR" sz="3200" b="1" dirty="0">
                <a:latin typeface="Times New Roman" panose="02020603050405020304" pitchFamily="18" charset="0"/>
                <a:cs typeface="Times New Roman" panose="02020603050405020304" pitchFamily="18" charset="0"/>
              </a:rPr>
              <a:t>A</a:t>
            </a:r>
            <a:r>
              <a:rPr lang="fr-FR" sz="3200" b="1" dirty="0" smtClean="0">
                <a:latin typeface="Times New Roman" panose="02020603050405020304" pitchFamily="18" charset="0"/>
                <a:cs typeface="Times New Roman" panose="02020603050405020304" pitchFamily="18" charset="0"/>
              </a:rPr>
              <a:t>ffichage </a:t>
            </a:r>
            <a:r>
              <a:rPr lang="fr-FR" sz="3200" b="1" dirty="0">
                <a:latin typeface="Times New Roman" panose="02020603050405020304" pitchFamily="18" charset="0"/>
                <a:cs typeface="Times New Roman" panose="02020603050405020304" pitchFamily="18" charset="0"/>
              </a:rPr>
              <a:t>d’une liste en </a:t>
            </a:r>
            <a:r>
              <a:rPr lang="fr-FR" sz="3200" b="1" dirty="0" smtClean="0">
                <a:latin typeface="Times New Roman" panose="02020603050405020304" pitchFamily="18" charset="0"/>
                <a:cs typeface="Times New Roman" panose="02020603050405020304" pitchFamily="18" charset="0"/>
              </a:rPr>
              <a:t>python</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import os</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import </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sys</a:t>
            </a:r>
            <a:endParaRPr lang="fr-FR" sz="2800" dirty="0">
              <a:latin typeface="Times New Roman" panose="02020603050405020304" pitchFamily="18" charset="0"/>
              <a:ea typeface="Times New Roman" panose="02020603050405020304" pitchFamily="18" charset="0"/>
              <a:cs typeface="Times New Roman" panose="02020603050405020304" pitchFamily="18" charset="0"/>
            </a:endParaRP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liste =[]</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n=</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int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(input("entrer la taille de la liste n"))</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for i in range(n):</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int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(input("saisir l </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a:t>
            </a:r>
          </a:p>
          <a:p>
            <a:pPr indent="450215" algn="just">
              <a:lnSpc>
                <a:spcPct val="150000"/>
              </a:lnSpc>
              <a:spcAft>
                <a:spcPts val="0"/>
              </a:spcAft>
            </a:pPr>
            <a:r>
              <a:rPr lang="fr-FR" sz="2800" dirty="0">
                <a:latin typeface="Times New Roman" panose="02020603050405020304" pitchFamily="18" charset="0"/>
                <a:ea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liste.append</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a:t>
            </a:r>
          </a:p>
          <a:p>
            <a:pPr indent="450215" algn="just">
              <a:lnSpc>
                <a:spcPct val="150000"/>
              </a:lnSpc>
              <a:spcAft>
                <a:spcPts val="0"/>
              </a:spcAft>
            </a:pPr>
            <a:r>
              <a:rPr lang="fr-FR" sz="2800" dirty="0" err="1">
                <a:latin typeface="Times New Roman" panose="02020603050405020304" pitchFamily="18" charset="0"/>
                <a:ea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(liste)</a:t>
            </a:r>
            <a:endParaRPr lang="fr-FR"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4353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94</a:t>
            </a:fld>
            <a:endParaRPr lang="fr-BE"/>
          </a:p>
        </p:txBody>
      </p:sp>
      <p:sp>
        <p:nvSpPr>
          <p:cNvPr id="5" name="Rectangle 4"/>
          <p:cNvSpPr/>
          <p:nvPr/>
        </p:nvSpPr>
        <p:spPr>
          <a:xfrm>
            <a:off x="0" y="-699"/>
            <a:ext cx="8991600" cy="6740307"/>
          </a:xfrm>
          <a:prstGeom prst="rect">
            <a:avLst/>
          </a:prstGeom>
        </p:spPr>
        <p:txBody>
          <a:bodyPr wrap="square">
            <a:spAutoFit/>
          </a:bodyPr>
          <a:lstStyle/>
          <a:p>
            <a:r>
              <a:rPr lang="fr-FR" sz="2400" dirty="0">
                <a:latin typeface="Times New Roman" panose="02020603050405020304" pitchFamily="18" charset="0"/>
                <a:cs typeface="Times New Roman" panose="02020603050405020304" pitchFamily="18" charset="0"/>
              </a:rPr>
              <a:t>import os</a:t>
            </a:r>
          </a:p>
          <a:p>
            <a:r>
              <a:rPr lang="fr-FR" sz="2400" dirty="0">
                <a:latin typeface="Times New Roman" panose="02020603050405020304" pitchFamily="18" charset="0"/>
                <a:cs typeface="Times New Roman" panose="02020603050405020304" pitchFamily="18" charset="0"/>
              </a:rPr>
              <a:t>import </a:t>
            </a:r>
            <a:r>
              <a:rPr lang="fr-FR" sz="2400" dirty="0" err="1">
                <a:latin typeface="Times New Roman" panose="02020603050405020304" pitchFamily="18" charset="0"/>
                <a:cs typeface="Times New Roman" panose="02020603050405020304" pitchFamily="18" charset="0"/>
              </a:rPr>
              <a:t>sys</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liste1 =[]</a:t>
            </a:r>
          </a:p>
          <a:p>
            <a:r>
              <a:rPr lang="fr-FR" sz="2400" dirty="0">
                <a:latin typeface="Times New Roman" panose="02020603050405020304" pitchFamily="18" charset="0"/>
                <a:cs typeface="Times New Roman" panose="02020603050405020304" pitchFamily="18" charset="0"/>
              </a:rPr>
              <a:t>n=</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(input("Saisir la taille du vecteur n = "))</a:t>
            </a:r>
          </a:p>
          <a:p>
            <a:r>
              <a:rPr lang="fr-FR" sz="2400" dirty="0">
                <a:latin typeface="Times New Roman" panose="02020603050405020304" pitchFamily="18" charset="0"/>
                <a:cs typeface="Times New Roman" panose="02020603050405020304" pitchFamily="18" charset="0"/>
              </a:rPr>
              <a:t>for i in range(n):</a:t>
            </a:r>
          </a:p>
          <a:p>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 du vecteur  = "))</a:t>
            </a:r>
          </a:p>
          <a:p>
            <a:r>
              <a:rPr lang="fr-FR" sz="2400" dirty="0">
                <a:latin typeface="Times New Roman" panose="02020603050405020304" pitchFamily="18" charset="0"/>
                <a:cs typeface="Times New Roman" panose="02020603050405020304" pitchFamily="18" charset="0"/>
              </a:rPr>
              <a:t>   liste1.append(</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                                                                                                                                                                                                                                        </a:t>
            </a:r>
            <a:endParaRPr lang="fr-FR" sz="2400" dirty="0">
              <a:latin typeface="Times New Roman" panose="02020603050405020304" pitchFamily="18" charset="0"/>
              <a:cs typeface="Times New Roman" panose="02020603050405020304" pitchFamily="18" charset="0"/>
            </a:endParaRP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(liste1)</a:t>
            </a:r>
          </a:p>
          <a:p>
            <a:r>
              <a:rPr lang="fr-FR" sz="2400" dirty="0" err="1">
                <a:latin typeface="Times New Roman" panose="02020603050405020304" pitchFamily="18" charset="0"/>
                <a:cs typeface="Times New Roman" panose="02020603050405020304" pitchFamily="18" charset="0"/>
              </a:rPr>
              <a:t>print</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liste2 =[]</a:t>
            </a:r>
          </a:p>
          <a:p>
            <a:r>
              <a:rPr lang="fr-FR" sz="2400" dirty="0">
                <a:latin typeface="Times New Roman" panose="02020603050405020304" pitchFamily="18" charset="0"/>
                <a:cs typeface="Times New Roman" panose="02020603050405020304" pitchFamily="18" charset="0"/>
              </a:rPr>
              <a:t>n=</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(input("Saisir la taille de la </a:t>
            </a:r>
            <a:r>
              <a:rPr lang="fr-FR" sz="2400" dirty="0" err="1">
                <a:latin typeface="Times New Roman" panose="02020603050405020304" pitchFamily="18" charset="0"/>
                <a:cs typeface="Times New Roman" panose="02020603050405020304" pitchFamily="18" charset="0"/>
              </a:rPr>
              <a:t>deuxieme</a:t>
            </a:r>
            <a:r>
              <a:rPr lang="fr-FR" sz="2400" dirty="0">
                <a:latin typeface="Times New Roman" panose="02020603050405020304" pitchFamily="18" charset="0"/>
                <a:cs typeface="Times New Roman" panose="02020603050405020304" pitchFamily="18" charset="0"/>
              </a:rPr>
              <a:t> liste n = "))</a:t>
            </a:r>
          </a:p>
          <a:p>
            <a:r>
              <a:rPr lang="fr-FR" sz="2400" dirty="0">
                <a:latin typeface="Times New Roman" panose="02020603050405020304" pitchFamily="18" charset="0"/>
                <a:cs typeface="Times New Roman" panose="02020603050405020304" pitchFamily="18" charset="0"/>
              </a:rPr>
              <a:t>for i in range(n):</a:t>
            </a:r>
          </a:p>
          <a:p>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 du vecteur  = "))</a:t>
            </a:r>
          </a:p>
          <a:p>
            <a:r>
              <a:rPr lang="fr-FR" sz="2400" dirty="0">
                <a:latin typeface="Times New Roman" panose="02020603050405020304" pitchFamily="18" charset="0"/>
                <a:cs typeface="Times New Roman" panose="02020603050405020304" pitchFamily="18" charset="0"/>
              </a:rPr>
              <a:t>   liste2.append(</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a:t>
            </a:r>
          </a:p>
          <a:p>
            <a:r>
              <a:rPr lang="fr-FR" sz="2400" dirty="0" err="1">
                <a:latin typeface="Times New Roman" panose="02020603050405020304" pitchFamily="18" charset="0"/>
                <a:cs typeface="Times New Roman" panose="02020603050405020304" pitchFamily="18" charset="0"/>
              </a:rPr>
              <a:t>print</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("la </a:t>
            </a:r>
            <a:r>
              <a:rPr lang="fr-FR" sz="2400" dirty="0" err="1">
                <a:latin typeface="Times New Roman" panose="02020603050405020304" pitchFamily="18" charset="0"/>
                <a:cs typeface="Times New Roman" panose="02020603050405020304" pitchFamily="18" charset="0"/>
              </a:rPr>
              <a:t>concatenation</a:t>
            </a:r>
            <a:r>
              <a:rPr lang="fr-FR" sz="2400" dirty="0">
                <a:latin typeface="Times New Roman" panose="02020603050405020304" pitchFamily="18" charset="0"/>
                <a:cs typeface="Times New Roman" panose="02020603050405020304" pitchFamily="18" charset="0"/>
              </a:rPr>
              <a:t> de deux liste est")</a:t>
            </a:r>
          </a:p>
          <a:p>
            <a:r>
              <a:rPr lang="fr-FR" sz="2400" dirty="0">
                <a:latin typeface="Times New Roman" panose="02020603050405020304" pitchFamily="18" charset="0"/>
                <a:cs typeface="Times New Roman" panose="02020603050405020304" pitchFamily="18" charset="0"/>
              </a:rPr>
              <a:t>liste1.extend(liste2)</a:t>
            </a: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(liste1)</a:t>
            </a:r>
          </a:p>
        </p:txBody>
      </p:sp>
    </p:spTree>
    <p:extLst>
      <p:ext uri="{BB962C8B-B14F-4D97-AF65-F5344CB8AC3E}">
        <p14:creationId xmlns:p14="http://schemas.microsoft.com/office/powerpoint/2010/main" val="2391327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3706"/>
            <a:ext cx="9324528" cy="841248"/>
          </a:xfrm>
        </p:spPr>
        <p:txBody>
          <a:bodyPr>
            <a:noAutofit/>
          </a:bodyPr>
          <a:lstStyle/>
          <a:p>
            <a:pPr algn="ctr"/>
            <a:r>
              <a:rPr lang="en-US" sz="2800" dirty="0" smtClean="0">
                <a:latin typeface="Times New Roman" panose="02020603050405020304" pitchFamily="18" charset="0"/>
                <a:cs typeface="Times New Roman" panose="02020603050405020304" pitchFamily="18" charset="0"/>
              </a:rPr>
              <a:t>QUELQUES FONCTIONS POUR LE TRAITEMENT DES LISTES</a:t>
            </a:r>
            <a:endParaRPr lang="fr-FR" sz="2800" dirty="0">
              <a:latin typeface="Times New Roman" panose="02020603050405020304" pitchFamily="18" charset="0"/>
              <a:cs typeface="Times New Roman" panose="02020603050405020304" pitchFamily="18" charset="0"/>
            </a:endParaRPr>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95</a:t>
            </a:fld>
            <a:endParaRPr lang="fr-BE"/>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179512" y="844954"/>
            <a:ext cx="8812088" cy="6013046"/>
          </a:xfrm>
          <a:prstGeom prst="rect">
            <a:avLst/>
          </a:prstGeom>
          <a:noFill/>
          <a:ln>
            <a:noFill/>
          </a:ln>
        </p:spPr>
      </p:pic>
    </p:spTree>
    <p:extLst>
      <p:ext uri="{BB962C8B-B14F-4D97-AF65-F5344CB8AC3E}">
        <p14:creationId xmlns:p14="http://schemas.microsoft.com/office/powerpoint/2010/main" val="25679670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96</a:t>
            </a:fld>
            <a:endParaRPr lang="fr-BE"/>
          </a:p>
        </p:txBody>
      </p:sp>
      <p:pic>
        <p:nvPicPr>
          <p:cNvPr id="4" name="Image 3"/>
          <p:cNvPicPr>
            <a:picLocks noChangeAspect="1"/>
          </p:cNvPicPr>
          <p:nvPr/>
        </p:nvPicPr>
        <p:blipFill>
          <a:blip r:embed="rId2"/>
          <a:stretch>
            <a:fillRect/>
          </a:stretch>
        </p:blipFill>
        <p:spPr>
          <a:xfrm>
            <a:off x="539552" y="260648"/>
            <a:ext cx="7927848" cy="3828628"/>
          </a:xfrm>
          <a:prstGeom prst="rect">
            <a:avLst/>
          </a:prstGeom>
        </p:spPr>
      </p:pic>
      <p:sp>
        <p:nvSpPr>
          <p:cNvPr id="2" name="Rectangle 1"/>
          <p:cNvSpPr/>
          <p:nvPr/>
        </p:nvSpPr>
        <p:spPr>
          <a:xfrm>
            <a:off x="511663" y="4437983"/>
            <a:ext cx="8375780" cy="2062103"/>
          </a:xfrm>
          <a:prstGeom prst="rect">
            <a:avLst/>
          </a:prstGeom>
        </p:spPr>
        <p:txBody>
          <a:bodyPr wrap="square">
            <a:spAutoFit/>
          </a:bodyPr>
          <a:lstStyle/>
          <a:p>
            <a:pPr marL="342900" indent="-342900">
              <a:buFont typeface="+mj-lt"/>
              <a:buAutoNum type="arabicPeriod"/>
            </a:pPr>
            <a:r>
              <a:rPr lang="fr-FR" sz="3200" dirty="0">
                <a:latin typeface="Times New Roman" panose="02020603050405020304" pitchFamily="18" charset="0"/>
                <a:cs typeface="Times New Roman" panose="02020603050405020304" pitchFamily="18" charset="0"/>
              </a:rPr>
              <a:t>calculer la somme des éléments de la liste</a:t>
            </a:r>
          </a:p>
          <a:p>
            <a:pPr marL="342900" indent="-342900">
              <a:buFont typeface="+mj-lt"/>
              <a:buAutoNum type="arabicPeriod"/>
            </a:pPr>
            <a:r>
              <a:rPr lang="fr-FR" sz="3200" dirty="0">
                <a:latin typeface="Times New Roman" panose="02020603050405020304" pitchFamily="18" charset="0"/>
                <a:cs typeface="Times New Roman" panose="02020603050405020304" pitchFamily="18" charset="0"/>
              </a:rPr>
              <a:t>Afficher la moyenne des éléments de la </a:t>
            </a:r>
            <a:r>
              <a:rPr lang="fr-FR" sz="3200" dirty="0" smtClean="0">
                <a:latin typeface="Times New Roman" panose="02020603050405020304" pitchFamily="18" charset="0"/>
                <a:cs typeface="Times New Roman" panose="02020603050405020304" pitchFamily="18" charset="0"/>
              </a:rPr>
              <a:t>liste</a:t>
            </a:r>
          </a:p>
          <a:p>
            <a:pPr marL="342900" indent="-342900">
              <a:buFont typeface="+mj-lt"/>
              <a:buAutoNum type="arabicPeriod"/>
            </a:pPr>
            <a:r>
              <a:rPr lang="fr-FR" sz="3200" dirty="0" smtClean="0">
                <a:latin typeface="Times New Roman" panose="02020603050405020304" pitchFamily="18" charset="0"/>
                <a:cs typeface="Times New Roman" panose="02020603050405020304" pitchFamily="18" charset="0"/>
              </a:rPr>
              <a:t>Afficher le nombre d élément nul , </a:t>
            </a:r>
            <a:r>
              <a:rPr lang="fr-FR" sz="3200" dirty="0" err="1" smtClean="0">
                <a:latin typeface="Times New Roman" panose="02020603050405020304" pitchFamily="18" charset="0"/>
                <a:cs typeface="Times New Roman" panose="02020603050405020304" pitchFamily="18" charset="0"/>
              </a:rPr>
              <a:t>negatif</a:t>
            </a:r>
            <a:endParaRPr lang="fr-FR" sz="3200" dirty="0">
              <a:latin typeface="Times New Roman" panose="02020603050405020304" pitchFamily="18" charset="0"/>
              <a:cs typeface="Times New Roman" panose="02020603050405020304" pitchFamily="18" charset="0"/>
            </a:endParaRPr>
          </a:p>
          <a:p>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58329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06672"/>
            <a:ext cx="8686800" cy="548680"/>
          </a:xfrm>
        </p:spPr>
        <p:txBody>
          <a:bodyPr>
            <a:normAutofit fontScale="90000"/>
          </a:bodyPr>
          <a:lstStyle/>
          <a:p>
            <a:pPr algn="ctr"/>
            <a:r>
              <a:rPr lang="fr-FR" dirty="0" smtClean="0"/>
              <a:t>EXEMPLES</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97</a:t>
            </a:fld>
            <a:endParaRPr lang="fr-BE"/>
          </a:p>
        </p:txBody>
      </p:sp>
      <p:sp>
        <p:nvSpPr>
          <p:cNvPr id="4" name="Rectangle 3"/>
          <p:cNvSpPr/>
          <p:nvPr/>
        </p:nvSpPr>
        <p:spPr>
          <a:xfrm>
            <a:off x="307016" y="85175"/>
            <a:ext cx="8836984" cy="6740307"/>
          </a:xfrm>
          <a:prstGeom prst="rect">
            <a:avLst/>
          </a:prstGeom>
        </p:spPr>
        <p:txBody>
          <a:bodyPr wrap="square">
            <a:spAutoFit/>
          </a:bodyPr>
          <a:lstStyle/>
          <a:p>
            <a:r>
              <a:rPr lang="fr-FR" sz="2400" dirty="0"/>
              <a:t>import os</a:t>
            </a:r>
          </a:p>
          <a:p>
            <a:r>
              <a:rPr lang="fr-FR" sz="2400" dirty="0"/>
              <a:t>import </a:t>
            </a:r>
            <a:r>
              <a:rPr lang="fr-FR" sz="2400" dirty="0" err="1"/>
              <a:t>sys</a:t>
            </a:r>
            <a:endParaRPr lang="fr-FR" sz="2400" dirty="0"/>
          </a:p>
          <a:p>
            <a:r>
              <a:rPr lang="fr-FR" sz="2400" dirty="0"/>
              <a:t>liste =[]</a:t>
            </a:r>
          </a:p>
          <a:p>
            <a:r>
              <a:rPr lang="fr-FR" sz="2400" dirty="0"/>
              <a:t>n=</a:t>
            </a:r>
            <a:r>
              <a:rPr lang="fr-FR" sz="2400" dirty="0" err="1"/>
              <a:t>int</a:t>
            </a:r>
            <a:r>
              <a:rPr lang="fr-FR" sz="2400" dirty="0"/>
              <a:t>(input("Saisir la taille du vecteur n = </a:t>
            </a:r>
            <a:r>
              <a:rPr lang="fr-FR" sz="2400" dirty="0" smtClean="0"/>
              <a:t>"))</a:t>
            </a:r>
            <a:endParaRPr lang="fr-FR" sz="2400" dirty="0"/>
          </a:p>
          <a:p>
            <a:r>
              <a:rPr lang="fr-FR" sz="2400" dirty="0"/>
              <a:t>for i in range(n):</a:t>
            </a:r>
          </a:p>
          <a:p>
            <a:r>
              <a:rPr lang="fr-FR" sz="2400" dirty="0"/>
              <a:t>   </a:t>
            </a:r>
            <a:r>
              <a:rPr lang="fr-FR" sz="2400" dirty="0" err="1"/>
              <a:t>element</a:t>
            </a:r>
            <a:r>
              <a:rPr lang="fr-FR" sz="2400" dirty="0"/>
              <a:t>=</a:t>
            </a:r>
            <a:r>
              <a:rPr lang="fr-FR" sz="2400" dirty="0" err="1"/>
              <a:t>int</a:t>
            </a:r>
            <a:r>
              <a:rPr lang="fr-FR" sz="2400" dirty="0"/>
              <a:t>(input("</a:t>
            </a:r>
            <a:r>
              <a:rPr lang="fr-FR" sz="2400" dirty="0" err="1"/>
              <a:t>Element</a:t>
            </a:r>
            <a:r>
              <a:rPr lang="fr-FR" sz="2400" dirty="0"/>
              <a:t> du vecteur  = "))</a:t>
            </a:r>
          </a:p>
          <a:p>
            <a:r>
              <a:rPr lang="fr-FR" sz="2400" dirty="0"/>
              <a:t>   </a:t>
            </a:r>
            <a:r>
              <a:rPr lang="fr-FR" sz="2400" dirty="0" err="1"/>
              <a:t>liste.append</a:t>
            </a:r>
            <a:r>
              <a:rPr lang="fr-FR" sz="2400" dirty="0"/>
              <a:t>(</a:t>
            </a:r>
            <a:r>
              <a:rPr lang="fr-FR" sz="2400" dirty="0" err="1"/>
              <a:t>element</a:t>
            </a:r>
            <a:r>
              <a:rPr lang="fr-FR" sz="2400" dirty="0"/>
              <a:t>)                                                                                                                                                                                                                                                                                                             </a:t>
            </a:r>
          </a:p>
          <a:p>
            <a:r>
              <a:rPr lang="fr-FR" sz="2400" dirty="0" err="1"/>
              <a:t>print</a:t>
            </a:r>
            <a:r>
              <a:rPr lang="fr-FR" sz="2400" dirty="0"/>
              <a:t>("le premier </a:t>
            </a:r>
            <a:r>
              <a:rPr lang="fr-FR" sz="2400" dirty="0" err="1"/>
              <a:t>element</a:t>
            </a:r>
            <a:r>
              <a:rPr lang="fr-FR" sz="2400" dirty="0"/>
              <a:t> est ",liste[0])</a:t>
            </a:r>
          </a:p>
          <a:p>
            <a:r>
              <a:rPr lang="fr-FR" sz="2400" dirty="0" err="1"/>
              <a:t>print</a:t>
            </a:r>
            <a:r>
              <a:rPr lang="fr-FR" sz="2400" dirty="0"/>
              <a:t>("le dernier </a:t>
            </a:r>
            <a:r>
              <a:rPr lang="fr-FR" sz="2400" dirty="0" err="1"/>
              <a:t>element</a:t>
            </a:r>
            <a:r>
              <a:rPr lang="fr-FR" sz="2400" dirty="0"/>
              <a:t> est ",liste[n-1]) </a:t>
            </a:r>
          </a:p>
          <a:p>
            <a:r>
              <a:rPr lang="fr-FR" sz="2400" dirty="0" err="1"/>
              <a:t>print</a:t>
            </a:r>
            <a:r>
              <a:rPr lang="fr-FR" sz="2400" dirty="0"/>
              <a:t>("L </a:t>
            </a:r>
            <a:r>
              <a:rPr lang="fr-FR" sz="2400" dirty="0" err="1"/>
              <a:t>element</a:t>
            </a:r>
            <a:r>
              <a:rPr lang="fr-FR" sz="2400" dirty="0"/>
              <a:t> minimal est ",min(liste)) </a:t>
            </a:r>
          </a:p>
          <a:p>
            <a:r>
              <a:rPr lang="fr-FR" sz="2400" dirty="0"/>
              <a:t>t=min(liste)</a:t>
            </a:r>
          </a:p>
          <a:p>
            <a:r>
              <a:rPr lang="fr-FR" sz="2400" dirty="0"/>
              <a:t>q=</a:t>
            </a:r>
            <a:r>
              <a:rPr lang="fr-FR" sz="2400" dirty="0" err="1"/>
              <a:t>liste.index</a:t>
            </a:r>
            <a:r>
              <a:rPr lang="fr-FR" sz="2400" dirty="0"/>
              <a:t>(t)</a:t>
            </a:r>
          </a:p>
          <a:p>
            <a:r>
              <a:rPr lang="fr-FR" sz="2400" dirty="0"/>
              <a:t>m=max(liste)</a:t>
            </a:r>
          </a:p>
          <a:p>
            <a:r>
              <a:rPr lang="fr-FR" sz="2400" dirty="0"/>
              <a:t>l=</a:t>
            </a:r>
            <a:r>
              <a:rPr lang="fr-FR" sz="2400" dirty="0" err="1"/>
              <a:t>liste.index</a:t>
            </a:r>
            <a:r>
              <a:rPr lang="fr-FR" sz="2400" dirty="0"/>
              <a:t>(m)</a:t>
            </a:r>
          </a:p>
          <a:p>
            <a:r>
              <a:rPr lang="fr-FR" sz="2400" dirty="0" err="1"/>
              <a:t>print</a:t>
            </a:r>
            <a:r>
              <a:rPr lang="fr-FR" sz="2400" dirty="0"/>
              <a:t>("l indice de l </a:t>
            </a:r>
            <a:r>
              <a:rPr lang="fr-FR" sz="2400" dirty="0" err="1"/>
              <a:t>element</a:t>
            </a:r>
            <a:r>
              <a:rPr lang="fr-FR" sz="2400" dirty="0"/>
              <a:t> </a:t>
            </a:r>
            <a:r>
              <a:rPr lang="fr-FR" sz="2400" dirty="0" err="1"/>
              <a:t>minimal",q</a:t>
            </a:r>
            <a:r>
              <a:rPr lang="fr-FR" sz="2400" dirty="0"/>
              <a:t>)</a:t>
            </a:r>
          </a:p>
          <a:p>
            <a:r>
              <a:rPr lang="fr-FR" sz="2400" dirty="0" err="1"/>
              <a:t>print</a:t>
            </a:r>
            <a:r>
              <a:rPr lang="fr-FR" sz="2400" dirty="0"/>
              <a:t>("LA LISTE TRIEE EST LA SUIVANTE")</a:t>
            </a:r>
          </a:p>
          <a:p>
            <a:r>
              <a:rPr lang="fr-FR" sz="2400" dirty="0" err="1"/>
              <a:t>liste.sort</a:t>
            </a:r>
            <a:r>
              <a:rPr lang="fr-FR" sz="2400" dirty="0"/>
              <a:t>()    </a:t>
            </a:r>
          </a:p>
          <a:p>
            <a:r>
              <a:rPr lang="fr-FR" sz="2400" dirty="0" err="1"/>
              <a:t>print</a:t>
            </a:r>
            <a:r>
              <a:rPr lang="fr-FR" sz="2400" dirty="0"/>
              <a:t>(liste)</a:t>
            </a:r>
          </a:p>
        </p:txBody>
      </p:sp>
    </p:spTree>
    <p:extLst>
      <p:ext uri="{BB962C8B-B14F-4D97-AF65-F5344CB8AC3E}">
        <p14:creationId xmlns:p14="http://schemas.microsoft.com/office/powerpoint/2010/main" val="2914736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0057"/>
            <a:ext cx="8229600" cy="706090"/>
          </a:xfrm>
        </p:spPr>
        <p:txBody>
          <a:bodyPr>
            <a:normAutofit/>
          </a:bodyPr>
          <a:lstStyle/>
          <a:p>
            <a:r>
              <a:rPr lang="fr-FR" sz="3600" b="1" dirty="0" smtClean="0">
                <a:latin typeface="Times New Roman" panose="02020603050405020304" pitchFamily="18" charset="0"/>
                <a:cs typeface="Times New Roman" panose="02020603050405020304" pitchFamily="18" charset="0"/>
              </a:rPr>
              <a:t>3.2.Les matrices sans </a:t>
            </a:r>
            <a:r>
              <a:rPr lang="fr-FR" sz="3600" b="1" dirty="0" err="1" smtClean="0">
                <a:latin typeface="Times New Roman" panose="02020603050405020304" pitchFamily="18" charset="0"/>
                <a:cs typeface="Times New Roman" panose="02020603050405020304" pitchFamily="18" charset="0"/>
              </a:rPr>
              <a:t>numpy</a:t>
            </a:r>
            <a:endParaRPr lang="fr-FR"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04256" y="706445"/>
            <a:ext cx="7920880" cy="4832092"/>
          </a:xfrm>
          <a:prstGeom prst="rect">
            <a:avLst/>
          </a:prstGeom>
        </p:spPr>
        <p:txBody>
          <a:bodyPr wrap="square">
            <a:spAutoFit/>
          </a:bodyPr>
          <a:lstStyle/>
          <a:p>
            <a:r>
              <a:rPr lang="fr-FR" sz="2800" dirty="0">
                <a:latin typeface="Times New Roman" panose="02020603050405020304" pitchFamily="18" charset="0"/>
                <a:cs typeface="Times New Roman" panose="02020603050405020304" pitchFamily="18" charset="0"/>
              </a:rPr>
              <a:t>import os</a:t>
            </a:r>
          </a:p>
          <a:p>
            <a:r>
              <a:rPr lang="fr-FR" sz="2800" dirty="0">
                <a:latin typeface="Times New Roman" panose="02020603050405020304" pitchFamily="18" charset="0"/>
                <a:cs typeface="Times New Roman" panose="02020603050405020304" pitchFamily="18" charset="0"/>
              </a:rPr>
              <a:t>import </a:t>
            </a:r>
            <a:r>
              <a:rPr lang="fr-FR" sz="2800" dirty="0" err="1">
                <a:latin typeface="Times New Roman" panose="02020603050405020304" pitchFamily="18" charset="0"/>
                <a:cs typeface="Times New Roman" panose="02020603050405020304" pitchFamily="18" charset="0"/>
              </a:rPr>
              <a:t>sys</a:t>
            </a:r>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row</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int</a:t>
            </a:r>
            <a:r>
              <a:rPr lang="fr-FR" sz="2800" dirty="0">
                <a:latin typeface="Times New Roman" panose="02020603050405020304" pitchFamily="18" charset="0"/>
                <a:cs typeface="Times New Roman" panose="02020603050405020304" pitchFamily="18" charset="0"/>
              </a:rPr>
              <a:t>(input("Entrer le nombre de ligne "))</a:t>
            </a:r>
          </a:p>
          <a:p>
            <a:r>
              <a:rPr lang="fr-FR" sz="2800" dirty="0">
                <a:latin typeface="Times New Roman" panose="02020603050405020304" pitchFamily="18" charset="0"/>
                <a:cs typeface="Times New Roman" panose="02020603050405020304" pitchFamily="18" charset="0"/>
              </a:rPr>
              <a:t>col=</a:t>
            </a:r>
            <a:r>
              <a:rPr lang="fr-FR" sz="2800" dirty="0" err="1">
                <a:latin typeface="Times New Roman" panose="02020603050405020304" pitchFamily="18" charset="0"/>
                <a:cs typeface="Times New Roman" panose="02020603050405020304" pitchFamily="18" charset="0"/>
              </a:rPr>
              <a:t>int</a:t>
            </a:r>
            <a:r>
              <a:rPr lang="fr-FR" sz="2800" dirty="0">
                <a:latin typeface="Times New Roman" panose="02020603050405020304" pitchFamily="18" charset="0"/>
                <a:cs typeface="Times New Roman" panose="02020603050405020304" pitchFamily="18" charset="0"/>
              </a:rPr>
              <a:t>(input("Entrer le nombre de colonne "))</a:t>
            </a:r>
          </a:p>
          <a:p>
            <a:r>
              <a:rPr lang="fr-FR" sz="2800" dirty="0">
                <a:latin typeface="Times New Roman" panose="02020603050405020304" pitchFamily="18" charset="0"/>
                <a:cs typeface="Times New Roman" panose="02020603050405020304" pitchFamily="18" charset="0"/>
              </a:rPr>
              <a:t>a=[]</a:t>
            </a:r>
          </a:p>
          <a:p>
            <a:r>
              <a:rPr lang="fr-FR" sz="2800" dirty="0">
                <a:latin typeface="Times New Roman" panose="02020603050405020304" pitchFamily="18" charset="0"/>
                <a:cs typeface="Times New Roman" panose="02020603050405020304" pitchFamily="18" charset="0"/>
              </a:rPr>
              <a:t>for i in range(</a:t>
            </a:r>
            <a:r>
              <a:rPr lang="fr-FR" sz="2800" dirty="0" err="1">
                <a:latin typeface="Times New Roman" panose="02020603050405020304" pitchFamily="18" charset="0"/>
                <a:cs typeface="Times New Roman" panose="02020603050405020304" pitchFamily="18" charset="0"/>
              </a:rPr>
              <a:t>row</a:t>
            </a:r>
            <a:r>
              <a:rPr lang="fr-FR" sz="2800" dirty="0">
                <a:latin typeface="Times New Roman" panose="02020603050405020304" pitchFamily="18" charset="0"/>
                <a:cs typeface="Times New Roman" panose="02020603050405020304" pitchFamily="18" charset="0"/>
              </a:rPr>
              <a:t>):</a:t>
            </a:r>
          </a:p>
          <a:p>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a.append</a:t>
            </a:r>
            <a:r>
              <a:rPr lang="fr-FR" sz="2800" dirty="0">
                <a:latin typeface="Times New Roman" panose="02020603050405020304" pitchFamily="18" charset="0"/>
                <a:cs typeface="Times New Roman" panose="02020603050405020304" pitchFamily="18" charset="0"/>
              </a:rPr>
              <a:t>([0]*col)</a:t>
            </a:r>
          </a:p>
          <a:p>
            <a:r>
              <a:rPr lang="fr-FR" sz="2800" dirty="0">
                <a:latin typeface="Times New Roman" panose="02020603050405020304" pitchFamily="18" charset="0"/>
                <a:cs typeface="Times New Roman" panose="02020603050405020304" pitchFamily="18" charset="0"/>
              </a:rPr>
              <a:t>	for j in range(col):</a:t>
            </a:r>
          </a:p>
          <a:p>
            <a:r>
              <a:rPr lang="fr-FR" sz="2800" dirty="0">
                <a:latin typeface="Times New Roman" panose="02020603050405020304" pitchFamily="18" charset="0"/>
                <a:cs typeface="Times New Roman" panose="02020603050405020304" pitchFamily="18" charset="0"/>
              </a:rPr>
              <a:t>		a[i][j]=</a:t>
            </a:r>
            <a:r>
              <a:rPr lang="fr-FR" sz="2800" dirty="0" err="1">
                <a:latin typeface="Times New Roman" panose="02020603050405020304" pitchFamily="18" charset="0"/>
                <a:cs typeface="Times New Roman" panose="02020603050405020304" pitchFamily="18" charset="0"/>
              </a:rPr>
              <a:t>int</a:t>
            </a:r>
            <a:r>
              <a:rPr lang="fr-FR" sz="2800" dirty="0">
                <a:latin typeface="Times New Roman" panose="02020603050405020304" pitchFamily="18" charset="0"/>
                <a:cs typeface="Times New Roman" panose="02020603050405020304" pitchFamily="18" charset="0"/>
              </a:rPr>
              <a:t>(input("Entrez les </a:t>
            </a:r>
            <a:r>
              <a:rPr lang="fr-FR" sz="2800" dirty="0" err="1">
                <a:latin typeface="Times New Roman" panose="02020603050405020304" pitchFamily="18" charset="0"/>
                <a:cs typeface="Times New Roman" panose="02020603050405020304" pitchFamily="18" charset="0"/>
              </a:rPr>
              <a:t>elements</a:t>
            </a:r>
            <a:r>
              <a:rPr lang="fr-FR" sz="2800" dirty="0">
                <a:latin typeface="Times New Roman" panose="02020603050405020304" pitchFamily="18" charset="0"/>
                <a:cs typeface="Times New Roman" panose="02020603050405020304" pitchFamily="18" charset="0"/>
              </a:rPr>
              <a:t> de la matrice"))</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a:t>
            </a:r>
          </a:p>
        </p:txBody>
      </p:sp>
    </p:spTree>
    <p:extLst>
      <p:ext uri="{BB962C8B-B14F-4D97-AF65-F5344CB8AC3E}">
        <p14:creationId xmlns:p14="http://schemas.microsoft.com/office/powerpoint/2010/main" val="143380473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8336" y="716147"/>
            <a:ext cx="8805664" cy="6001643"/>
          </a:xfrm>
          <a:prstGeom prst="rect">
            <a:avLst/>
          </a:prstGeom>
        </p:spPr>
        <p:txBody>
          <a:bodyPr wrap="square">
            <a:spAutoFit/>
          </a:bodyPr>
          <a:lstStyle/>
          <a:p>
            <a:r>
              <a:rPr lang="fr-FR" sz="2400" dirty="0">
                <a:latin typeface="Times New Roman" panose="02020603050405020304" pitchFamily="18" charset="0"/>
                <a:cs typeface="Times New Roman" panose="02020603050405020304" pitchFamily="18" charset="0"/>
              </a:rPr>
              <a:t>import os</a:t>
            </a:r>
          </a:p>
          <a:p>
            <a:r>
              <a:rPr lang="fr-FR" sz="2400" dirty="0">
                <a:latin typeface="Times New Roman" panose="02020603050405020304" pitchFamily="18" charset="0"/>
                <a:cs typeface="Times New Roman" panose="02020603050405020304" pitchFamily="18" charset="0"/>
              </a:rPr>
              <a:t>import </a:t>
            </a:r>
            <a:r>
              <a:rPr lang="fr-FR" sz="2400" dirty="0" err="1">
                <a:latin typeface="Times New Roman" panose="02020603050405020304" pitchFamily="18" charset="0"/>
                <a:cs typeface="Times New Roman" panose="02020603050405020304" pitchFamily="18" charset="0"/>
              </a:rPr>
              <a:t>sys</a:t>
            </a:r>
            <a:endParaRPr lang="fr-FR" sz="2400" dirty="0">
              <a:latin typeface="Times New Roman" panose="02020603050405020304" pitchFamily="18" charset="0"/>
              <a:cs typeface="Times New Roman" panose="02020603050405020304" pitchFamily="18" charset="0"/>
            </a:endParaRPr>
          </a:p>
          <a:p>
            <a:r>
              <a:rPr lang="fr-FR" sz="2400" dirty="0" err="1">
                <a:latin typeface="Times New Roman" panose="02020603050405020304" pitchFamily="18" charset="0"/>
                <a:cs typeface="Times New Roman" panose="02020603050405020304" pitchFamily="18" charset="0"/>
              </a:rPr>
              <a:t>row</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(input("Entrer le nombre de ligne "))</a:t>
            </a:r>
          </a:p>
          <a:p>
            <a:r>
              <a:rPr lang="fr-FR" sz="2400" dirty="0">
                <a:latin typeface="Times New Roman" panose="02020603050405020304" pitchFamily="18" charset="0"/>
                <a:cs typeface="Times New Roman" panose="02020603050405020304" pitchFamily="18" charset="0"/>
              </a:rPr>
              <a:t>col=</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(input("Entrer le nombre de colonne "))</a:t>
            </a:r>
          </a:p>
          <a:p>
            <a:r>
              <a:rPr lang="fr-FR" sz="2400" dirty="0">
                <a:latin typeface="Times New Roman" panose="02020603050405020304" pitchFamily="18" charset="0"/>
                <a:cs typeface="Times New Roman" panose="02020603050405020304" pitchFamily="18" charset="0"/>
              </a:rPr>
              <a:t>a=[]</a:t>
            </a:r>
          </a:p>
          <a:p>
            <a:r>
              <a:rPr lang="fr-FR" sz="2400" dirty="0">
                <a:latin typeface="Times New Roman" panose="02020603050405020304" pitchFamily="18" charset="0"/>
                <a:cs typeface="Times New Roman" panose="02020603050405020304" pitchFamily="18" charset="0"/>
              </a:rPr>
              <a:t>for i in range(</a:t>
            </a:r>
            <a:r>
              <a:rPr lang="fr-FR" sz="2400" dirty="0" err="1">
                <a:latin typeface="Times New Roman" panose="02020603050405020304" pitchFamily="18" charset="0"/>
                <a:cs typeface="Times New Roman" panose="02020603050405020304" pitchFamily="18" charset="0"/>
              </a:rPr>
              <a:t>row</a:t>
            </a:r>
            <a:r>
              <a:rPr lang="fr-FR" sz="2400" dirty="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a.append</a:t>
            </a:r>
            <a:r>
              <a:rPr lang="fr-FR" sz="2400" dirty="0">
                <a:latin typeface="Times New Roman" panose="02020603050405020304" pitchFamily="18" charset="0"/>
                <a:cs typeface="Times New Roman" panose="02020603050405020304" pitchFamily="18" charset="0"/>
              </a:rPr>
              <a:t>([0]*col)</a:t>
            </a:r>
          </a:p>
          <a:p>
            <a:r>
              <a:rPr lang="fr-FR" sz="2400" dirty="0">
                <a:latin typeface="Times New Roman" panose="02020603050405020304" pitchFamily="18" charset="0"/>
                <a:cs typeface="Times New Roman" panose="02020603050405020304" pitchFamily="18" charset="0"/>
              </a:rPr>
              <a:t>	for j in range(col):</a:t>
            </a:r>
          </a:p>
          <a:p>
            <a:r>
              <a:rPr lang="fr-FR" sz="2400" dirty="0">
                <a:latin typeface="Times New Roman" panose="02020603050405020304" pitchFamily="18" charset="0"/>
                <a:cs typeface="Times New Roman" panose="02020603050405020304" pitchFamily="18" charset="0"/>
              </a:rPr>
              <a:t>		a[i][j]=</a:t>
            </a:r>
            <a:r>
              <a:rPr lang="fr-FR" sz="2400" dirty="0" err="1">
                <a:latin typeface="Times New Roman" panose="02020603050405020304" pitchFamily="18" charset="0"/>
                <a:cs typeface="Times New Roman" panose="02020603050405020304" pitchFamily="18" charset="0"/>
              </a:rPr>
              <a:t>int</a:t>
            </a:r>
            <a:r>
              <a:rPr lang="fr-FR" sz="2400" dirty="0">
                <a:latin typeface="Times New Roman" panose="02020603050405020304" pitchFamily="18" charset="0"/>
                <a:cs typeface="Times New Roman" panose="02020603050405020304" pitchFamily="18" charset="0"/>
              </a:rPr>
              <a:t>(input("Entrez les éléments de la matrice"))</a:t>
            </a: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(a)</a:t>
            </a:r>
          </a:p>
          <a:p>
            <a:r>
              <a:rPr lang="fr-FR" sz="2400" dirty="0">
                <a:latin typeface="Times New Roman" panose="02020603050405020304" pitchFamily="18" charset="0"/>
                <a:cs typeface="Times New Roman" panose="02020603050405020304" pitchFamily="18" charset="0"/>
              </a:rPr>
              <a:t>k=0</a:t>
            </a:r>
          </a:p>
          <a:p>
            <a:r>
              <a:rPr lang="fr-FR" sz="2400" dirty="0">
                <a:latin typeface="Times New Roman" panose="02020603050405020304" pitchFamily="18" charset="0"/>
                <a:cs typeface="Times New Roman" panose="02020603050405020304" pitchFamily="18" charset="0"/>
              </a:rPr>
              <a:t>for i in range(</a:t>
            </a:r>
            <a:r>
              <a:rPr lang="fr-FR" sz="2400" dirty="0" err="1">
                <a:latin typeface="Times New Roman" panose="02020603050405020304" pitchFamily="18" charset="0"/>
                <a:cs typeface="Times New Roman" panose="02020603050405020304" pitchFamily="18" charset="0"/>
              </a:rPr>
              <a:t>row</a:t>
            </a:r>
            <a:r>
              <a:rPr lang="fr-FR" sz="2400" dirty="0">
                <a:latin typeface="Times New Roman" panose="02020603050405020304" pitchFamily="18" charset="0"/>
                <a:cs typeface="Times New Roman" panose="02020603050405020304" pitchFamily="18" charset="0"/>
              </a:rPr>
              <a:t>):</a:t>
            </a:r>
          </a:p>
          <a:p>
            <a:r>
              <a:rPr lang="fr-FR" sz="2400" dirty="0">
                <a:latin typeface="Times New Roman" panose="02020603050405020304" pitchFamily="18" charset="0"/>
                <a:cs typeface="Times New Roman" panose="02020603050405020304" pitchFamily="18" charset="0"/>
              </a:rPr>
              <a:t>        for j in range(col):</a:t>
            </a:r>
          </a:p>
          <a:p>
            <a:r>
              <a:rPr lang="fr-FR" sz="2400" dirty="0">
                <a:latin typeface="Times New Roman" panose="02020603050405020304" pitchFamily="18" charset="0"/>
                <a:cs typeface="Times New Roman" panose="02020603050405020304" pitchFamily="18" charset="0"/>
              </a:rPr>
              <a:t>                if a[i][j]==0:</a:t>
            </a:r>
          </a:p>
          <a:p>
            <a:r>
              <a:rPr lang="fr-FR" sz="2400" dirty="0">
                <a:latin typeface="Times New Roman" panose="02020603050405020304" pitchFamily="18" charset="0"/>
                <a:cs typeface="Times New Roman" panose="02020603050405020304" pitchFamily="18" charset="0"/>
              </a:rPr>
              <a:t>                        k=k+1</a:t>
            </a: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(k)</a:t>
            </a:r>
          </a:p>
        </p:txBody>
      </p:sp>
      <p:sp>
        <p:nvSpPr>
          <p:cNvPr id="4" name="Titre 1"/>
          <p:cNvSpPr>
            <a:spLocks noGrp="1"/>
          </p:cNvSpPr>
          <p:nvPr>
            <p:ph type="title"/>
          </p:nvPr>
        </p:nvSpPr>
        <p:spPr>
          <a:xfrm>
            <a:off x="395536" y="10057"/>
            <a:ext cx="8229600" cy="706090"/>
          </a:xfrm>
        </p:spPr>
        <p:txBody>
          <a:bodyPr>
            <a:normAutofit fontScale="90000"/>
          </a:bodyPr>
          <a:lstStyle/>
          <a:p>
            <a:r>
              <a:rPr lang="fr-FR" dirty="0" smtClean="0"/>
              <a:t>Exemple 2</a:t>
            </a:r>
            <a:endParaRPr lang="fr-FR" dirty="0"/>
          </a:p>
        </p:txBody>
      </p:sp>
    </p:spTree>
    <p:extLst>
      <p:ext uri="{BB962C8B-B14F-4D97-AF65-F5344CB8AC3E}">
        <p14:creationId xmlns:p14="http://schemas.microsoft.com/office/powerpoint/2010/main" val="7028087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a:xfrm>
            <a:off x="395536" y="33184"/>
            <a:ext cx="8229600" cy="648072"/>
          </a:xfrm>
        </p:spPr>
        <p:txBody>
          <a:bodyPr>
            <a:normAutofit/>
          </a:bodyPr>
          <a:lstStyle/>
          <a:p>
            <a:r>
              <a:rPr lang="fr-FR" sz="3600" b="1" dirty="0" smtClean="0">
                <a:latin typeface="Times New Roman" panose="02020603050405020304" pitchFamily="18" charset="0"/>
                <a:cs typeface="Times New Roman" panose="02020603050405020304" pitchFamily="18" charset="0"/>
              </a:rPr>
              <a:t>3.3. Rappel sur le bibliothèque  </a:t>
            </a:r>
            <a:r>
              <a:rPr lang="fr-FR" sz="3600" b="1" dirty="0" err="1" smtClean="0">
                <a:latin typeface="Times New Roman" panose="02020603050405020304" pitchFamily="18" charset="0"/>
                <a:cs typeface="Times New Roman" panose="02020603050405020304" pitchFamily="18" charset="0"/>
              </a:rPr>
              <a:t>numpy</a:t>
            </a:r>
            <a:endParaRPr lang="fr-FR" sz="3600" b="1" dirty="0">
              <a:latin typeface="Times New Roman" panose="02020603050405020304" pitchFamily="18" charset="0"/>
              <a:cs typeface="Times New Roman" panose="02020603050405020304" pitchFamily="18" charset="0"/>
            </a:endParaRPr>
          </a:p>
        </p:txBody>
      </p:sp>
      <p:sp>
        <p:nvSpPr>
          <p:cNvPr id="4" name="Rectangle 3"/>
          <p:cNvSpPr/>
          <p:nvPr/>
        </p:nvSpPr>
        <p:spPr>
          <a:xfrm>
            <a:off x="539552" y="681256"/>
            <a:ext cx="8424936" cy="3539430"/>
          </a:xfrm>
          <a:prstGeom prst="rect">
            <a:avLst/>
          </a:prstGeom>
        </p:spPr>
        <p:txBody>
          <a:bodyPr wrap="square">
            <a:spAutoFit/>
          </a:bodyPr>
          <a:lstStyle/>
          <a:p>
            <a:r>
              <a:rPr lang="fr-FR" sz="2800" dirty="0">
                <a:latin typeface="Times New Roman" panose="02020603050405020304" pitchFamily="18" charset="0"/>
                <a:cs typeface="Times New Roman" panose="02020603050405020304" pitchFamily="18" charset="0"/>
              </a:rPr>
              <a:t>import </a:t>
            </a:r>
            <a:r>
              <a:rPr lang="fr-FR" sz="2800" dirty="0" err="1">
                <a:latin typeface="Times New Roman" panose="02020603050405020304" pitchFamily="18" charset="0"/>
                <a:cs typeface="Times New Roman" panose="02020603050405020304" pitchFamily="18" charset="0"/>
              </a:rPr>
              <a:t>numpy</a:t>
            </a:r>
            <a:r>
              <a:rPr lang="fr-FR" sz="2800" dirty="0">
                <a:latin typeface="Times New Roman" panose="02020603050405020304" pitchFamily="18" charset="0"/>
                <a:cs typeface="Times New Roman" panose="02020603050405020304" pitchFamily="18" charset="0"/>
              </a:rPr>
              <a:t> as </a:t>
            </a:r>
            <a:r>
              <a:rPr lang="fr-FR" sz="2800" dirty="0" err="1">
                <a:latin typeface="Times New Roman" panose="02020603050405020304" pitchFamily="18" charset="0"/>
                <a:cs typeface="Times New Roman" panose="02020603050405020304" pitchFamily="18" charset="0"/>
              </a:rPr>
              <a:t>np</a:t>
            </a:r>
            <a:endParaRPr lang="fr-FR" sz="2800" dirty="0">
              <a:latin typeface="Times New Roman" panose="02020603050405020304" pitchFamily="18" charset="0"/>
              <a:cs typeface="Times New Roman" panose="02020603050405020304" pitchFamily="18" charset="0"/>
            </a:endParaRPr>
          </a:p>
          <a:p>
            <a:r>
              <a:rPr lang="fr-FR" sz="2800" dirty="0">
                <a:latin typeface="Times New Roman" panose="02020603050405020304" pitchFamily="18" charset="0"/>
                <a:cs typeface="Times New Roman" panose="02020603050405020304" pitchFamily="18" charset="0"/>
              </a:rPr>
              <a:t>a = </a:t>
            </a:r>
            <a:r>
              <a:rPr lang="fr-FR" sz="2800" dirty="0" err="1">
                <a:latin typeface="Times New Roman" panose="02020603050405020304" pitchFamily="18" charset="0"/>
                <a:cs typeface="Times New Roman" panose="02020603050405020304" pitchFamily="18" charset="0"/>
              </a:rPr>
              <a:t>np.array</a:t>
            </a:r>
            <a:r>
              <a:rPr lang="fr-FR" sz="2800" dirty="0">
                <a:latin typeface="Times New Roman" panose="02020603050405020304" pitchFamily="18" charset="0"/>
                <a:cs typeface="Times New Roman" panose="02020603050405020304" pitchFamily="18" charset="0"/>
              </a:rPr>
              <a:t>([[1,2],[3,1],[1,4]])</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a:t>
            </a:r>
          </a:p>
          <a:p>
            <a:r>
              <a:rPr lang="fr-FR" sz="2800" dirty="0">
                <a:latin typeface="Times New Roman" panose="02020603050405020304" pitchFamily="18" charset="0"/>
                <a:cs typeface="Times New Roman" panose="02020603050405020304" pitchFamily="18" charset="0"/>
              </a:rPr>
              <a:t>// Affichage d un élément de la matrice</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(a[2,2])</a:t>
            </a:r>
          </a:p>
          <a:p>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a.dtype</a:t>
            </a:r>
            <a:r>
              <a:rPr lang="fr-FR" sz="2800" dirty="0">
                <a:latin typeface="Times New Roman" panose="02020603050405020304" pitchFamily="18" charset="0"/>
                <a:cs typeface="Times New Roman" panose="02020603050405020304" pitchFamily="18" charset="0"/>
              </a:rPr>
              <a:t>)  #type de données de la matrice</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a.size</a:t>
            </a:r>
            <a:r>
              <a:rPr lang="fr-FR" sz="2800" dirty="0">
                <a:latin typeface="Times New Roman" panose="02020603050405020304" pitchFamily="18" charset="0"/>
                <a:cs typeface="Times New Roman" panose="02020603050405020304" pitchFamily="18" charset="0"/>
              </a:rPr>
              <a:t>), le nombre d élément donc ligne fois colonne</a:t>
            </a:r>
          </a:p>
        </p:txBody>
      </p:sp>
    </p:spTree>
    <p:extLst>
      <p:ext uri="{BB962C8B-B14F-4D97-AF65-F5344CB8AC3E}">
        <p14:creationId xmlns:p14="http://schemas.microsoft.com/office/powerpoint/2010/main" val="337936002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14094"/>
            <a:ext cx="8686800" cy="555514"/>
          </a:xfrm>
        </p:spPr>
        <p:txBody>
          <a:bodyPr>
            <a:normAutofit fontScale="90000"/>
          </a:bodyPr>
          <a:lstStyle/>
          <a:p>
            <a:pPr algn="ctr"/>
            <a:r>
              <a:rPr lang="fr-FR" sz="3600" b="1" dirty="0" smtClean="0"/>
              <a:t>Fonctions principales de </a:t>
            </a:r>
            <a:r>
              <a:rPr lang="fr-FR" sz="3600" b="1" dirty="0" err="1" smtClean="0"/>
              <a:t>NumPy</a:t>
            </a:r>
            <a:endParaRPr lang="fr-FR" sz="3600" b="1"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101</a:t>
            </a:fld>
            <a:endParaRPr lang="fr-BE"/>
          </a:p>
        </p:txBody>
      </p:sp>
      <p:sp>
        <p:nvSpPr>
          <p:cNvPr id="4" name="Rectangle 3"/>
          <p:cNvSpPr/>
          <p:nvPr/>
        </p:nvSpPr>
        <p:spPr>
          <a:xfrm>
            <a:off x="0" y="769608"/>
            <a:ext cx="9144000" cy="5816977"/>
          </a:xfrm>
          <a:prstGeom prst="rect">
            <a:avLst/>
          </a:prstGeom>
        </p:spPr>
        <p:txBody>
          <a:bodyPr wrap="square">
            <a:spAutoFit/>
          </a:bodyPr>
          <a:lstStyle/>
          <a:p>
            <a:r>
              <a:rPr lang="fr-FR" sz="3600" dirty="0"/>
              <a:t>import </a:t>
            </a:r>
            <a:r>
              <a:rPr lang="fr-FR" sz="3600" dirty="0" err="1"/>
              <a:t>numpy</a:t>
            </a:r>
            <a:r>
              <a:rPr lang="fr-FR" sz="3600" dirty="0"/>
              <a:t> as </a:t>
            </a:r>
            <a:r>
              <a:rPr lang="fr-FR" sz="3600" dirty="0" err="1"/>
              <a:t>np</a:t>
            </a:r>
            <a:endParaRPr lang="fr-FR" sz="3600" dirty="0"/>
          </a:p>
          <a:p>
            <a:r>
              <a:rPr lang="fr-FR" sz="3600" dirty="0"/>
              <a:t>a = </a:t>
            </a:r>
            <a:r>
              <a:rPr lang="fr-FR" sz="3600" dirty="0" err="1"/>
              <a:t>np.array</a:t>
            </a:r>
            <a:r>
              <a:rPr lang="fr-FR" sz="3600" dirty="0"/>
              <a:t>([[1,2],[3,1],[1,4]])</a:t>
            </a:r>
          </a:p>
          <a:p>
            <a:r>
              <a:rPr lang="fr-FR" sz="3600" dirty="0" err="1"/>
              <a:t>print</a:t>
            </a:r>
            <a:r>
              <a:rPr lang="fr-FR" sz="3600" dirty="0"/>
              <a:t>(a</a:t>
            </a:r>
            <a:r>
              <a:rPr lang="fr-FR" sz="3600" dirty="0" smtClean="0"/>
              <a:t>)</a:t>
            </a:r>
            <a:endParaRPr lang="fr-FR" sz="3600" dirty="0"/>
          </a:p>
          <a:p>
            <a:r>
              <a:rPr lang="fr-FR" sz="3600" dirty="0"/>
              <a:t>// Affichage d un </a:t>
            </a:r>
            <a:r>
              <a:rPr lang="fr-FR" sz="3600" dirty="0" smtClean="0"/>
              <a:t>élément </a:t>
            </a:r>
            <a:r>
              <a:rPr lang="fr-FR" sz="3600" dirty="0"/>
              <a:t>de la matrice</a:t>
            </a:r>
          </a:p>
          <a:p>
            <a:r>
              <a:rPr lang="fr-FR" sz="3600" dirty="0" err="1"/>
              <a:t>print</a:t>
            </a:r>
            <a:r>
              <a:rPr lang="fr-FR" sz="3600" dirty="0"/>
              <a:t>(a[2,2])</a:t>
            </a:r>
          </a:p>
          <a:p>
            <a:endParaRPr lang="fr-FR" sz="3600" dirty="0"/>
          </a:p>
          <a:p>
            <a:r>
              <a:rPr lang="fr-FR" sz="3600" dirty="0" err="1"/>
              <a:t>print</a:t>
            </a:r>
            <a:r>
              <a:rPr lang="fr-FR" sz="3600" dirty="0"/>
              <a:t>(</a:t>
            </a:r>
            <a:r>
              <a:rPr lang="fr-FR" sz="3600" dirty="0" err="1"/>
              <a:t>a.dtype</a:t>
            </a:r>
            <a:r>
              <a:rPr lang="fr-FR" sz="3600" dirty="0"/>
              <a:t>)  #type de </a:t>
            </a:r>
            <a:r>
              <a:rPr lang="fr-FR" sz="3600" dirty="0" smtClean="0"/>
              <a:t>données </a:t>
            </a:r>
            <a:r>
              <a:rPr lang="fr-FR" sz="3600" dirty="0"/>
              <a:t>de la matrice</a:t>
            </a:r>
          </a:p>
          <a:p>
            <a:r>
              <a:rPr lang="fr-FR" sz="3600" dirty="0" err="1"/>
              <a:t>print</a:t>
            </a:r>
            <a:r>
              <a:rPr lang="fr-FR" sz="3600" dirty="0"/>
              <a:t>(</a:t>
            </a:r>
            <a:r>
              <a:rPr lang="fr-FR" sz="3600" dirty="0" err="1"/>
              <a:t>a.size</a:t>
            </a:r>
            <a:r>
              <a:rPr lang="fr-FR" sz="3600" dirty="0" smtClean="0"/>
              <a:t>), </a:t>
            </a:r>
            <a:r>
              <a:rPr lang="fr-FR" sz="3600" dirty="0"/>
              <a:t>le nombre d </a:t>
            </a:r>
            <a:r>
              <a:rPr lang="fr-FR" sz="3600" dirty="0" smtClean="0"/>
              <a:t>élément </a:t>
            </a:r>
            <a:r>
              <a:rPr lang="fr-FR" sz="3600" dirty="0"/>
              <a:t>donc ligne fois colonne</a:t>
            </a:r>
          </a:p>
          <a:p>
            <a:endParaRPr lang="fr-FR" sz="2400" dirty="0"/>
          </a:p>
          <a:p>
            <a:endParaRPr lang="fr-FR" sz="2400" dirty="0"/>
          </a:p>
        </p:txBody>
      </p:sp>
    </p:spTree>
    <p:extLst>
      <p:ext uri="{BB962C8B-B14F-4D97-AF65-F5344CB8AC3E}">
        <p14:creationId xmlns:p14="http://schemas.microsoft.com/office/powerpoint/2010/main" val="86784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102</a:t>
            </a:fld>
            <a:endParaRPr lang="fr-BE"/>
          </a:p>
        </p:txBody>
      </p:sp>
      <p:sp>
        <p:nvSpPr>
          <p:cNvPr id="4" name="Rectangle 3"/>
          <p:cNvSpPr/>
          <p:nvPr/>
        </p:nvSpPr>
        <p:spPr>
          <a:xfrm>
            <a:off x="179512" y="188640"/>
            <a:ext cx="8964488" cy="6740307"/>
          </a:xfrm>
          <a:prstGeom prst="rect">
            <a:avLst/>
          </a:prstGeom>
        </p:spPr>
        <p:txBody>
          <a:bodyPr wrap="square">
            <a:spAutoFit/>
          </a:bodyPr>
          <a:lstStyle/>
          <a:p>
            <a:r>
              <a:rPr lang="fr-FR" sz="3600" dirty="0"/>
              <a:t>a =</a:t>
            </a:r>
            <a:r>
              <a:rPr lang="fr-FR" sz="3600" dirty="0" err="1"/>
              <a:t>np.arange</a:t>
            </a:r>
            <a:r>
              <a:rPr lang="fr-FR" sz="3600" dirty="0"/>
              <a:t>(0,2).</a:t>
            </a:r>
            <a:r>
              <a:rPr lang="fr-FR" sz="3600" dirty="0" err="1"/>
              <a:t>reshape</a:t>
            </a:r>
            <a:r>
              <a:rPr lang="fr-FR" sz="3600" dirty="0"/>
              <a:t>(1,2)// Composition de la matrice par les </a:t>
            </a:r>
            <a:r>
              <a:rPr lang="fr-FR" sz="3600" dirty="0" err="1"/>
              <a:t>elets</a:t>
            </a:r>
            <a:r>
              <a:rPr lang="fr-FR" sz="3600" dirty="0"/>
              <a:t> connus</a:t>
            </a:r>
          </a:p>
          <a:p>
            <a:r>
              <a:rPr lang="fr-FR" sz="3600" dirty="0" err="1"/>
              <a:t>print</a:t>
            </a:r>
            <a:r>
              <a:rPr lang="fr-FR" sz="3600" dirty="0"/>
              <a:t>(a)</a:t>
            </a:r>
          </a:p>
          <a:p>
            <a:r>
              <a:rPr lang="fr-FR" sz="3600" dirty="0"/>
              <a:t>//Transformation de la </a:t>
            </a:r>
            <a:r>
              <a:rPr lang="fr-FR" sz="3600" dirty="0" smtClean="0"/>
              <a:t>liste en </a:t>
            </a:r>
            <a:r>
              <a:rPr lang="fr-FR" sz="3600" dirty="0"/>
              <a:t>matrice</a:t>
            </a:r>
          </a:p>
          <a:p>
            <a:r>
              <a:rPr lang="fr-FR" sz="3600" dirty="0"/>
              <a:t>a = </a:t>
            </a:r>
            <a:r>
              <a:rPr lang="fr-FR" sz="3600" dirty="0" err="1"/>
              <a:t>np.array</a:t>
            </a:r>
            <a:r>
              <a:rPr lang="fr-FR" sz="3600" dirty="0"/>
              <a:t>([3,4,6,9,5,2])</a:t>
            </a:r>
          </a:p>
          <a:p>
            <a:r>
              <a:rPr lang="fr-FR" sz="3600" dirty="0"/>
              <a:t>b = </a:t>
            </a:r>
            <a:r>
              <a:rPr lang="fr-FR" sz="3600" dirty="0" err="1"/>
              <a:t>a.reshape</a:t>
            </a:r>
            <a:r>
              <a:rPr lang="fr-FR" sz="3600" dirty="0"/>
              <a:t>(3,2)</a:t>
            </a:r>
          </a:p>
          <a:p>
            <a:r>
              <a:rPr lang="fr-FR" sz="3600" dirty="0" err="1"/>
              <a:t>print</a:t>
            </a:r>
            <a:r>
              <a:rPr lang="fr-FR" sz="3600" dirty="0"/>
              <a:t>(b</a:t>
            </a:r>
            <a:r>
              <a:rPr lang="fr-FR" sz="3600" dirty="0" smtClean="0"/>
              <a:t>)</a:t>
            </a:r>
          </a:p>
          <a:p>
            <a:r>
              <a:rPr lang="fr-FR" sz="3600" dirty="0">
                <a:latin typeface="Times New Roman" panose="02020603050405020304" pitchFamily="18" charset="0"/>
                <a:cs typeface="Times New Roman" panose="02020603050405020304" pitchFamily="18" charset="0"/>
              </a:rPr>
              <a:t>// ajout des  colonnes </a:t>
            </a:r>
          </a:p>
          <a:p>
            <a:r>
              <a:rPr lang="fr-FR" sz="3600" dirty="0">
                <a:latin typeface="Times New Roman" panose="02020603050405020304" pitchFamily="18" charset="0"/>
                <a:cs typeface="Times New Roman" panose="02020603050405020304" pitchFamily="18" charset="0"/>
              </a:rPr>
              <a:t>a = </a:t>
            </a:r>
            <a:r>
              <a:rPr lang="fr-FR" sz="3600" dirty="0" err="1">
                <a:latin typeface="Times New Roman" panose="02020603050405020304" pitchFamily="18" charset="0"/>
                <a:cs typeface="Times New Roman" panose="02020603050405020304" pitchFamily="18" charset="0"/>
              </a:rPr>
              <a:t>np.array</a:t>
            </a:r>
            <a:r>
              <a:rPr lang="fr-FR" sz="3600" dirty="0">
                <a:latin typeface="Times New Roman" panose="02020603050405020304" pitchFamily="18" charset="0"/>
                <a:cs typeface="Times New Roman" panose="02020603050405020304" pitchFamily="18" charset="0"/>
              </a:rPr>
              <a:t>([[1,2,5],[3,2,1],[1,1,4]])</a:t>
            </a:r>
          </a:p>
          <a:p>
            <a:r>
              <a:rPr lang="fr-FR" sz="3600" dirty="0">
                <a:latin typeface="Times New Roman" panose="02020603050405020304" pitchFamily="18" charset="0"/>
                <a:cs typeface="Times New Roman" panose="02020603050405020304" pitchFamily="18" charset="0"/>
              </a:rPr>
              <a:t>d = </a:t>
            </a:r>
            <a:r>
              <a:rPr lang="fr-FR" sz="3600" dirty="0" err="1">
                <a:latin typeface="Times New Roman" panose="02020603050405020304" pitchFamily="18" charset="0"/>
                <a:cs typeface="Times New Roman" panose="02020603050405020304" pitchFamily="18" charset="0"/>
              </a:rPr>
              <a:t>np.array</a:t>
            </a:r>
            <a:r>
              <a:rPr lang="fr-FR" sz="3600" dirty="0">
                <a:latin typeface="Times New Roman" panose="02020603050405020304" pitchFamily="18" charset="0"/>
                <a:cs typeface="Times New Roman" panose="02020603050405020304" pitchFamily="18" charset="0"/>
              </a:rPr>
              <a:t>([[7],[6],[4]])</a:t>
            </a:r>
          </a:p>
          <a:p>
            <a:r>
              <a:rPr lang="fr-FR" sz="3600" dirty="0" err="1">
                <a:latin typeface="Times New Roman" panose="02020603050405020304" pitchFamily="18" charset="0"/>
                <a:cs typeface="Times New Roman" panose="02020603050405020304" pitchFamily="18" charset="0"/>
              </a:rPr>
              <a:t>print</a:t>
            </a:r>
            <a:r>
              <a:rPr lang="fr-FR" sz="3600" dirty="0">
                <a:latin typeface="Times New Roman" panose="02020603050405020304" pitchFamily="18" charset="0"/>
                <a:cs typeface="Times New Roman" panose="02020603050405020304" pitchFamily="18" charset="0"/>
              </a:rPr>
              <a:t>(</a:t>
            </a:r>
            <a:r>
              <a:rPr lang="fr-FR" sz="3600" dirty="0" err="1">
                <a:latin typeface="Times New Roman" panose="02020603050405020304" pitchFamily="18" charset="0"/>
                <a:cs typeface="Times New Roman" panose="02020603050405020304" pitchFamily="18" charset="0"/>
              </a:rPr>
              <a:t>np.append</a:t>
            </a:r>
            <a:r>
              <a:rPr lang="fr-FR" sz="3600" dirty="0">
                <a:latin typeface="Times New Roman" panose="02020603050405020304" pitchFamily="18" charset="0"/>
                <a:cs typeface="Times New Roman" panose="02020603050405020304" pitchFamily="18" charset="0"/>
              </a:rPr>
              <a:t>(</a:t>
            </a:r>
            <a:r>
              <a:rPr lang="fr-FR" sz="3600" dirty="0" err="1">
                <a:latin typeface="Times New Roman" panose="02020603050405020304" pitchFamily="18" charset="0"/>
                <a:cs typeface="Times New Roman" panose="02020603050405020304" pitchFamily="18" charset="0"/>
              </a:rPr>
              <a:t>a,d,axis</a:t>
            </a:r>
            <a:r>
              <a:rPr lang="fr-FR" sz="3600" dirty="0">
                <a:latin typeface="Times New Roman" panose="02020603050405020304" pitchFamily="18" charset="0"/>
                <a:cs typeface="Times New Roman" panose="02020603050405020304" pitchFamily="18" charset="0"/>
              </a:rPr>
              <a:t>=1))</a:t>
            </a:r>
          </a:p>
          <a:p>
            <a:endParaRPr lang="fr-FR" sz="3600" dirty="0"/>
          </a:p>
        </p:txBody>
      </p:sp>
    </p:spTree>
    <p:extLst>
      <p:ext uri="{BB962C8B-B14F-4D97-AF65-F5344CB8AC3E}">
        <p14:creationId xmlns:p14="http://schemas.microsoft.com/office/powerpoint/2010/main" val="27759121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103</a:t>
            </a:fld>
            <a:endParaRPr lang="fr-BE"/>
          </a:p>
        </p:txBody>
      </p:sp>
      <p:sp>
        <p:nvSpPr>
          <p:cNvPr id="4" name="Rectangle 3"/>
          <p:cNvSpPr/>
          <p:nvPr/>
        </p:nvSpPr>
        <p:spPr>
          <a:xfrm>
            <a:off x="170773" y="0"/>
            <a:ext cx="8988552" cy="7355860"/>
          </a:xfrm>
          <a:prstGeom prst="rect">
            <a:avLst/>
          </a:prstGeom>
        </p:spPr>
        <p:txBody>
          <a:bodyPr wrap="square">
            <a:spAutoFit/>
          </a:bodyPr>
          <a:lstStyle/>
          <a:p>
            <a:r>
              <a:rPr lang="fr-FR" sz="2800" dirty="0" smtClean="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Redimensionnement</a:t>
            </a:r>
          </a:p>
          <a:p>
            <a:r>
              <a:rPr lang="fr-FR" sz="2800" dirty="0">
                <a:latin typeface="Times New Roman" panose="02020603050405020304" pitchFamily="18" charset="0"/>
                <a:cs typeface="Times New Roman" panose="02020603050405020304" pitchFamily="18" charset="0"/>
              </a:rPr>
              <a:t>d = </a:t>
            </a:r>
            <a:r>
              <a:rPr lang="fr-FR" sz="2800" dirty="0" err="1">
                <a:latin typeface="Times New Roman" panose="02020603050405020304" pitchFamily="18" charset="0"/>
                <a:cs typeface="Times New Roman" panose="02020603050405020304" pitchFamily="18" charset="0"/>
              </a:rPr>
              <a:t>np.resize</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a,new_shape</a:t>
            </a:r>
            <a:r>
              <a:rPr lang="fr-FR" sz="2800" dirty="0">
                <a:latin typeface="Times New Roman" panose="02020603050405020304" pitchFamily="18" charset="0"/>
                <a:cs typeface="Times New Roman" panose="02020603050405020304" pitchFamily="18" charset="0"/>
              </a:rPr>
              <a:t>=(4,3))</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(d</a:t>
            </a:r>
            <a:r>
              <a:rPr lang="fr-FR" sz="2800" dirty="0" smtClean="0">
                <a:latin typeface="Times New Roman" panose="02020603050405020304" pitchFamily="18" charset="0"/>
                <a:cs typeface="Times New Roman" panose="02020603050405020304" pitchFamily="18" charset="0"/>
              </a:rPr>
              <a:t>)</a:t>
            </a:r>
            <a:endParaRPr lang="fr-FR" sz="2800" dirty="0">
              <a:latin typeface="Times New Roman" panose="02020603050405020304" pitchFamily="18" charset="0"/>
              <a:cs typeface="Times New Roman" panose="02020603050405020304" pitchFamily="18" charset="0"/>
            </a:endParaRPr>
          </a:p>
          <a:p>
            <a:r>
              <a:rPr lang="fr-FR" sz="2800" dirty="0">
                <a:latin typeface="Times New Roman" panose="02020603050405020304" pitchFamily="18" charset="0"/>
                <a:cs typeface="Times New Roman" panose="02020603050405020304" pitchFamily="18" charset="0"/>
              </a:rPr>
              <a:t>//Somme des </a:t>
            </a:r>
            <a:r>
              <a:rPr lang="fr-FR" sz="2800" dirty="0" smtClean="0">
                <a:latin typeface="Times New Roman" panose="02020603050405020304" pitchFamily="18" charset="0"/>
                <a:cs typeface="Times New Roman" panose="02020603050405020304" pitchFamily="18" charset="0"/>
              </a:rPr>
              <a:t>lignes</a:t>
            </a:r>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somm</a:t>
            </a:r>
            <a:r>
              <a:rPr lang="fr-FR" sz="2800" dirty="0">
                <a:latin typeface="Times New Roman" panose="02020603050405020304" pitchFamily="18" charset="0"/>
                <a:cs typeface="Times New Roman" panose="02020603050405020304" pitchFamily="18" charset="0"/>
              </a:rPr>
              <a:t>= </a:t>
            </a:r>
            <a:r>
              <a:rPr lang="fr-FR" sz="2800" dirty="0" err="1" smtClean="0">
                <a:latin typeface="Times New Roman" panose="02020603050405020304" pitchFamily="18" charset="0"/>
                <a:cs typeface="Times New Roman" panose="02020603050405020304" pitchFamily="18" charset="0"/>
              </a:rPr>
              <a:t>np.sum</a:t>
            </a:r>
            <a:r>
              <a:rPr lang="fr-FR" sz="2800" dirty="0" smtClean="0">
                <a:latin typeface="Times New Roman" panose="02020603050405020304" pitchFamily="18" charset="0"/>
                <a:cs typeface="Times New Roman" panose="02020603050405020304" pitchFamily="18" charset="0"/>
              </a:rPr>
              <a:t>(</a:t>
            </a:r>
            <a:r>
              <a:rPr lang="fr-FR" sz="2800" dirty="0" err="1" smtClean="0">
                <a:latin typeface="Times New Roman" panose="02020603050405020304" pitchFamily="18" charset="0"/>
                <a:cs typeface="Times New Roman" panose="02020603050405020304" pitchFamily="18" charset="0"/>
              </a:rPr>
              <a:t>d,axis</a:t>
            </a:r>
            <a:r>
              <a:rPr lang="fr-FR" sz="2800" dirty="0" smtClean="0">
                <a:latin typeface="Times New Roman" panose="02020603050405020304" pitchFamily="18" charset="0"/>
                <a:cs typeface="Times New Roman" panose="02020603050405020304" pitchFamily="18" charset="0"/>
              </a:rPr>
              <a:t>=0)</a:t>
            </a:r>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somm</a:t>
            </a:r>
            <a:r>
              <a:rPr lang="fr-FR" sz="2800" dirty="0">
                <a:latin typeface="Times New Roman" panose="02020603050405020304" pitchFamily="18" charset="0"/>
                <a:cs typeface="Times New Roman" panose="02020603050405020304" pitchFamily="18" charset="0"/>
              </a:rPr>
              <a:t>)</a:t>
            </a:r>
          </a:p>
          <a:p>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sommesdes</a:t>
            </a:r>
            <a:r>
              <a:rPr lang="fr-FR" sz="2800" dirty="0">
                <a:latin typeface="Times New Roman" panose="02020603050405020304" pitchFamily="18" charset="0"/>
                <a:cs typeface="Times New Roman" panose="02020603050405020304" pitchFamily="18" charset="0"/>
              </a:rPr>
              <a:t> </a:t>
            </a:r>
            <a:r>
              <a:rPr lang="fr-FR" sz="2800" dirty="0" smtClean="0">
                <a:latin typeface="Times New Roman" panose="02020603050405020304" pitchFamily="18" charset="0"/>
                <a:cs typeface="Times New Roman" panose="02020603050405020304" pitchFamily="18" charset="0"/>
              </a:rPr>
              <a:t>colonnes</a:t>
            </a:r>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somm</a:t>
            </a:r>
            <a:r>
              <a:rPr lang="fr-FR" sz="2800" dirty="0">
                <a:latin typeface="Times New Roman" panose="02020603050405020304" pitchFamily="18" charset="0"/>
                <a:cs typeface="Times New Roman" panose="02020603050405020304" pitchFamily="18" charset="0"/>
              </a:rPr>
              <a:t>= </a:t>
            </a:r>
            <a:r>
              <a:rPr lang="fr-FR" sz="2800" dirty="0" err="1" smtClean="0">
                <a:latin typeface="Times New Roman" panose="02020603050405020304" pitchFamily="18" charset="0"/>
                <a:cs typeface="Times New Roman" panose="02020603050405020304" pitchFamily="18" charset="0"/>
              </a:rPr>
              <a:t>np.sum</a:t>
            </a:r>
            <a:r>
              <a:rPr lang="fr-FR" sz="2800" dirty="0" smtClean="0">
                <a:latin typeface="Times New Roman" panose="02020603050405020304" pitchFamily="18" charset="0"/>
                <a:cs typeface="Times New Roman" panose="02020603050405020304" pitchFamily="18" charset="0"/>
              </a:rPr>
              <a:t>(</a:t>
            </a:r>
            <a:r>
              <a:rPr lang="fr-FR" sz="2800" dirty="0" err="1" smtClean="0">
                <a:latin typeface="Times New Roman" panose="02020603050405020304" pitchFamily="18" charset="0"/>
                <a:cs typeface="Times New Roman" panose="02020603050405020304" pitchFamily="18" charset="0"/>
              </a:rPr>
              <a:t>d,axis</a:t>
            </a:r>
            <a:r>
              <a:rPr lang="fr-FR" sz="2800" dirty="0" smtClean="0">
                <a:latin typeface="Times New Roman" panose="02020603050405020304" pitchFamily="18" charset="0"/>
                <a:cs typeface="Times New Roman" panose="02020603050405020304" pitchFamily="18" charset="0"/>
              </a:rPr>
              <a:t>=1)</a:t>
            </a:r>
            <a:endParaRPr lang="fr-FR" sz="2800" dirty="0">
              <a:latin typeface="Times New Roman" panose="02020603050405020304" pitchFamily="18" charset="0"/>
              <a:cs typeface="Times New Roman" panose="02020603050405020304" pitchFamily="18" charset="0"/>
            </a:endParaRP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somm</a:t>
            </a:r>
            <a:r>
              <a:rPr lang="fr-FR" sz="2800" dirty="0">
                <a:latin typeface="Times New Roman" panose="02020603050405020304" pitchFamily="18" charset="0"/>
                <a:cs typeface="Times New Roman" panose="02020603050405020304" pitchFamily="18" charset="0"/>
              </a:rPr>
              <a:t>)</a:t>
            </a:r>
          </a:p>
          <a:p>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cs typeface="Times New Roman" panose="02020603050405020304" pitchFamily="18" charset="0"/>
              </a:rPr>
              <a:t> maxi  par </a:t>
            </a:r>
            <a:r>
              <a:rPr lang="fr-FR" sz="2800" dirty="0" smtClean="0">
                <a:latin typeface="Times New Roman" panose="02020603050405020304" pitchFamily="18" charset="0"/>
                <a:cs typeface="Times New Roman" panose="02020603050405020304" pitchFamily="18" charset="0"/>
              </a:rPr>
              <a:t>colonnes</a:t>
            </a:r>
            <a:endParaRPr lang="fr-FR" sz="2800" dirty="0">
              <a:latin typeface="Times New Roman" panose="02020603050405020304" pitchFamily="18" charset="0"/>
              <a:cs typeface="Times New Roman" panose="02020603050405020304" pitchFamily="18" charset="0"/>
            </a:endParaRPr>
          </a:p>
          <a:p>
            <a:r>
              <a:rPr lang="fr-FR" sz="2800" dirty="0" err="1" smtClean="0">
                <a:latin typeface="Times New Roman" panose="02020603050405020304" pitchFamily="18" charset="0"/>
                <a:cs typeface="Times New Roman" panose="02020603050405020304" pitchFamily="18" charset="0"/>
              </a:rPr>
              <a:t>print</a:t>
            </a:r>
            <a:r>
              <a:rPr lang="fr-FR" sz="2800" dirty="0" smtClean="0">
                <a:latin typeface="Times New Roman" panose="02020603050405020304" pitchFamily="18" charset="0"/>
                <a:cs typeface="Times New Roman" panose="02020603050405020304" pitchFamily="18" charset="0"/>
              </a:rPr>
              <a:t>(</a:t>
            </a:r>
            <a:r>
              <a:rPr lang="fr-FR" sz="2800" dirty="0" err="1" smtClean="0">
                <a:latin typeface="Times New Roman" panose="02020603050405020304" pitchFamily="18" charset="0"/>
                <a:cs typeface="Times New Roman" panose="02020603050405020304" pitchFamily="18" charset="0"/>
              </a:rPr>
              <a:t>np.max</a:t>
            </a:r>
            <a:r>
              <a:rPr lang="fr-FR" sz="2800" dirty="0" smtClean="0">
                <a:latin typeface="Times New Roman" panose="02020603050405020304" pitchFamily="18" charset="0"/>
                <a:cs typeface="Times New Roman" panose="02020603050405020304" pitchFamily="18" charset="0"/>
              </a:rPr>
              <a:t>(</a:t>
            </a:r>
            <a:r>
              <a:rPr lang="fr-FR" sz="2800" dirty="0" err="1" smtClean="0">
                <a:latin typeface="Times New Roman" panose="02020603050405020304" pitchFamily="18" charset="0"/>
                <a:cs typeface="Times New Roman" panose="02020603050405020304" pitchFamily="18" charset="0"/>
              </a:rPr>
              <a:t>d,axis</a:t>
            </a:r>
            <a:r>
              <a:rPr lang="fr-FR" sz="2800" dirty="0" smtClean="0">
                <a:latin typeface="Times New Roman" panose="02020603050405020304" pitchFamily="18" charset="0"/>
                <a:cs typeface="Times New Roman" panose="02020603050405020304" pitchFamily="18" charset="0"/>
              </a:rPr>
              <a:t>=1)) </a:t>
            </a:r>
          </a:p>
          <a:p>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cs typeface="Times New Roman" panose="02020603050405020304" pitchFamily="18" charset="0"/>
              </a:rPr>
              <a:t> maxi  par lignes</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np.max</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d,axis</a:t>
            </a:r>
            <a:r>
              <a:rPr lang="fr-FR" sz="2800" dirty="0">
                <a:latin typeface="Times New Roman" panose="02020603050405020304" pitchFamily="18" charset="0"/>
                <a:cs typeface="Times New Roman" panose="02020603050405020304" pitchFamily="18" charset="0"/>
              </a:rPr>
              <a:t>=0)) </a:t>
            </a:r>
          </a:p>
          <a:p>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Element</a:t>
            </a:r>
            <a:r>
              <a:rPr lang="fr-FR" sz="2800" dirty="0">
                <a:latin typeface="Times New Roman" panose="02020603050405020304" pitchFamily="18" charset="0"/>
                <a:cs typeface="Times New Roman" panose="02020603050405020304" pitchFamily="18" charset="0"/>
              </a:rPr>
              <a:t> maxi  par lignes</a:t>
            </a:r>
          </a:p>
          <a:p>
            <a:r>
              <a:rPr lang="fr-FR" sz="2800" dirty="0" err="1">
                <a:latin typeface="Times New Roman" panose="02020603050405020304" pitchFamily="18" charset="0"/>
                <a:cs typeface="Times New Roman" panose="02020603050405020304" pitchFamily="18" charset="0"/>
              </a:rPr>
              <a:t>print</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np.max</a:t>
            </a:r>
            <a:r>
              <a:rPr lang="fr-FR" sz="2800" dirty="0">
                <a:latin typeface="Times New Roman" panose="02020603050405020304" pitchFamily="18" charset="0"/>
                <a:cs typeface="Times New Roman" panose="02020603050405020304" pitchFamily="18" charset="0"/>
              </a:rPr>
              <a:t>(</a:t>
            </a:r>
            <a:r>
              <a:rPr lang="fr-FR" sz="2800" dirty="0" err="1">
                <a:latin typeface="Times New Roman" panose="02020603050405020304" pitchFamily="18" charset="0"/>
                <a:cs typeface="Times New Roman" panose="02020603050405020304" pitchFamily="18" charset="0"/>
              </a:rPr>
              <a:t>d,axis</a:t>
            </a:r>
            <a:r>
              <a:rPr lang="fr-FR" sz="2800" dirty="0">
                <a:latin typeface="Times New Roman" panose="02020603050405020304" pitchFamily="18" charset="0"/>
                <a:cs typeface="Times New Roman" panose="02020603050405020304" pitchFamily="18" charset="0"/>
              </a:rPr>
              <a:t>=0)) </a:t>
            </a:r>
          </a:p>
          <a:p>
            <a:endParaRPr lang="fr-FR" sz="2800" dirty="0">
              <a:latin typeface="Times New Roman" panose="02020603050405020304" pitchFamily="18" charset="0"/>
              <a:cs typeface="Times New Roman" panose="02020603050405020304" pitchFamily="18" charset="0"/>
            </a:endParaRPr>
          </a:p>
          <a:p>
            <a:endParaRPr lang="fr-FR" sz="2400" dirty="0"/>
          </a:p>
        </p:txBody>
      </p:sp>
    </p:spTree>
    <p:extLst>
      <p:ext uri="{BB962C8B-B14F-4D97-AF65-F5344CB8AC3E}">
        <p14:creationId xmlns:p14="http://schemas.microsoft.com/office/powerpoint/2010/main" val="2936274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104</a:t>
            </a:fld>
            <a:endParaRPr lang="fr-BE"/>
          </a:p>
        </p:txBody>
      </p:sp>
      <p:sp>
        <p:nvSpPr>
          <p:cNvPr id="4" name="Rectangle 3"/>
          <p:cNvSpPr/>
          <p:nvPr/>
        </p:nvSpPr>
        <p:spPr>
          <a:xfrm>
            <a:off x="395536" y="258655"/>
            <a:ext cx="8991600" cy="6247864"/>
          </a:xfrm>
          <a:prstGeom prst="rect">
            <a:avLst/>
          </a:prstGeom>
        </p:spPr>
        <p:txBody>
          <a:bodyPr wrap="square">
            <a:spAutoFit/>
          </a:bodyPr>
          <a:lstStyle/>
          <a:p>
            <a:endParaRPr lang="fr-FR" sz="2400" dirty="0" smtClean="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Element</a:t>
            </a:r>
            <a:r>
              <a:rPr lang="fr-FR" sz="2400" dirty="0">
                <a:latin typeface="Times New Roman" panose="02020603050405020304" pitchFamily="18" charset="0"/>
                <a:cs typeface="Times New Roman" panose="02020603050405020304" pitchFamily="18" charset="0"/>
              </a:rPr>
              <a:t> maxi  par colonnes</a:t>
            </a: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np.max</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d,axis</a:t>
            </a:r>
            <a:r>
              <a:rPr lang="fr-FR" sz="2400" dirty="0">
                <a:latin typeface="Times New Roman" panose="02020603050405020304" pitchFamily="18" charset="0"/>
                <a:cs typeface="Times New Roman" panose="02020603050405020304" pitchFamily="18" charset="0"/>
              </a:rPr>
              <a:t>=1)) </a:t>
            </a:r>
          </a:p>
          <a:p>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Moyenne des colonnes</a:t>
            </a:r>
          </a:p>
          <a:p>
            <a:r>
              <a:rPr lang="fr-FR" sz="2400" dirty="0" err="1" smtClean="0">
                <a:latin typeface="Times New Roman" panose="02020603050405020304" pitchFamily="18" charset="0"/>
                <a:cs typeface="Times New Roman" panose="02020603050405020304" pitchFamily="18" charset="0"/>
              </a:rPr>
              <a:t>print</a:t>
            </a:r>
            <a:r>
              <a:rPr lang="fr-FR" sz="2400" dirty="0" smtClean="0">
                <a:latin typeface="Times New Roman" panose="02020603050405020304" pitchFamily="18" charset="0"/>
                <a:cs typeface="Times New Roman" panose="02020603050405020304" pitchFamily="18" charset="0"/>
              </a:rPr>
              <a:t>(</a:t>
            </a:r>
            <a:r>
              <a:rPr lang="fr-FR" sz="2400" dirty="0" err="1" smtClean="0">
                <a:latin typeface="Times New Roman" panose="02020603050405020304" pitchFamily="18" charset="0"/>
                <a:cs typeface="Times New Roman" panose="02020603050405020304" pitchFamily="18" charset="0"/>
              </a:rPr>
              <a:t>np.mean</a:t>
            </a:r>
            <a:r>
              <a:rPr lang="fr-FR" sz="2400" dirty="0" smtClean="0">
                <a:latin typeface="Times New Roman" panose="02020603050405020304" pitchFamily="18" charset="0"/>
                <a:cs typeface="Times New Roman" panose="02020603050405020304" pitchFamily="18" charset="0"/>
              </a:rPr>
              <a:t>(</a:t>
            </a:r>
            <a:r>
              <a:rPr lang="fr-FR" sz="2400" dirty="0" err="1" smtClean="0">
                <a:latin typeface="Times New Roman" panose="02020603050405020304" pitchFamily="18" charset="0"/>
                <a:cs typeface="Times New Roman" panose="02020603050405020304" pitchFamily="18" charset="0"/>
              </a:rPr>
              <a:t>d,axis</a:t>
            </a:r>
            <a:r>
              <a:rPr lang="fr-FR" sz="2400" dirty="0" smtClean="0">
                <a:latin typeface="Times New Roman" panose="02020603050405020304" pitchFamily="18" charset="0"/>
                <a:cs typeface="Times New Roman" panose="02020603050405020304" pitchFamily="18" charset="0"/>
              </a:rPr>
              <a:t>=1))</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Moyenne des lignes</a:t>
            </a:r>
          </a:p>
          <a:p>
            <a:r>
              <a:rPr lang="fr-FR" sz="2400" dirty="0" err="1" smtClean="0">
                <a:latin typeface="Times New Roman" panose="02020603050405020304" pitchFamily="18" charset="0"/>
                <a:cs typeface="Times New Roman" panose="02020603050405020304" pitchFamily="18" charset="0"/>
              </a:rPr>
              <a:t>print</a:t>
            </a:r>
            <a:r>
              <a:rPr lang="fr-FR" sz="2400" dirty="0" smtClean="0">
                <a:latin typeface="Times New Roman" panose="02020603050405020304" pitchFamily="18" charset="0"/>
                <a:cs typeface="Times New Roman" panose="02020603050405020304" pitchFamily="18" charset="0"/>
              </a:rPr>
              <a:t>(</a:t>
            </a:r>
            <a:r>
              <a:rPr lang="fr-FR" sz="2400" dirty="0" err="1" smtClean="0">
                <a:latin typeface="Times New Roman" panose="02020603050405020304" pitchFamily="18" charset="0"/>
                <a:cs typeface="Times New Roman" panose="02020603050405020304" pitchFamily="18" charset="0"/>
              </a:rPr>
              <a:t>np.mean</a:t>
            </a:r>
            <a:r>
              <a:rPr lang="fr-FR" sz="2400" dirty="0" smtClean="0">
                <a:latin typeface="Times New Roman" panose="02020603050405020304" pitchFamily="18" charset="0"/>
                <a:cs typeface="Times New Roman" panose="02020603050405020304" pitchFamily="18" charset="0"/>
              </a:rPr>
              <a:t>(</a:t>
            </a:r>
            <a:r>
              <a:rPr lang="fr-FR" sz="2400" dirty="0" err="1" smtClean="0">
                <a:latin typeface="Times New Roman" panose="02020603050405020304" pitchFamily="18" charset="0"/>
                <a:cs typeface="Times New Roman" panose="02020603050405020304" pitchFamily="18" charset="0"/>
              </a:rPr>
              <a:t>d,axis</a:t>
            </a:r>
            <a:r>
              <a:rPr lang="fr-FR" sz="2400" dirty="0" smtClean="0">
                <a:latin typeface="Times New Roman" panose="02020603050405020304" pitchFamily="18" charset="0"/>
                <a:cs typeface="Times New Roman" panose="02020603050405020304" pitchFamily="18" charset="0"/>
              </a:rPr>
              <a:t>=0))</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Transpose de la matrice</a:t>
            </a: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np.transpose</a:t>
            </a:r>
            <a:r>
              <a:rPr lang="fr-FR" sz="2400" dirty="0">
                <a:latin typeface="Times New Roman" panose="02020603050405020304" pitchFamily="18" charset="0"/>
                <a:cs typeface="Times New Roman" panose="02020603050405020304" pitchFamily="18" charset="0"/>
              </a:rPr>
              <a:t>(d</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Produit de deux matrice</a:t>
            </a:r>
          </a:p>
          <a:p>
            <a:r>
              <a:rPr lang="fr-FR" sz="4000" dirty="0" err="1">
                <a:latin typeface="Times New Roman" panose="02020603050405020304" pitchFamily="18" charset="0"/>
                <a:cs typeface="Times New Roman" panose="02020603050405020304" pitchFamily="18" charset="0"/>
              </a:rPr>
              <a:t>print</a:t>
            </a:r>
            <a:r>
              <a:rPr lang="fr-FR" sz="4000" dirty="0">
                <a:latin typeface="Times New Roman" panose="02020603050405020304" pitchFamily="18" charset="0"/>
                <a:cs typeface="Times New Roman" panose="02020603050405020304" pitchFamily="18" charset="0"/>
              </a:rPr>
              <a:t>(np.dot(</a:t>
            </a:r>
            <a:r>
              <a:rPr lang="fr-FR" sz="4000" dirty="0" err="1">
                <a:latin typeface="Times New Roman" panose="02020603050405020304" pitchFamily="18" charset="0"/>
                <a:cs typeface="Times New Roman" panose="02020603050405020304" pitchFamily="18" charset="0"/>
              </a:rPr>
              <a:t>a,m</a:t>
            </a:r>
            <a:r>
              <a:rPr lang="fr-FR" sz="4000" dirty="0" smtClean="0">
                <a:latin typeface="Times New Roman" panose="02020603050405020304" pitchFamily="18" charset="0"/>
                <a:cs typeface="Times New Roman" panose="02020603050405020304" pitchFamily="18" charset="0"/>
              </a:rPr>
              <a:t>))</a:t>
            </a:r>
            <a:endParaRPr lang="fr-FR" sz="40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 Calcul du </a:t>
            </a:r>
            <a:r>
              <a:rPr lang="fr-FR" sz="2400" dirty="0" err="1" smtClean="0">
                <a:latin typeface="Times New Roman" panose="02020603050405020304" pitchFamily="18" charset="0"/>
                <a:cs typeface="Times New Roman" panose="02020603050405020304" pitchFamily="18" charset="0"/>
              </a:rPr>
              <a:t>determinent</a:t>
            </a:r>
            <a:endParaRPr lang="fr-FR" sz="2400" dirty="0">
              <a:latin typeface="Times New Roman" panose="02020603050405020304" pitchFamily="18" charset="0"/>
              <a:cs typeface="Times New Roman" panose="02020603050405020304" pitchFamily="18" charset="0"/>
            </a:endParaRPr>
          </a:p>
          <a:p>
            <a:r>
              <a:rPr lang="fr-FR" sz="2400" dirty="0" err="1">
                <a:latin typeface="Times New Roman" panose="02020603050405020304" pitchFamily="18" charset="0"/>
                <a:cs typeface="Times New Roman" panose="02020603050405020304" pitchFamily="18" charset="0"/>
              </a:rPr>
              <a:t>print</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np.linalg.det</a:t>
            </a:r>
            <a:r>
              <a:rPr lang="fr-FR" sz="2400" dirty="0">
                <a:latin typeface="Times New Roman" panose="02020603050405020304" pitchFamily="18" charset="0"/>
                <a:cs typeface="Times New Roman" panose="02020603050405020304" pitchFamily="18" charset="0"/>
              </a:rPr>
              <a:t>(m</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//matrice </a:t>
            </a:r>
            <a:r>
              <a:rPr lang="fr-FR" sz="2400" dirty="0" err="1">
                <a:latin typeface="Times New Roman" panose="02020603050405020304" pitchFamily="18" charset="0"/>
                <a:cs typeface="Times New Roman" panose="02020603050405020304" pitchFamily="18" charset="0"/>
              </a:rPr>
              <a:t>symerique</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o = np.dot(</a:t>
            </a:r>
            <a:r>
              <a:rPr lang="fr-FR" sz="2400" dirty="0" err="1">
                <a:latin typeface="Times New Roman" panose="02020603050405020304" pitchFamily="18" charset="0"/>
                <a:cs typeface="Times New Roman" panose="02020603050405020304" pitchFamily="18" charset="0"/>
              </a:rPr>
              <a:t>np.transpose</a:t>
            </a:r>
            <a:r>
              <a:rPr lang="fr-FR" sz="2400" dirty="0">
                <a:latin typeface="Times New Roman" panose="02020603050405020304" pitchFamily="18" charset="0"/>
                <a:cs typeface="Times New Roman" panose="02020603050405020304" pitchFamily="18" charset="0"/>
              </a:rPr>
              <a:t>(t),t</a:t>
            </a:r>
            <a:r>
              <a:rPr lang="fr-FR" sz="2400" dirty="0" smtClean="0">
                <a:latin typeface="Times New Roman" panose="02020603050405020304" pitchFamily="18" charset="0"/>
                <a:cs typeface="Times New Roman" panose="02020603050405020304" pitchFamily="18" charset="0"/>
              </a:rPr>
              <a:t>)              </a:t>
            </a:r>
          </a:p>
          <a:p>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print</a:t>
            </a:r>
            <a:r>
              <a:rPr lang="fr-FR" sz="2400" dirty="0" smtClean="0">
                <a:latin typeface="Times New Roman" panose="02020603050405020304" pitchFamily="18" charset="0"/>
                <a:cs typeface="Times New Roman" panose="02020603050405020304" pitchFamily="18" charset="0"/>
              </a:rPr>
              <a:t>(o</a:t>
            </a:r>
            <a:r>
              <a:rPr lang="fr-FR"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5231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105</a:t>
            </a:fld>
            <a:endParaRPr lang="fr-BE"/>
          </a:p>
        </p:txBody>
      </p:sp>
      <p:sp>
        <p:nvSpPr>
          <p:cNvPr id="4" name="Rectangle 3"/>
          <p:cNvSpPr/>
          <p:nvPr/>
        </p:nvSpPr>
        <p:spPr>
          <a:xfrm>
            <a:off x="26397" y="332656"/>
            <a:ext cx="8675312" cy="5386090"/>
          </a:xfrm>
          <a:prstGeom prst="rect">
            <a:avLst/>
          </a:prstGeom>
        </p:spPr>
        <p:txBody>
          <a:bodyPr wrap="square">
            <a:spAutoFit/>
          </a:bodyPr>
          <a:lstStyle/>
          <a:p>
            <a:r>
              <a:rPr lang="fr-FR" sz="2800" dirty="0">
                <a:latin typeface="Times New Roman" panose="02020603050405020304" pitchFamily="18" charset="0"/>
                <a:cs typeface="Times New Roman" panose="02020603050405020304" pitchFamily="18" charset="0"/>
              </a:rPr>
              <a:t>Suppression de la ligne (axis = 0) via son indice (n°1</a:t>
            </a:r>
            <a:r>
              <a:rPr lang="fr-FR" sz="2800" dirty="0" smtClean="0">
                <a:latin typeface="Times New Roman" panose="02020603050405020304" pitchFamily="18" charset="0"/>
                <a:cs typeface="Times New Roman" panose="02020603050405020304" pitchFamily="18" charset="0"/>
              </a:rPr>
              <a:t>)</a:t>
            </a:r>
          </a:p>
          <a:p>
            <a:r>
              <a:rPr lang="fr-FR" sz="2800" b="1" dirty="0" err="1" smtClean="0">
                <a:latin typeface="Times New Roman" panose="02020603050405020304" pitchFamily="18" charset="0"/>
                <a:cs typeface="Times New Roman" panose="02020603050405020304" pitchFamily="18" charset="0"/>
              </a:rPr>
              <a:t>print</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np.delete</a:t>
            </a:r>
            <a:r>
              <a:rPr lang="fr-FR" sz="2800" b="1" dirty="0" smtClean="0">
                <a:latin typeface="Times New Roman" panose="02020603050405020304" pitchFamily="18" charset="0"/>
                <a:cs typeface="Times New Roman" panose="02020603050405020304" pitchFamily="18" charset="0"/>
              </a:rPr>
              <a:t>(a,1,axis=0))</a:t>
            </a:r>
          </a:p>
          <a:p>
            <a:endParaRPr lang="fr-FR" sz="2800" b="1" dirty="0">
              <a:latin typeface="Times New Roman" panose="02020603050405020304" pitchFamily="18" charset="0"/>
              <a:cs typeface="Times New Roman" panose="02020603050405020304" pitchFamily="18" charset="0"/>
            </a:endParaRPr>
          </a:p>
          <a:p>
            <a:r>
              <a:rPr lang="fr-FR" sz="2800" dirty="0">
                <a:latin typeface="Times New Roman" panose="02020603050405020304" pitchFamily="18" charset="0"/>
                <a:cs typeface="Times New Roman" panose="02020603050405020304" pitchFamily="18" charset="0"/>
              </a:rPr>
              <a:t>tri des lignes (axis = 0) pour chaque colonne </a:t>
            </a:r>
            <a:endParaRPr lang="fr-FR" sz="2800" dirty="0" smtClean="0">
              <a:latin typeface="Times New Roman" panose="02020603050405020304" pitchFamily="18" charset="0"/>
              <a:cs typeface="Times New Roman" panose="02020603050405020304" pitchFamily="18" charset="0"/>
            </a:endParaRPr>
          </a:p>
          <a:p>
            <a:r>
              <a:rPr lang="fr-FR" sz="2800" b="1" dirty="0" err="1" smtClean="0">
                <a:latin typeface="Times New Roman" panose="02020603050405020304" pitchFamily="18" charset="0"/>
                <a:cs typeface="Times New Roman" panose="02020603050405020304" pitchFamily="18" charset="0"/>
              </a:rPr>
              <a:t>print</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np.sort</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v,axis</a:t>
            </a:r>
            <a:r>
              <a:rPr lang="fr-FR" sz="2800" b="1" dirty="0" smtClean="0">
                <a:latin typeface="Times New Roman" panose="02020603050405020304" pitchFamily="18" charset="0"/>
                <a:cs typeface="Times New Roman" panose="02020603050405020304" pitchFamily="18" charset="0"/>
              </a:rPr>
              <a:t>=0</a:t>
            </a:r>
            <a:r>
              <a:rPr lang="fr-FR" sz="2800" b="1" dirty="0">
                <a:latin typeface="Times New Roman" panose="02020603050405020304" pitchFamily="18" charset="0"/>
                <a:cs typeface="Times New Roman" panose="02020603050405020304" pitchFamily="18" charset="0"/>
              </a:rPr>
              <a:t>))</a:t>
            </a:r>
          </a:p>
          <a:p>
            <a:endParaRPr lang="fr-FR" sz="2800" b="1" dirty="0">
              <a:latin typeface="Times New Roman" panose="02020603050405020304" pitchFamily="18" charset="0"/>
              <a:cs typeface="Times New Roman" panose="02020603050405020304" pitchFamily="18" charset="0"/>
            </a:endParaRPr>
          </a:p>
          <a:p>
            <a:r>
              <a:rPr lang="fr-FR" sz="2800" dirty="0">
                <a:latin typeface="Times New Roman" panose="02020603050405020304" pitchFamily="18" charset="0"/>
                <a:cs typeface="Times New Roman" panose="02020603050405020304" pitchFamily="18" charset="0"/>
              </a:rPr>
              <a:t>somme cumulée des valeurs en ligne pour chaque </a:t>
            </a:r>
            <a:r>
              <a:rPr lang="fr-FR" sz="2800" dirty="0" smtClean="0">
                <a:latin typeface="Times New Roman" panose="02020603050405020304" pitchFamily="18" charset="0"/>
                <a:cs typeface="Times New Roman" panose="02020603050405020304" pitchFamily="18" charset="0"/>
              </a:rPr>
              <a:t>colonne</a:t>
            </a:r>
          </a:p>
          <a:p>
            <a:r>
              <a:rPr lang="fr-FR" sz="2800" b="1" dirty="0" err="1" smtClean="0">
                <a:latin typeface="Times New Roman" panose="02020603050405020304" pitchFamily="18" charset="0"/>
                <a:cs typeface="Times New Roman" panose="02020603050405020304" pitchFamily="18" charset="0"/>
              </a:rPr>
              <a:t>print</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np.cumsum</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v,axis</a:t>
            </a:r>
            <a:r>
              <a:rPr lang="fr-FR" sz="2800" b="1" dirty="0" smtClean="0">
                <a:latin typeface="Times New Roman" panose="02020603050405020304" pitchFamily="18" charset="0"/>
                <a:cs typeface="Times New Roman" panose="02020603050405020304" pitchFamily="18" charset="0"/>
              </a:rPr>
              <a:t>=0</a:t>
            </a:r>
            <a:r>
              <a:rPr lang="fr-FR" sz="2800" b="1" dirty="0">
                <a:latin typeface="Times New Roman" panose="02020603050405020304" pitchFamily="18" charset="0"/>
                <a:cs typeface="Times New Roman" panose="02020603050405020304" pitchFamily="18" charset="0"/>
              </a:rPr>
              <a:t>))</a:t>
            </a:r>
          </a:p>
          <a:p>
            <a:endParaRPr lang="fr-FR" sz="2800" dirty="0">
              <a:latin typeface="Times New Roman" panose="02020603050405020304" pitchFamily="18" charset="0"/>
              <a:cs typeface="Times New Roman" panose="02020603050405020304" pitchFamily="18" charset="0"/>
            </a:endParaRPr>
          </a:p>
          <a:p>
            <a:r>
              <a:rPr lang="fr-FR" sz="2800" dirty="0" smtClean="0">
                <a:latin typeface="Times New Roman" panose="02020603050405020304" pitchFamily="18" charset="0"/>
                <a:cs typeface="Times New Roman" panose="02020603050405020304" pitchFamily="18" charset="0"/>
              </a:rPr>
              <a:t>Inversion</a:t>
            </a:r>
          </a:p>
          <a:p>
            <a:r>
              <a:rPr lang="fr-FR" sz="2800" b="1" dirty="0" err="1" smtClean="0">
                <a:latin typeface="Times New Roman" panose="02020603050405020304" pitchFamily="18" charset="0"/>
                <a:cs typeface="Times New Roman" panose="02020603050405020304" pitchFamily="18" charset="0"/>
              </a:rPr>
              <a:t>print</a:t>
            </a:r>
            <a:r>
              <a:rPr lang="fr-FR" sz="2800" b="1" dirty="0" smtClean="0">
                <a:latin typeface="Times New Roman" panose="02020603050405020304" pitchFamily="18" charset="0"/>
                <a:cs typeface="Times New Roman" panose="02020603050405020304" pitchFamily="18" charset="0"/>
              </a:rPr>
              <a:t>(</a:t>
            </a:r>
            <a:r>
              <a:rPr lang="fr-FR" sz="2800" b="1" dirty="0" err="1" smtClean="0">
                <a:latin typeface="Times New Roman" panose="02020603050405020304" pitchFamily="18" charset="0"/>
                <a:cs typeface="Times New Roman" panose="02020603050405020304" pitchFamily="18" charset="0"/>
              </a:rPr>
              <a:t>np.linalg.inv</a:t>
            </a:r>
            <a:r>
              <a:rPr lang="fr-FR" sz="2800" b="1" dirty="0" smtClean="0">
                <a:latin typeface="Times New Roman" panose="02020603050405020304" pitchFamily="18" charset="0"/>
                <a:cs typeface="Times New Roman" panose="02020603050405020304" pitchFamily="18" charset="0"/>
              </a:rPr>
              <a:t>(y</a:t>
            </a:r>
            <a:r>
              <a:rPr lang="fr-FR" sz="2800" b="1" dirty="0">
                <a:latin typeface="Times New Roman" panose="02020603050405020304" pitchFamily="18" charset="0"/>
                <a:cs typeface="Times New Roman" panose="02020603050405020304" pitchFamily="18" charset="0"/>
              </a:rPr>
              <a:t>)) </a:t>
            </a:r>
          </a:p>
          <a:p>
            <a:endParaRPr lang="fr-FR" b="1" dirty="0"/>
          </a:p>
          <a:p>
            <a:endParaRPr lang="fr-FR" b="1" dirty="0"/>
          </a:p>
        </p:txBody>
      </p:sp>
    </p:spTree>
    <p:extLst>
      <p:ext uri="{BB962C8B-B14F-4D97-AF65-F5344CB8AC3E}">
        <p14:creationId xmlns:p14="http://schemas.microsoft.com/office/powerpoint/2010/main" val="853966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exerciceS</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106</a:t>
            </a:fld>
            <a:endParaRPr lang="fr-BE"/>
          </a:p>
        </p:txBody>
      </p:sp>
      <p:sp>
        <p:nvSpPr>
          <p:cNvPr id="4" name="Rectangle 3"/>
          <p:cNvSpPr/>
          <p:nvPr/>
        </p:nvSpPr>
        <p:spPr>
          <a:xfrm>
            <a:off x="0" y="1556792"/>
            <a:ext cx="8988552" cy="3416320"/>
          </a:xfrm>
          <a:prstGeom prst="rect">
            <a:avLst/>
          </a:prstGeom>
        </p:spPr>
        <p:txBody>
          <a:bodyPr wrap="square">
            <a:spAutoFit/>
          </a:bodyPr>
          <a:lstStyle/>
          <a:p>
            <a:pPr marL="342900" indent="-342900" algn="just">
              <a:buAutoNum type="arabicPeriod"/>
            </a:pPr>
            <a:r>
              <a:rPr lang="fr-FR" sz="3600" dirty="0" smtClean="0"/>
              <a:t>Créez le matrice a</a:t>
            </a:r>
          </a:p>
          <a:p>
            <a:pPr marL="342900" indent="-342900" algn="just">
              <a:buAutoNum type="arabicPeriod"/>
            </a:pPr>
            <a:r>
              <a:rPr lang="fr-FR" sz="3600" dirty="0" smtClean="0"/>
              <a:t>Supprimez la 3 </a:t>
            </a:r>
            <a:r>
              <a:rPr lang="fr-FR" sz="3600" dirty="0" err="1" smtClean="0"/>
              <a:t>eme</a:t>
            </a:r>
            <a:r>
              <a:rPr lang="fr-FR" sz="3600" dirty="0" smtClean="0"/>
              <a:t> ligne de la matrice a</a:t>
            </a:r>
          </a:p>
          <a:p>
            <a:pPr marL="342900" indent="-342900" algn="just">
              <a:buFontTx/>
              <a:buAutoNum type="arabicPeriod"/>
            </a:pPr>
            <a:r>
              <a:rPr lang="fr-FR" sz="3600" dirty="0"/>
              <a:t>Supprimez </a:t>
            </a:r>
            <a:r>
              <a:rPr lang="fr-FR" sz="3600" dirty="0" smtClean="0"/>
              <a:t>la dernière colonne de </a:t>
            </a:r>
            <a:r>
              <a:rPr lang="fr-FR" sz="3600" dirty="0"/>
              <a:t>la matrice a</a:t>
            </a:r>
          </a:p>
          <a:p>
            <a:pPr algn="just"/>
            <a:r>
              <a:rPr lang="fr-FR" sz="3600" dirty="0" smtClean="0"/>
              <a:t>3.Triez les éléments des lignes de la matrice a</a:t>
            </a:r>
            <a:endParaRPr lang="fr-FR" sz="3600" dirty="0"/>
          </a:p>
        </p:txBody>
      </p:sp>
    </p:spTree>
    <p:extLst>
      <p:ext uri="{BB962C8B-B14F-4D97-AF65-F5344CB8AC3E}">
        <p14:creationId xmlns:p14="http://schemas.microsoft.com/office/powerpoint/2010/main" val="943841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600" y="-5239"/>
            <a:ext cx="8686800" cy="481911"/>
          </a:xfrm>
        </p:spPr>
        <p:txBody>
          <a:bodyPr>
            <a:normAutofit fontScale="90000"/>
          </a:bodyPr>
          <a:lstStyle/>
          <a:p>
            <a:pPr algn="ctr"/>
            <a:r>
              <a:rPr lang="fr-FR" dirty="0" smtClean="0"/>
              <a:t>exercices</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107</a:t>
            </a:fld>
            <a:endParaRPr lang="fr-BE"/>
          </a:p>
        </p:txBody>
      </p:sp>
      <p:sp>
        <p:nvSpPr>
          <p:cNvPr id="4" name="Rectangle 3"/>
          <p:cNvSpPr/>
          <p:nvPr/>
        </p:nvSpPr>
        <p:spPr>
          <a:xfrm>
            <a:off x="28964" y="241549"/>
            <a:ext cx="9115036" cy="6494085"/>
          </a:xfrm>
          <a:prstGeom prst="rect">
            <a:avLst/>
          </a:prstGeom>
        </p:spPr>
        <p:txBody>
          <a:bodyPr wrap="square">
            <a:spAutoFit/>
          </a:bodyPr>
          <a:lstStyle/>
          <a:p>
            <a:pPr algn="just"/>
            <a:r>
              <a:rPr lang="fr-FR" sz="3200" dirty="0">
                <a:latin typeface="Times New Roman" panose="02020603050405020304" pitchFamily="18" charset="0"/>
                <a:cs typeface="Times New Roman" panose="02020603050405020304" pitchFamily="18" charset="0"/>
              </a:rPr>
              <a:t>4.transformez la matrice de dimension(n), en matrice de dimension (</a:t>
            </a:r>
            <a:r>
              <a:rPr lang="fr-FR" sz="3200" dirty="0" err="1">
                <a:latin typeface="Times New Roman" panose="02020603050405020304" pitchFamily="18" charset="0"/>
                <a:cs typeface="Times New Roman" panose="02020603050405020304" pitchFamily="18" charset="0"/>
              </a:rPr>
              <a:t>m,t</a:t>
            </a:r>
            <a:r>
              <a:rPr lang="fr-FR" sz="3200" dirty="0">
                <a:latin typeface="Times New Roman" panose="02020603050405020304" pitchFamily="18" charset="0"/>
                <a:cs typeface="Times New Roman" panose="02020603050405020304" pitchFamily="18" charset="0"/>
              </a:rPr>
              <a:t>)</a:t>
            </a:r>
          </a:p>
          <a:p>
            <a:pPr algn="just"/>
            <a:r>
              <a:rPr lang="fr-FR" sz="3200" dirty="0">
                <a:latin typeface="Times New Roman" panose="02020603050405020304" pitchFamily="18" charset="0"/>
                <a:cs typeface="Times New Roman" panose="02020603050405020304" pitchFamily="18" charset="0"/>
              </a:rPr>
              <a:t>5 Ajoutez une ligne et une colonne a la matrice(</a:t>
            </a:r>
            <a:r>
              <a:rPr lang="fr-FR" sz="3200" dirty="0" err="1">
                <a:latin typeface="Times New Roman" panose="02020603050405020304" pitchFamily="18" charset="0"/>
                <a:cs typeface="Times New Roman" panose="02020603050405020304" pitchFamily="18" charset="0"/>
              </a:rPr>
              <a:t>m,t</a:t>
            </a:r>
            <a:r>
              <a:rPr lang="fr-FR" sz="3200" dirty="0">
                <a:latin typeface="Times New Roman" panose="02020603050405020304" pitchFamily="18" charset="0"/>
                <a:cs typeface="Times New Roman" panose="02020603050405020304" pitchFamily="18" charset="0"/>
              </a:rPr>
              <a:t>)</a:t>
            </a:r>
          </a:p>
          <a:p>
            <a:pPr algn="just"/>
            <a:r>
              <a:rPr lang="fr-FR" sz="3200" dirty="0">
                <a:latin typeface="Times New Roman" panose="02020603050405020304" pitchFamily="18" charset="0"/>
                <a:cs typeface="Times New Roman" panose="02020603050405020304" pitchFamily="18" charset="0"/>
              </a:rPr>
              <a:t>6. Affichez la Somme des colonnes</a:t>
            </a:r>
          </a:p>
          <a:p>
            <a:pPr algn="just"/>
            <a:r>
              <a:rPr lang="fr-FR" sz="3200" dirty="0">
                <a:latin typeface="Times New Roman" panose="02020603050405020304" pitchFamily="18" charset="0"/>
                <a:cs typeface="Times New Roman" panose="02020603050405020304" pitchFamily="18" charset="0"/>
              </a:rPr>
              <a:t>7.Affichez la Somme des lignes</a:t>
            </a:r>
          </a:p>
          <a:p>
            <a:pPr algn="just"/>
            <a:r>
              <a:rPr lang="fr-FR" sz="3200" dirty="0">
                <a:latin typeface="Times New Roman" panose="02020603050405020304" pitchFamily="18" charset="0"/>
                <a:cs typeface="Times New Roman" panose="02020603050405020304" pitchFamily="18" charset="0"/>
              </a:rPr>
              <a:t>8.Affichez </a:t>
            </a:r>
            <a:r>
              <a:rPr lang="fr-FR" sz="3200" dirty="0" smtClean="0">
                <a:latin typeface="Times New Roman" panose="02020603050405020304" pitchFamily="18" charset="0"/>
                <a:cs typeface="Times New Roman" panose="02020603050405020304" pitchFamily="18" charset="0"/>
              </a:rPr>
              <a:t>éléments </a:t>
            </a:r>
            <a:r>
              <a:rPr lang="fr-FR" sz="3200" dirty="0">
                <a:latin typeface="Times New Roman" panose="02020603050405020304" pitchFamily="18" charset="0"/>
                <a:cs typeface="Times New Roman" panose="02020603050405020304" pitchFamily="18" charset="0"/>
              </a:rPr>
              <a:t>minimaux par lignes ainsi que la moyenne des lignes</a:t>
            </a:r>
          </a:p>
          <a:p>
            <a:pPr algn="just"/>
            <a:r>
              <a:rPr lang="fr-FR" sz="3200" dirty="0">
                <a:latin typeface="Times New Roman" panose="02020603050405020304" pitchFamily="18" charset="0"/>
                <a:cs typeface="Times New Roman" panose="02020603050405020304" pitchFamily="18" charset="0"/>
              </a:rPr>
              <a:t>9.Affichez </a:t>
            </a:r>
            <a:r>
              <a:rPr lang="fr-FR" sz="3200" dirty="0" smtClean="0">
                <a:latin typeface="Times New Roman" panose="02020603050405020304" pitchFamily="18" charset="0"/>
                <a:cs typeface="Times New Roman" panose="02020603050405020304" pitchFamily="18" charset="0"/>
              </a:rPr>
              <a:t>éléments </a:t>
            </a:r>
            <a:r>
              <a:rPr lang="fr-FR" sz="3200" dirty="0">
                <a:latin typeface="Times New Roman" panose="02020603050405020304" pitchFamily="18" charset="0"/>
                <a:cs typeface="Times New Roman" panose="02020603050405020304" pitchFamily="18" charset="0"/>
              </a:rPr>
              <a:t>maximaux par </a:t>
            </a:r>
            <a:r>
              <a:rPr lang="fr-FR" sz="3200" dirty="0" smtClean="0">
                <a:latin typeface="Times New Roman" panose="02020603050405020304" pitchFamily="18" charset="0"/>
                <a:cs typeface="Times New Roman" panose="02020603050405020304" pitchFamily="18" charset="0"/>
              </a:rPr>
              <a:t>colonnes </a:t>
            </a:r>
            <a:r>
              <a:rPr lang="fr-FR" sz="3200" dirty="0">
                <a:latin typeface="Times New Roman" panose="02020603050405020304" pitchFamily="18" charset="0"/>
                <a:cs typeface="Times New Roman" panose="02020603050405020304" pitchFamily="18" charset="0"/>
              </a:rPr>
              <a:t>ainsi que la moyenne des </a:t>
            </a:r>
            <a:r>
              <a:rPr lang="fr-FR" sz="3200" dirty="0" smtClean="0">
                <a:latin typeface="Times New Roman" panose="02020603050405020304" pitchFamily="18" charset="0"/>
                <a:cs typeface="Times New Roman" panose="02020603050405020304" pitchFamily="18" charset="0"/>
              </a:rPr>
              <a:t>colonnes</a:t>
            </a:r>
          </a:p>
          <a:p>
            <a:pPr algn="just"/>
            <a:r>
              <a:rPr lang="fr-FR" sz="3200" dirty="0" smtClean="0">
                <a:latin typeface="Times New Roman" panose="02020603050405020304" pitchFamily="18" charset="0"/>
                <a:cs typeface="Times New Roman" panose="02020603050405020304" pitchFamily="18" charset="0"/>
              </a:rPr>
              <a:t>10.Affichez la transposée et la matrice symétrique de a</a:t>
            </a:r>
          </a:p>
          <a:p>
            <a:pPr algn="just"/>
            <a:r>
              <a:rPr lang="fr-FR" sz="3200" dirty="0" smtClean="0">
                <a:latin typeface="Times New Roman" panose="02020603050405020304" pitchFamily="18" charset="0"/>
                <a:cs typeface="Times New Roman" panose="02020603050405020304" pitchFamily="18" charset="0"/>
              </a:rPr>
              <a:t>11. Affichez le déterminant de a, ainsi que le produit de a et d</a:t>
            </a:r>
          </a:p>
          <a:p>
            <a:pPr algn="just"/>
            <a:endParaRPr lang="fr-FR" sz="3200" dirty="0"/>
          </a:p>
        </p:txBody>
      </p:sp>
    </p:spTree>
    <p:extLst>
      <p:ext uri="{BB962C8B-B14F-4D97-AF65-F5344CB8AC3E}">
        <p14:creationId xmlns:p14="http://schemas.microsoft.com/office/powerpoint/2010/main" val="6175424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exerciceS</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108</a:t>
            </a:fld>
            <a:endParaRPr lang="fr-BE"/>
          </a:p>
        </p:txBody>
      </p:sp>
      <p:sp>
        <p:nvSpPr>
          <p:cNvPr id="4" name="Rectangle 3"/>
          <p:cNvSpPr/>
          <p:nvPr/>
        </p:nvSpPr>
        <p:spPr>
          <a:xfrm>
            <a:off x="0" y="1556792"/>
            <a:ext cx="8988552" cy="3416320"/>
          </a:xfrm>
          <a:prstGeom prst="rect">
            <a:avLst/>
          </a:prstGeom>
        </p:spPr>
        <p:txBody>
          <a:bodyPr wrap="square">
            <a:spAutoFit/>
          </a:bodyPr>
          <a:lstStyle/>
          <a:p>
            <a:pPr marL="342900" indent="-342900" algn="just">
              <a:buAutoNum type="arabicPeriod"/>
            </a:pPr>
            <a:r>
              <a:rPr lang="fr-FR" sz="3600" dirty="0" smtClean="0"/>
              <a:t>Créez le matrice a</a:t>
            </a:r>
          </a:p>
          <a:p>
            <a:pPr marL="342900" indent="-342900" algn="just">
              <a:buAutoNum type="arabicPeriod"/>
            </a:pPr>
            <a:r>
              <a:rPr lang="fr-FR" sz="3600" dirty="0" smtClean="0"/>
              <a:t>Supprimez la 3 </a:t>
            </a:r>
            <a:r>
              <a:rPr lang="fr-FR" sz="3600" dirty="0" err="1" smtClean="0"/>
              <a:t>eme</a:t>
            </a:r>
            <a:r>
              <a:rPr lang="fr-FR" sz="3600" dirty="0" smtClean="0"/>
              <a:t> ligne de la matrice a</a:t>
            </a:r>
          </a:p>
          <a:p>
            <a:pPr marL="342900" indent="-342900" algn="just">
              <a:buFontTx/>
              <a:buAutoNum type="arabicPeriod"/>
            </a:pPr>
            <a:r>
              <a:rPr lang="fr-FR" sz="3600" dirty="0"/>
              <a:t>Supprimez </a:t>
            </a:r>
            <a:r>
              <a:rPr lang="fr-FR" sz="3600" dirty="0" smtClean="0"/>
              <a:t>la dernière colonne de </a:t>
            </a:r>
            <a:r>
              <a:rPr lang="fr-FR" sz="3600" dirty="0"/>
              <a:t>la matrice a</a:t>
            </a:r>
          </a:p>
          <a:p>
            <a:pPr algn="just"/>
            <a:r>
              <a:rPr lang="fr-FR" sz="3600" dirty="0" smtClean="0"/>
              <a:t>3.Triez les éléments des lignes de la matrice a</a:t>
            </a:r>
            <a:endParaRPr lang="fr-FR" sz="3600" dirty="0"/>
          </a:p>
        </p:txBody>
      </p:sp>
    </p:spTree>
    <p:extLst>
      <p:ext uri="{BB962C8B-B14F-4D97-AF65-F5344CB8AC3E}">
        <p14:creationId xmlns:p14="http://schemas.microsoft.com/office/powerpoint/2010/main" val="3451372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11161</TotalTime>
  <Words>7733</Words>
  <Application>Microsoft Office PowerPoint</Application>
  <PresentationFormat>Affichage à l'écran (4:3)</PresentationFormat>
  <Paragraphs>604</Paragraphs>
  <Slides>108</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108</vt:i4>
      </vt:variant>
    </vt:vector>
  </HeadingPairs>
  <TitlesOfParts>
    <vt:vector size="114" baseType="lpstr">
      <vt:lpstr>Arial</vt:lpstr>
      <vt:lpstr>Arial Narrow</vt:lpstr>
      <vt:lpstr>Calibri</vt:lpstr>
      <vt:lpstr>Times New Roman</vt:lpstr>
      <vt:lpstr>Wingdings</vt:lpstr>
      <vt:lpstr>Thème Office</vt:lpstr>
      <vt:lpstr>Présentation PowerPoint</vt:lpstr>
      <vt:lpstr>Rappel</vt:lpstr>
      <vt:lpstr>0. Introduction</vt:lpstr>
      <vt:lpstr>0.1 Rappel sur la commande SELECT</vt:lpstr>
      <vt:lpstr>Présentation PowerPoint</vt:lpstr>
      <vt:lpstr>Présentation PowerPoint</vt:lpstr>
      <vt:lpstr>Présentation PowerPoint</vt:lpstr>
      <vt:lpstr>Présentation PowerPoint</vt:lpstr>
      <vt:lpstr>  0.3 Les transactions </vt:lpstr>
      <vt:lpstr>Déroulement d’une transaction</vt:lpstr>
      <vt:lpstr> Syntaxe et utilisation </vt:lpstr>
      <vt:lpstr>Exemple 1 : Validation  des requêtes</vt:lpstr>
      <vt:lpstr>Exemple 2 : validation et annulation</vt:lpstr>
      <vt:lpstr> Jalon de transaction </vt:lpstr>
      <vt:lpstr>Présentation PowerPoint</vt:lpstr>
      <vt:lpstr>Présentation PowerPoint</vt:lpstr>
      <vt:lpstr>ACID (Atomicité, Cohérence, Isolation et Durabilité)</vt:lpstr>
      <vt:lpstr>Présentation PowerPoint</vt:lpstr>
      <vt:lpstr>0.4.Les contraintes des SGBD relationnels </vt:lpstr>
      <vt:lpstr>Présentation PowerPoint</vt:lpstr>
      <vt:lpstr>Présentation PowerPoint</vt:lpstr>
      <vt:lpstr>0.6.Les limites des SGBDs relationnels</vt:lpstr>
      <vt:lpstr>Présentation PowerPoint</vt:lpstr>
      <vt:lpstr>Présentation PowerPoint</vt:lpstr>
      <vt:lpstr>   Chap.1 Problématique du Big Data  </vt:lpstr>
      <vt:lpstr>Volumes des données crées et échangées  </vt:lpstr>
      <vt:lpstr>Présentation PowerPoint</vt:lpstr>
      <vt:lpstr>Base de données Vs Big Data</vt:lpstr>
      <vt:lpstr>Présentation PowerPoint</vt:lpstr>
      <vt:lpstr>Données hétérogènes issues de différentes sources</vt:lpstr>
      <vt:lpstr>Principe de fonctionnement du système d extraction des connaissances a  partir des données</vt:lpstr>
      <vt:lpstr>Présentation PowerPoint</vt:lpstr>
      <vt:lpstr>Présentation PowerPoint</vt:lpstr>
      <vt:lpstr>Présentation PowerPoint</vt:lpstr>
      <vt:lpstr>Présentation PowerPoint</vt:lpstr>
      <vt:lpstr>Présentation PowerPoint</vt:lpstr>
      <vt:lpstr>Présentation PowerPoint</vt:lpstr>
      <vt:lpstr>  Chap.2. Les base des données non relationnelles </vt:lpstr>
      <vt:lpstr>Présentation PowerPoint</vt:lpstr>
      <vt:lpstr>Présentation PowerPoint</vt:lpstr>
      <vt:lpstr>Les caractéristiques du BD non relationnelle</vt:lpstr>
      <vt:lpstr>Présentation PowerPoint</vt:lpstr>
      <vt:lpstr>2.2. Les types des bases NoSQL </vt:lpstr>
      <vt:lpstr>2.2.1. Les bases de données orientées clé-valeur</vt:lpstr>
      <vt:lpstr>Présentation PowerPoint</vt:lpstr>
      <vt:lpstr>Présentation PowerPoint</vt:lpstr>
      <vt:lpstr>Présentation PowerPoint</vt:lpstr>
      <vt:lpstr>Présentation PowerPoint</vt:lpstr>
      <vt:lpstr>Les outils de Bd no SQL orientée clé/ Valeur</vt:lpstr>
      <vt:lpstr>2.2.2 Les bases de données orientées colonnes</vt:lpstr>
      <vt:lpstr>Présentation PowerPoint</vt:lpstr>
      <vt:lpstr>Présentation PowerPoint</vt:lpstr>
      <vt:lpstr>Présentation PowerPoint</vt:lpstr>
      <vt:lpstr>Présentation PowerPoint</vt:lpstr>
      <vt:lpstr>Les outils utilises pour la BDnoSQL orientée colonnes</vt:lpstr>
      <vt:lpstr>Présentation PowerPoint</vt:lpstr>
      <vt:lpstr>2.2.3 Les bases de données orientées document</vt:lpstr>
      <vt:lpstr>Présentation PowerPoint</vt:lpstr>
      <vt:lpstr>Exemple du BDNR orientée document</vt:lpstr>
      <vt:lpstr>Présentation PowerPoint</vt:lpstr>
      <vt:lpstr>Exemple de collection sportif</vt:lpstr>
      <vt:lpstr>Présentation PowerPoint</vt:lpstr>
      <vt:lpstr>Présentation PowerPoint</vt:lpstr>
      <vt:lpstr>Présentation PowerPoint</vt:lpstr>
      <vt:lpstr>Les outils utilises pour la BDnoSQL orientée documents</vt:lpstr>
      <vt:lpstr>2.2.4. Les bases de données orientées graphes </vt:lpstr>
      <vt:lpstr>Présentation PowerPoint</vt:lpstr>
      <vt:lpstr>Les autres outils</vt:lpstr>
      <vt:lpstr>Evolution</vt:lpstr>
      <vt:lpstr>Présentation PowerPoint</vt:lpstr>
      <vt:lpstr>Présentation PowerPoint</vt:lpstr>
      <vt:lpstr>Présentation PowerPoint</vt:lpstr>
      <vt:lpstr>Exemples des Requettes</vt:lpstr>
      <vt:lpstr>Présentation PowerPoint</vt:lpstr>
      <vt:lpstr>Présentation PowerPoint</vt:lpstr>
      <vt:lpstr>Présentation de Firebase</vt:lpstr>
      <vt:lpstr>Présentation de Firebase</vt:lpstr>
      <vt:lpstr>Cloud Firestore : Une Base de Données NoSQL Puissante</vt:lpstr>
      <vt:lpstr>Fonctionnement de Firestore</vt:lpstr>
      <vt:lpstr>Points forts de Firestore</vt:lpstr>
      <vt:lpstr>Limites de Firestore</vt:lpstr>
      <vt:lpstr>Comparaison avec d’autres solutions</vt:lpstr>
      <vt:lpstr>Conclusion</vt:lpstr>
      <vt:lpstr>Présentation PowerPoint</vt:lpstr>
      <vt:lpstr>Les inconvénients</vt:lpstr>
      <vt:lpstr>Présentation PowerPoint</vt:lpstr>
      <vt:lpstr>Comparaison entre SGBDR et les bases de données Nosql</vt:lpstr>
      <vt:lpstr>Présentation PowerPoint</vt:lpstr>
      <vt:lpstr>Présentation PowerPoint</vt:lpstr>
      <vt:lpstr>Présentation PowerPoint</vt:lpstr>
      <vt:lpstr>Présentation PowerPoint</vt:lpstr>
      <vt:lpstr>Chap.3.Traitement des données avec Python</vt:lpstr>
      <vt:lpstr>Présentation PowerPoint</vt:lpstr>
      <vt:lpstr>Présentation PowerPoint</vt:lpstr>
      <vt:lpstr>QUELQUES FONCTIONS POUR LE TRAITEMENT DES LISTES</vt:lpstr>
      <vt:lpstr>Présentation PowerPoint</vt:lpstr>
      <vt:lpstr>EXEMPLES</vt:lpstr>
      <vt:lpstr>3.2.Les matrices sans numpy</vt:lpstr>
      <vt:lpstr>Exemple 2</vt:lpstr>
      <vt:lpstr>3.3. Rappel sur le bibliothèque  numpy</vt:lpstr>
      <vt:lpstr>Fonctions principales de NumPy</vt:lpstr>
      <vt:lpstr>Présentation PowerPoint</vt:lpstr>
      <vt:lpstr>Présentation PowerPoint</vt:lpstr>
      <vt:lpstr>Présentation PowerPoint</vt:lpstr>
      <vt:lpstr>Présentation PowerPoint</vt:lpstr>
      <vt:lpstr>exerciceS</vt:lpstr>
      <vt:lpstr>exercices</vt:lpstr>
      <vt:lpstr>exerciceS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Therence</dc:creator>
  <cp:lastModifiedBy>THERENCE</cp:lastModifiedBy>
  <cp:revision>737</cp:revision>
  <dcterms:created xsi:type="dcterms:W3CDTF">2014-05-25T07:08:01Z</dcterms:created>
  <dcterms:modified xsi:type="dcterms:W3CDTF">2025-04-22T13:28:39Z</dcterms:modified>
</cp:coreProperties>
</file>